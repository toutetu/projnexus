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59" r:id="rId4"/>
    <p:sldId id="270" r:id="rId5"/>
    <p:sldId id="269" r:id="rId6"/>
    <p:sldId id="271" r:id="rId7"/>
    <p:sldId id="263" r:id="rId8"/>
    <p:sldId id="272" r:id="rId9"/>
    <p:sldId id="266" r:id="rId10"/>
    <p:sldId id="265" r:id="rId11"/>
    <p:sldId id="264" r:id="rId12"/>
    <p:sldId id="267" r:id="rId13"/>
    <p:sldId id="261" r:id="rId14"/>
    <p:sldId id="260" r:id="rId15"/>
    <p:sldId id="262" r:id="rId16"/>
    <p:sldId id="256" r:id="rId17"/>
    <p:sldId id="268" r:id="rId18"/>
  </p:sldIdLst>
  <p:sldSz cx="18288000" cy="10287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8F3"/>
    <a:srgbClr val="002E6E"/>
    <a:srgbClr val="E60013"/>
    <a:srgbClr val="E5A330"/>
    <a:srgbClr val="14A0B4"/>
    <a:srgbClr val="15182A"/>
    <a:srgbClr val="0064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6" autoAdjust="0"/>
    <p:restoredTop sz="90707" autoAdjust="0"/>
  </p:normalViewPr>
  <p:slideViewPr>
    <p:cSldViewPr snapToGrid="0" snapToObjects="1">
      <p:cViewPr varScale="1">
        <p:scale>
          <a:sx n="47" d="100"/>
          <a:sy n="47" d="100"/>
        </p:scale>
        <p:origin x="111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3384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F9DA328-2A6A-C63E-7874-D705918FE3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3F1901-C14E-EFC4-2144-1CF2246A0B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3883D-613B-449A-8E41-D9D863F486E3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B35E344-8B95-5B91-E74A-97767D9A29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A434D0-A8E6-0503-5376-8F5CE9CD46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C74C4-5769-40ED-BF05-38AA2B123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8705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7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oroshi.design/blog/mvp-development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ijibox.jp/article/mvp_basic/" TargetMode="External"/><Relationship Id="rId5" Type="http://schemas.openxmlformats.org/officeDocument/2006/relationships/hyperlink" Target="https://www.youtube.com/watch?v=MY-eM_Xcohs" TargetMode="External"/><Relationship Id="rId4" Type="http://schemas.openxmlformats.org/officeDocument/2006/relationships/hyperlink" Target="https://ops-in.com/blog/mvp-development/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は機能網羅ではなく </a:t>
            </a:r>
            <a:r>
              <a:rPr lang="en-US" altLang="ja-JP" sz="700" b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「Excelに戻らない設計」 </a:t>
            </a:r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を目標に置く。そのために誰が・何に困っていて・何があれば移行できるかを先に言語化した。</a:t>
            </a:r>
            <a:endParaRPr lang="en-US" altLang="ja-JP" sz="7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en-US"/>
              <a:t>課題</a:t>
            </a:r>
            <a:r>
              <a:rPr lang="en-US" altLang="ja-JP"/>
              <a:t>1</a:t>
            </a:r>
            <a:r>
              <a:rPr lang="ja-JP" altLang="en-US"/>
              <a:t>の必須要件である「申請・承認」「開発進捗管理」「予算管理」は、案件を中心に一気通貫で扱える形で実装しました。申請者は案件申請・進捗入力・予算実績入力、部門管理者は一次承認と自部門の進捗確認、本部管理者は最終承認と関連部門全体の進捗・予算確認を行えます。加えて、承認ステッパー、監査証跡、却下・再申請、自己承認防止、予算消費率の警告表示により、</a:t>
            </a:r>
            <a:r>
              <a:rPr lang="en-US" altLang="ja-JP"/>
              <a:t>PoC</a:t>
            </a:r>
            <a:r>
              <a:rPr lang="ja-JP" altLang="en-US"/>
              <a:t>としての運用性も高めました。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80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06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747B-13B3-1A46-972A-2ADADE57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7425B-3229-BCAC-8B3A-AD0782544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0AB86-5E58-DE90-C860-5F787BB64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層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採用技術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|---|---|</a:t>
            </a:r>
            <a:endParaRPr kumimoji="1" lang="ja-JP" altLang="en-US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バックエンド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PHP 8.2 + Laravel 11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認証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Breeze (Inertia + React)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権限管理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spatie/laravel-permission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ユーザー複数ロール）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フロントエンド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React 18 + TypeScript + Inertia.js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スタイル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Tailwind CSS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UI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コンポーネント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shadcn/ui + lucide-react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グラフ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Recharts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データベース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MySQL 8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XAMPP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デプロイ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Cloud |</a:t>
            </a:r>
          </a:p>
          <a:p>
            <a:b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endParaRPr kumimoji="1" lang="en-US" altLang="ja-JP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5F674-DAD4-D756-D515-F46022CE5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5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en-US" altLang="ja-JP" sz="1200" b="1" kern="0" spc="147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画面数を増やすのではなく、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同じ画面で視点を切り替え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て導線を短く保つ。ロゴ由来のグラデで承認進捗を表現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5BE24-8B8B-1E52-286F-A07966983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DDCC8-3C3C-B52D-D451-310AF00BC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FFEBF-2587-97F1-F81B-D7F1FC49B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ja-JP"/>
              <a:t>バーンダウンチャート（Burndown Chart）とは、プロジェクトの残りの作業量と経過時間を可視化したグラフ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B57B7-91F6-3024-EC98-AAE69B174E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39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ja-JP"/>
              <a:t>バーンダウンチャート（Burndown Chart）とは、プロジェクトの残りの作業量と経過時間を可視化したグラフ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入力画面の見やすさより、その後の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連絡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がアプリだけで回るかを優先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br>
              <a:rPr lang="en-US"/>
            </a:br>
            <a:r>
              <a:rPr lang="en-US" altLang="ja-JP"/>
              <a:t>MVP</a:t>
            </a:r>
            <a:r>
              <a:rPr lang="ja-JP" altLang="en-US"/>
              <a:t>開発</a:t>
            </a:r>
            <a:br>
              <a:rPr lang="en-US"/>
            </a:br>
            <a:r>
              <a:rPr kumimoji="1" lang="ja-JP" altLang="ja-JP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略元の英語:</a:t>
            </a:r>
            <a:r>
              <a:rPr kumimoji="1" lang="ja-JP" altLang="ja-JP" sz="1200" b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Minimum Viable Product（ミニマム・バイアブル・プロダクト）</a:t>
            </a:r>
            <a:r>
              <a:rPr kumimoji="1" lang="ja-JP" altLang="ja-JP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日本語での意味:</a:t>
            </a:r>
            <a:r>
              <a:rPr kumimoji="1" lang="ja-JP" altLang="ja-JP" sz="1200" b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1" lang="ja-JP" altLang="ja-JP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実用最小限の製品</a:t>
            </a:r>
            <a:r>
              <a:rPr lang="ja-JP" altLang="ja-JP"/>
              <a:t> [</a:t>
            </a:r>
            <a:r>
              <a:rPr lang="ja-JP" altLang="ja-JP">
                <a:hlinkClick r:id="rId3"/>
              </a:rPr>
              <a:t>1</a:t>
            </a:r>
            <a:r>
              <a:rPr lang="ja-JP" altLang="ja-JP"/>
              <a:t>, </a:t>
            </a:r>
            <a:r>
              <a:rPr lang="ja-JP" altLang="ja-JP">
                <a:hlinkClick r:id="rId4"/>
              </a:rPr>
              <a:t>2</a:t>
            </a:r>
            <a:r>
              <a:rPr lang="ja-JP" altLang="ja-JP"/>
              <a:t>, </a:t>
            </a:r>
            <a:r>
              <a:rPr lang="ja-JP" altLang="ja-JP">
                <a:hlinkClick r:id="rId5"/>
              </a:rPr>
              <a:t>3</a:t>
            </a:r>
            <a:r>
              <a:rPr lang="ja-JP" altLang="ja-JP"/>
              <a:t>, </a:t>
            </a:r>
            <a:r>
              <a:rPr lang="ja-JP" altLang="ja-JP">
                <a:hlinkClick r:id="rId6"/>
              </a:rPr>
              <a:t>4</a:t>
            </a:r>
            <a:r>
              <a:rPr lang="ja-JP" altLang="ja-JP"/>
              <a:t>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設計判断の根拠を残しているため</a:t>
            </a:r>
            <a:r>
              <a:rPr lang="en-US" altLang="ja-JP" sz="1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altLang="ja-JP" sz="1200" b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altLang="ja-JP" sz="1200" b="1" err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なぜその実装にしたか</a:t>
            </a:r>
            <a:r>
              <a:rPr lang="en-US" altLang="ja-JP" sz="1200" b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</a:t>
            </a:r>
            <a:endParaRPr lang="en-US" altLang="ja-JP" sz="12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altLang="ja-JP" sz="70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を「速度と品質を補助する道具」と定義。自分で判断すべき部分と任せる部分を分けたことで、時間内の完成度を高めた</a:t>
            </a:r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に </a:t>
            </a:r>
            <a:r>
              <a:rPr lang="en-US" altLang="ja-JP" sz="700" b="1">
                <a:solidFill>
                  <a:srgbClr val="2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31時間 </a:t>
            </a:r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を投資。実装前に解像度を上げ、AIへの指示回数を減らして時間内の完成度を高める。</a:t>
            </a:r>
            <a:endParaRPr lang="en-US" altLang="ja-JP" sz="7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も明文化し、AI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/>
              <a:t>【</a:t>
            </a:r>
            <a:r>
              <a:rPr lang="ja-JP" altLang="en-US" b="1"/>
              <a:t>カラーガイド：</a:t>
            </a:r>
            <a:r>
              <a:rPr lang="en-US" altLang="ja-JP" b="1"/>
              <a:t>RGB</a:t>
            </a:r>
            <a:r>
              <a:rPr lang="ja-JP" altLang="en-US" b="1"/>
              <a:t>指定</a:t>
            </a:r>
            <a:r>
              <a:rPr lang="en-US" altLang="ja-JP" b="1"/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-indigo</a:t>
            </a:r>
            <a:r>
              <a:rPr lang="ja-JP" altLang="en-US" b="1"/>
              <a:t>：</a:t>
            </a:r>
            <a:r>
              <a:rPr lang="en-US" altLang="ja-JP" b="1"/>
              <a:t>R47 / G46 / B110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-blue</a:t>
            </a:r>
            <a:r>
              <a:rPr lang="ja-JP" altLang="en-US" b="1"/>
              <a:t>：</a:t>
            </a:r>
            <a:r>
              <a:rPr lang="en-US" altLang="ja-JP" b="1"/>
              <a:t>R0 / G100 / B160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-cyan</a:t>
            </a:r>
            <a:r>
              <a:rPr lang="ja-JP" altLang="en-US" b="1"/>
              <a:t>：</a:t>
            </a:r>
            <a:r>
              <a:rPr lang="en-US" altLang="ja-JP" b="1"/>
              <a:t>R20 / G160 / B180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-amber</a:t>
            </a:r>
            <a:r>
              <a:rPr lang="ja-JP" altLang="en-US" b="1"/>
              <a:t>：</a:t>
            </a:r>
            <a:r>
              <a:rPr lang="en-US" altLang="ja-JP" b="1"/>
              <a:t>R229 / G163 / B48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-red</a:t>
            </a:r>
            <a:r>
              <a:rPr lang="ja-JP" altLang="en-US" b="1"/>
              <a:t>（</a:t>
            </a:r>
            <a:r>
              <a:rPr lang="en-US" altLang="ja-JP" b="1"/>
              <a:t>CTA</a:t>
            </a:r>
            <a:r>
              <a:rPr lang="ja-JP" altLang="en-US" b="1"/>
              <a:t>）：</a:t>
            </a:r>
            <a:r>
              <a:rPr lang="en-US" altLang="ja-JP" b="1"/>
              <a:t>R230 / G0 / B19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/>
              <a:t>paper</a:t>
            </a:r>
            <a:r>
              <a:rPr lang="ja-JP" altLang="en-US" b="1"/>
              <a:t>：</a:t>
            </a:r>
            <a:r>
              <a:rPr lang="en-US" altLang="ja-JP" b="1"/>
              <a:t>R250 / G248 / B243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/>
              <a:t>ink</a:t>
            </a:r>
            <a:r>
              <a:rPr lang="ja-JP" altLang="en-US" b="1"/>
              <a:t>：</a:t>
            </a:r>
            <a:r>
              <a:rPr lang="en-US" altLang="ja-JP" b="1"/>
              <a:t>R21 / G24 / B42</a:t>
            </a:r>
            <a:br>
              <a:rPr lang="en-US" altLang="ja-JP" b="1"/>
            </a:br>
            <a:br>
              <a:rPr lang="en-US" altLang="ja-JP" b="1"/>
            </a:b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CTA</a:t>
            </a:r>
            <a:r>
              <a:rPr lang="ja-JP" altLang="en-US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Call To</a:t>
            </a:r>
            <a:r>
              <a:rPr lang="ja-JP" altLang="en-US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Action</a:t>
            </a:r>
            <a:r>
              <a:rPr lang="ja-JP" altLang="en-US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だけ</a:t>
            </a: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ja-JP"/>
              <a:t>Minimum Viable Product（ミニマム・バイアブル・プロダクト）</a:t>
            </a:r>
            <a:br>
              <a:rPr lang="en-US" altLang="ja-JP"/>
            </a:br>
            <a:r>
              <a:rPr lang="ja-JP" altLang="ja-JP"/>
              <a:t>MVP（実用最小限の製品）開発とは、顧客に提供できる最小限の機能を備えたプロダクトを短期間・低コストで市場に投入し、</a:t>
            </a:r>
            <a:br>
              <a:rPr lang="en-US" altLang="ja-JP"/>
            </a:br>
            <a:r>
              <a:rPr lang="ja-JP" altLang="ja-JP"/>
              <a:t>実際のユーザーの反応を検証する手法です。開発リスクとコストを最小限に抑え、市場ニーズに合致した事業の構築を可能に</a:t>
            </a:r>
            <a:r>
              <a:rPr lang="ja-JP" altLang="en-US"/>
              <a:t>する</a:t>
            </a:r>
            <a:br>
              <a:rPr lang="en-US" altLang="ja-JP"/>
            </a:br>
            <a:br>
              <a:rPr lang="en-US" altLang="ja-JP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5A330">
              <a:alpha val="10000"/>
            </a:srgbClr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0600" y="971550"/>
            <a:ext cx="48926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b="1" kern="0" spc="23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開発管理プロセス一元化アプリケーション · PoC</a:t>
            </a:r>
            <a:endParaRPr lang="en-US" sz="127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0600" y="1585020"/>
            <a:ext cx="8892372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800" b="1" kern="0" spc="-276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Proj</a:t>
            </a:r>
            <a:r>
              <a:rPr lang="en-US" sz="13800" b="1" kern="0" spc="-276">
                <a:solidFill>
                  <a:srgbClr val="0064A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N</a:t>
            </a:r>
            <a:r>
              <a:rPr lang="en-US" sz="13800" b="1" kern="0" spc="-276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exus</a:t>
            </a:r>
            <a:r>
              <a:rPr lang="en-US" sz="13800" b="1" kern="0" spc="-276">
                <a:solidFill>
                  <a:srgbClr val="E5A33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.</a:t>
            </a:r>
            <a:endParaRPr lang="en-US" sz="13800"/>
          </a:p>
        </p:txBody>
      </p:sp>
      <p:sp>
        <p:nvSpPr>
          <p:cNvPr id="11" name="Shape 9"/>
          <p:cNvSpPr/>
          <p:nvPr/>
        </p:nvSpPr>
        <p:spPr>
          <a:xfrm>
            <a:off x="990600" y="8582025"/>
            <a:ext cx="863337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2641" y="7648575"/>
            <a:ext cx="27554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168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PRESENTED BY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53102" y="7608690"/>
            <a:ext cx="2308366" cy="663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altLang="ja-JP" sz="2800">
                <a:latin typeface="Meiryo UI" panose="020B0604030504040204" pitchFamily="50" charset="-128"/>
                <a:ea typeface="Meiryo UI" panose="020B0604030504040204" pitchFamily="50" charset="-128"/>
              </a:rPr>
              <a:t>XX</a:t>
            </a:r>
            <a:r>
              <a:rPr lang="ja-JP" altLang="en-US" sz="280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2800">
                <a:latin typeface="Meiryo UI" panose="020B0604030504040204" pitchFamily="50" charset="-128"/>
                <a:ea typeface="Meiryo UI" panose="020B0604030504040204" pitchFamily="50" charset="-128"/>
              </a:rPr>
              <a:t>XX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53102" y="8058150"/>
            <a:ext cx="14589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</a:t>
            </a:r>
            <a:r>
              <a:rPr lang="en-US" altLang="ja-JP" sz="135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XXXX</a:t>
            </a:r>
            <a:br>
              <a:rPr lang="en-US" altLang="ja-JP" sz="135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135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XXXXX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305633" y="4941689"/>
            <a:ext cx="7063829" cy="36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696158" y="5293694"/>
            <a:ext cx="6471263" cy="48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189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プロジェクト名の由来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696158" y="5733967"/>
            <a:ext cx="6471263" cy="943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255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= </a:t>
            </a:r>
            <a:r>
              <a:rPr lang="en-US" sz="25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Project</a:t>
            </a:r>
            <a:r>
              <a:rPr lang="ja-JP" altLang="en-US" sz="25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sz="255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 </a:t>
            </a:r>
            <a:r>
              <a:rPr lang="en-US" sz="255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</a:t>
            </a:r>
            <a:endParaRPr lang="en-US" sz="25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696158" y="6788699"/>
            <a:ext cx="6282779" cy="9514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696157" y="6990893"/>
            <a:ext cx="6471263" cy="1427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Nexus（ネクサス） </a:t>
            </a:r>
            <a:r>
              <a:rPr lang="en-US" sz="15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とは「すべてが繋がる中心点」を意味します。 申請者・部門管理者・本部管理者 — それぞれの視点を </a:t>
            </a:r>
            <a:r>
              <a:rPr lang="en-US" sz="15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ひとつの軸に繋ぎ </a:t>
            </a:r>
            <a:r>
              <a:rPr lang="en-US" sz="15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、プロジェクトを目標へと導く。それが </a:t>
            </a:r>
            <a:r>
              <a:rPr lang="en-US" sz="15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15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のコンセプトです。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677FEEC-872A-379B-5481-DA90C4981AA3}"/>
              </a:ext>
            </a:extLst>
          </p:cNvPr>
          <p:cNvGrpSpPr/>
          <p:nvPr/>
        </p:nvGrpSpPr>
        <p:grpSpPr>
          <a:xfrm>
            <a:off x="10233571" y="1219198"/>
            <a:ext cx="7063829" cy="5811659"/>
            <a:chOff x="990601" y="5590282"/>
            <a:chExt cx="7063829" cy="3515987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A5156A7B-AA25-7AEB-8BDC-BA3850662B5C}"/>
                </a:ext>
              </a:extLst>
            </p:cNvPr>
            <p:cNvGrpSpPr/>
            <p:nvPr/>
          </p:nvGrpSpPr>
          <p:grpSpPr>
            <a:xfrm>
              <a:off x="990601" y="5590282"/>
              <a:ext cx="7063829" cy="2038350"/>
              <a:chOff x="10233571" y="952500"/>
              <a:chExt cx="7063829" cy="2038350"/>
            </a:xfrm>
          </p:grpSpPr>
          <p:sp>
            <p:nvSpPr>
              <p:cNvPr id="7" name="Shape 15"/>
              <p:cNvSpPr/>
              <p:nvPr/>
            </p:nvSpPr>
            <p:spPr>
              <a:xfrm>
                <a:off x="10233571" y="952500"/>
                <a:ext cx="7063829" cy="2038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0" name="Text 16"/>
              <p:cNvSpPr/>
              <p:nvPr/>
            </p:nvSpPr>
            <p:spPr>
              <a:xfrm>
                <a:off x="12186196" y="1378744"/>
                <a:ext cx="2394347" cy="2238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975" kern="0" spc="176">
                    <a:solidFill>
                      <a:srgbClr val="6F7388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JPT INTERNSHIP CHALLENGE</a:t>
                </a:r>
                <a:endParaRPr lang="en-US" sz="975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5" name="Text 17"/>
              <p:cNvSpPr/>
              <p:nvPr/>
            </p:nvSpPr>
            <p:spPr>
              <a:xfrm>
                <a:off x="12290970" y="1630851"/>
                <a:ext cx="13335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日揮パラレル</a:t>
                </a:r>
                <a:endParaRPr lang="en-US" sz="16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8" name="Text 18"/>
              <p:cNvSpPr/>
              <p:nvPr/>
            </p:nvSpPr>
            <p:spPr>
              <a:xfrm>
                <a:off x="12290970" y="1945176"/>
                <a:ext cx="154305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テクノロジーズ</a:t>
                </a:r>
                <a:endParaRPr lang="en-US" sz="16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9" name="Text 19"/>
              <p:cNvSpPr/>
              <p:nvPr/>
            </p:nvSpPr>
            <p:spPr>
              <a:xfrm>
                <a:off x="12290970" y="2259501"/>
                <a:ext cx="17526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インターンシップ</a:t>
                </a:r>
                <a:endParaRPr lang="en-US" sz="16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3048000" y="7194000"/>
              <a:ext cx="4532226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>
                <a:buNone/>
              </a:pPr>
              <a:r>
                <a:rPr lang="en-US" kern="0" spc="144">
                  <a:solidFill>
                    <a:schemeClr val="tx1">
                      <a:lumMod val="95000"/>
                      <a:lumOff val="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2026.04.13 — 05.15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E3540B2F-E555-4397-1E83-2E5F69F74F74}"/>
                </a:ext>
              </a:extLst>
            </p:cNvPr>
            <p:cNvSpPr/>
            <p:nvPr/>
          </p:nvSpPr>
          <p:spPr>
            <a:xfrm>
              <a:off x="3782750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案件管理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90E33BDA-6E86-BB89-C5B4-4E212B5D7002}"/>
                </a:ext>
              </a:extLst>
            </p:cNvPr>
            <p:cNvSpPr/>
            <p:nvPr/>
          </p:nvSpPr>
          <p:spPr>
            <a:xfrm>
              <a:off x="5582828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接続点・中枢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Text 14">
              <a:extLst>
                <a:ext uri="{FF2B5EF4-FFF2-40B4-BE49-F238E27FC236}">
                  <a16:creationId xmlns:a16="http://schemas.microsoft.com/office/drawing/2014/main" id="{EC2A707B-9CC6-17C2-1DE0-192A85855D4D}"/>
                </a:ext>
              </a:extLst>
            </p:cNvPr>
            <p:cNvSpPr/>
            <p:nvPr/>
          </p:nvSpPr>
          <p:spPr>
            <a:xfrm>
              <a:off x="1405802" y="8630048"/>
              <a:ext cx="2266862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ja-JP" altLang="en-US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（プロジ・ネクサス）</a:t>
              </a:r>
              <a:endParaRPr lang="en-US" altLang="ja-JP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5" name="楕円 4">
            <a:extLst>
              <a:ext uri="{FF2B5EF4-FFF2-40B4-BE49-F238E27FC236}">
                <a16:creationId xmlns:a16="http://schemas.microsoft.com/office/drawing/2014/main" id="{148B7858-99E0-B3C1-BF8B-E3BF912840DA}"/>
              </a:ext>
            </a:extLst>
          </p:cNvPr>
          <p:cNvSpPr/>
          <p:nvPr/>
        </p:nvSpPr>
        <p:spPr>
          <a:xfrm>
            <a:off x="10624096" y="2385293"/>
            <a:ext cx="720000" cy="720000"/>
          </a:xfrm>
          <a:prstGeom prst="ellipse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DF4CE6C0-C361-0427-C65A-03AFF5E5A110}"/>
              </a:ext>
            </a:extLst>
          </p:cNvPr>
          <p:cNvSpPr/>
          <p:nvPr/>
        </p:nvSpPr>
        <p:spPr>
          <a:xfrm>
            <a:off x="10624096" y="3039962"/>
            <a:ext cx="720000" cy="720000"/>
          </a:xfrm>
          <a:prstGeom prst="ellipse">
            <a:avLst/>
          </a:prstGeom>
          <a:solidFill>
            <a:srgbClr val="0064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6DCB5B1-0C58-27B7-9E47-F81120FCE586}"/>
              </a:ext>
            </a:extLst>
          </p:cNvPr>
          <p:cNvSpPr/>
          <p:nvPr/>
        </p:nvSpPr>
        <p:spPr>
          <a:xfrm>
            <a:off x="10624096" y="3694632"/>
            <a:ext cx="720000" cy="720000"/>
          </a:xfrm>
          <a:prstGeom prst="ellipse">
            <a:avLst/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5DD715EF-00BF-8C60-EF9A-EC0BEB398A0D}"/>
              </a:ext>
            </a:extLst>
          </p:cNvPr>
          <p:cNvSpPr/>
          <p:nvPr/>
        </p:nvSpPr>
        <p:spPr>
          <a:xfrm>
            <a:off x="10624096" y="1585020"/>
            <a:ext cx="720000" cy="720000"/>
          </a:xfrm>
          <a:prstGeom prst="ellipse">
            <a:avLst/>
          </a:prstGeom>
          <a:solidFill>
            <a:srgbClr val="E5A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図 71">
            <a:extLst>
              <a:ext uri="{FF2B5EF4-FFF2-40B4-BE49-F238E27FC236}">
                <a16:creationId xmlns:a16="http://schemas.microsoft.com/office/drawing/2014/main" id="{4C913A72-6A0F-880C-F03C-33E84CFAD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275" y="3101250"/>
            <a:ext cx="4031665" cy="868917"/>
          </a:xfrm>
          <a:prstGeom prst="rect">
            <a:avLst/>
          </a:prstGeom>
          <a:ln>
            <a:solidFill>
              <a:srgbClr val="002E6E"/>
            </a:solidFill>
          </a:ln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837E8F1D-86DF-712D-E6F5-E46796D566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49"/>
          <a:stretch>
            <a:fillRect/>
          </a:stretch>
        </p:blipFill>
        <p:spPr>
          <a:xfrm>
            <a:off x="10850440" y="3970167"/>
            <a:ext cx="7062003" cy="3367273"/>
          </a:xfrm>
          <a:prstGeom prst="rect">
            <a:avLst/>
          </a:prstGeom>
          <a:ln>
            <a:solidFill>
              <a:srgbClr val="002E6E"/>
            </a:solidFill>
          </a:ln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5AFDBAEC-DEA9-C1D5-33DB-48140AA6A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5275" y="5338225"/>
            <a:ext cx="6221771" cy="2823879"/>
          </a:xfrm>
          <a:prstGeom prst="rect">
            <a:avLst/>
          </a:prstGeom>
          <a:ln>
            <a:solidFill>
              <a:srgbClr val="002E6E"/>
            </a:solidFill>
          </a:ln>
        </p:spPr>
      </p:pic>
      <p:sp>
        <p:nvSpPr>
          <p:cNvPr id="20" name="円: 塗りつぶしなし 19">
            <a:extLst>
              <a:ext uri="{FF2B5EF4-FFF2-40B4-BE49-F238E27FC236}">
                <a16:creationId xmlns:a16="http://schemas.microsoft.com/office/drawing/2014/main" id="{B1554D76-8931-262D-DC74-607117D4A78B}"/>
              </a:ext>
            </a:extLst>
          </p:cNvPr>
          <p:cNvSpPr/>
          <p:nvPr/>
        </p:nvSpPr>
        <p:spPr>
          <a:xfrm>
            <a:off x="12313846" y="3617338"/>
            <a:ext cx="3335042" cy="3224333"/>
          </a:xfrm>
          <a:prstGeom prst="donut">
            <a:avLst/>
          </a:prstGeom>
          <a:noFill/>
          <a:ln w="76200">
            <a:solidFill>
              <a:srgbClr val="E600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FC79686-6507-27E4-6CFC-997E48D62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961" y="2994330"/>
            <a:ext cx="8201781" cy="4999050"/>
          </a:xfrm>
          <a:prstGeom prst="rect">
            <a:avLst/>
          </a:prstGeom>
        </p:spPr>
      </p:pic>
      <p:sp>
        <p:nvSpPr>
          <p:cNvPr id="18" name="円: 塗りつぶしなし 17">
            <a:extLst>
              <a:ext uri="{FF2B5EF4-FFF2-40B4-BE49-F238E27FC236}">
                <a16:creationId xmlns:a16="http://schemas.microsoft.com/office/drawing/2014/main" id="{8BA2733D-7D32-5F3B-0E1F-A1858DB0F770}"/>
              </a:ext>
            </a:extLst>
          </p:cNvPr>
          <p:cNvSpPr/>
          <p:nvPr/>
        </p:nvSpPr>
        <p:spPr>
          <a:xfrm>
            <a:off x="5241471" y="3617338"/>
            <a:ext cx="3335042" cy="3224333"/>
          </a:xfrm>
          <a:prstGeom prst="donut">
            <a:avLst/>
          </a:prstGeom>
          <a:noFill/>
          <a:ln w="76200">
            <a:solidFill>
              <a:srgbClr val="E600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プロダクト　概要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に分断された業務を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ひとつの画面体験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にまとめる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14400" y="8558867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74961" y="8558867"/>
            <a:ext cx="1273671" cy="10867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81100" y="9025355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kern="0" spc="72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VALUE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454771" y="8558867"/>
            <a:ext cx="14918829" cy="833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システム導入で</a:t>
            </a:r>
            <a:r>
              <a:rPr lang="ja-JP" altLang="en-US" sz="36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見える</a:t>
            </a:r>
            <a:r>
              <a:rPr lang="en-US" altLang="ja-JP" sz="36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化</a:t>
            </a:r>
            <a:r>
              <a:rPr lang="ja-JP" altLang="en-US" sz="2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し、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ロール別に</a:t>
            </a:r>
            <a:r>
              <a:rPr lang="en-US" altLang="ja-JP" sz="36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「今やるべきこと」</a:t>
            </a:r>
            <a:r>
              <a:rPr lang="en-US" altLang="ja-JP" sz="36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を即</a:t>
            </a:r>
            <a:r>
              <a:rPr lang="ja-JP" altLang="en-US" sz="36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実行</a:t>
            </a: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</a:t>
            </a:r>
            <a:r>
              <a:rPr lang="ja-JP" altLang="en-US" sz="4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業績</a:t>
            </a:r>
            <a:r>
              <a:rPr lang="en-US" altLang="ja-JP" sz="4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UP</a:t>
            </a:r>
            <a:r>
              <a:rPr lang="ja-JP" altLang="en-US" sz="4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に貢献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521571" y="9159627"/>
            <a:ext cx="19621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407521" y="9197727"/>
            <a:ext cx="36692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969871" y="9159627"/>
            <a:ext cx="7048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598521" y="9197727"/>
            <a:ext cx="704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20E72FC-2BEE-C765-3322-AC23F21003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0838" y="-1975991"/>
            <a:ext cx="1133475" cy="923925"/>
          </a:xfrm>
          <a:prstGeom prst="rect">
            <a:avLst/>
          </a:prstGeom>
        </p:spPr>
      </p:pic>
      <p:sp>
        <p:nvSpPr>
          <p:cNvPr id="5" name="Text 16">
            <a:extLst>
              <a:ext uri="{FF2B5EF4-FFF2-40B4-BE49-F238E27FC236}">
                <a16:creationId xmlns:a16="http://schemas.microsoft.com/office/drawing/2014/main" id="{5610CE0C-7D01-23FA-AC21-521583714637}"/>
              </a:ext>
            </a:extLst>
          </p:cNvPr>
          <p:cNvSpPr/>
          <p:nvPr/>
        </p:nvSpPr>
        <p:spPr>
          <a:xfrm>
            <a:off x="5522090" y="3904571"/>
            <a:ext cx="2013024" cy="581522"/>
          </a:xfrm>
          <a:prstGeom prst="roundRect">
            <a:avLst/>
          </a:prstGeom>
          <a:solidFill>
            <a:srgbClr val="E5A330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転記不要</a:t>
            </a:r>
            <a:endParaRPr lang="en-US" sz="975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40E95ABD-1A07-896B-F926-175050845DE1}"/>
              </a:ext>
            </a:extLst>
          </p:cNvPr>
          <p:cNvSpPr/>
          <p:nvPr/>
        </p:nvSpPr>
        <p:spPr>
          <a:xfrm>
            <a:off x="9885748" y="1123950"/>
            <a:ext cx="6328523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情報を連携させ、</a:t>
            </a:r>
            <a:br>
              <a:rPr lang="en-US" altLang="ja-JP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課題を</a:t>
            </a: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見える化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する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9C72FED8-26A8-7E9F-F8B2-029D8C2DFE3D}"/>
              </a:ext>
            </a:extLst>
          </p:cNvPr>
          <p:cNvSpPr/>
          <p:nvPr/>
        </p:nvSpPr>
        <p:spPr>
          <a:xfrm>
            <a:off x="5522090" y="5160606"/>
            <a:ext cx="2013024" cy="581522"/>
          </a:xfrm>
          <a:prstGeom prst="roundRect">
            <a:avLst/>
          </a:prstGeom>
          <a:solidFill>
            <a:srgbClr val="E5A330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連絡不要</a:t>
            </a:r>
            <a:endParaRPr lang="en-US" sz="975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84BF9242-E424-B788-54E0-448057079B30}"/>
              </a:ext>
            </a:extLst>
          </p:cNvPr>
          <p:cNvSpPr/>
          <p:nvPr/>
        </p:nvSpPr>
        <p:spPr>
          <a:xfrm>
            <a:off x="12974855" y="5160606"/>
            <a:ext cx="2013024" cy="581522"/>
          </a:xfrm>
          <a:prstGeom prst="roundRect">
            <a:avLst/>
          </a:prstGeom>
          <a:solidFill>
            <a:srgbClr val="E5A330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管理可能</a:t>
            </a:r>
            <a:endParaRPr lang="en-US" sz="975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CE21C982-B5C0-D0DD-81C7-44FB7590F42A}"/>
              </a:ext>
            </a:extLst>
          </p:cNvPr>
          <p:cNvSpPr/>
          <p:nvPr/>
        </p:nvSpPr>
        <p:spPr>
          <a:xfrm>
            <a:off x="12974856" y="3904571"/>
            <a:ext cx="2013024" cy="581522"/>
          </a:xfrm>
          <a:prstGeom prst="roundRect">
            <a:avLst/>
          </a:prstGeom>
          <a:solidFill>
            <a:srgbClr val="E5A330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見える化</a:t>
            </a:r>
            <a:endParaRPr lang="en-US" sz="975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55">
            <a:extLst>
              <a:ext uri="{FF2B5EF4-FFF2-40B4-BE49-F238E27FC236}">
                <a16:creationId xmlns:a16="http://schemas.microsoft.com/office/drawing/2014/main" id="{C214D00B-1524-3B39-16E9-C31454A60043}"/>
              </a:ext>
            </a:extLst>
          </p:cNvPr>
          <p:cNvSpPr/>
          <p:nvPr/>
        </p:nvSpPr>
        <p:spPr>
          <a:xfrm>
            <a:off x="10091781" y="5272853"/>
            <a:ext cx="2139766" cy="482324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58">
            <a:extLst>
              <a:ext uri="{FF2B5EF4-FFF2-40B4-BE49-F238E27FC236}">
                <a16:creationId xmlns:a16="http://schemas.microsoft.com/office/drawing/2014/main" id="{01E8AF88-D168-17C0-3C1B-202288DBB65C}"/>
              </a:ext>
            </a:extLst>
          </p:cNvPr>
          <p:cNvSpPr/>
          <p:nvPr/>
        </p:nvSpPr>
        <p:spPr>
          <a:xfrm>
            <a:off x="10227991" y="5240721"/>
            <a:ext cx="2139766" cy="833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ja-JP" altLang="en-US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予算ダッシュボード</a:t>
            </a:r>
            <a:endParaRPr lang="en-US" sz="2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55">
            <a:extLst>
              <a:ext uri="{FF2B5EF4-FFF2-40B4-BE49-F238E27FC236}">
                <a16:creationId xmlns:a16="http://schemas.microsoft.com/office/drawing/2014/main" id="{6EEDF4EB-1799-8B1E-C0F1-E65A18F8509B}"/>
              </a:ext>
            </a:extLst>
          </p:cNvPr>
          <p:cNvSpPr/>
          <p:nvPr/>
        </p:nvSpPr>
        <p:spPr>
          <a:xfrm>
            <a:off x="16556642" y="3985219"/>
            <a:ext cx="1355802" cy="467271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58">
            <a:extLst>
              <a:ext uri="{FF2B5EF4-FFF2-40B4-BE49-F238E27FC236}">
                <a16:creationId xmlns:a16="http://schemas.microsoft.com/office/drawing/2014/main" id="{25B31F7D-DCF2-DB0D-12A7-1C09920AC9EC}"/>
              </a:ext>
            </a:extLst>
          </p:cNvPr>
          <p:cNvSpPr/>
          <p:nvPr/>
        </p:nvSpPr>
        <p:spPr>
          <a:xfrm>
            <a:off x="16770683" y="3985220"/>
            <a:ext cx="1665472" cy="833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ja-JP" altLang="en-US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開発進捗</a:t>
            </a:r>
            <a:endParaRPr lang="en-US" sz="2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55">
            <a:extLst>
              <a:ext uri="{FF2B5EF4-FFF2-40B4-BE49-F238E27FC236}">
                <a16:creationId xmlns:a16="http://schemas.microsoft.com/office/drawing/2014/main" id="{FFC411AF-7783-C63D-D1AD-559B022F79FB}"/>
              </a:ext>
            </a:extLst>
          </p:cNvPr>
          <p:cNvSpPr/>
          <p:nvPr/>
        </p:nvSpPr>
        <p:spPr>
          <a:xfrm>
            <a:off x="10096288" y="3069641"/>
            <a:ext cx="1517317" cy="482324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58">
            <a:extLst>
              <a:ext uri="{FF2B5EF4-FFF2-40B4-BE49-F238E27FC236}">
                <a16:creationId xmlns:a16="http://schemas.microsoft.com/office/drawing/2014/main" id="{1818A326-8A96-11E0-52B6-C52D63900A74}"/>
              </a:ext>
            </a:extLst>
          </p:cNvPr>
          <p:cNvSpPr/>
          <p:nvPr/>
        </p:nvSpPr>
        <p:spPr>
          <a:xfrm>
            <a:off x="10145275" y="3087588"/>
            <a:ext cx="1252319" cy="52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ja-JP" altLang="en-US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承認状況</a:t>
            </a:r>
            <a:endParaRPr lang="en-US" sz="2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二等辺三角形 20">
            <a:extLst>
              <a:ext uri="{FF2B5EF4-FFF2-40B4-BE49-F238E27FC236}">
                <a16:creationId xmlns:a16="http://schemas.microsoft.com/office/drawing/2014/main" id="{82C566C2-EFB2-1D09-7F9A-1B3E1F0F54C0}"/>
              </a:ext>
            </a:extLst>
          </p:cNvPr>
          <p:cNvSpPr/>
          <p:nvPr/>
        </p:nvSpPr>
        <p:spPr>
          <a:xfrm rot="5400000">
            <a:off x="2063937" y="5210453"/>
            <a:ext cx="4519153" cy="719853"/>
          </a:xfrm>
          <a:prstGeom prst="triangle">
            <a:avLst/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UNDERSTANDING · 03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5650" y="1700292"/>
            <a:ext cx="1209930" cy="686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24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各部署の声</a:t>
            </a:r>
            <a:endParaRPr lang="en-US" sz="2400" b="1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43679" y="1641779"/>
            <a:ext cx="5308550" cy="15211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38954" y="2095961"/>
            <a:ext cx="4718000" cy="4497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38954" y="1808163"/>
            <a:ext cx="1504950" cy="215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本部管理者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61654" y="1790175"/>
            <a:ext cx="495300" cy="233836"/>
          </a:xfrm>
          <a:prstGeom prst="ellipse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23554" y="1790175"/>
            <a:ext cx="571500" cy="251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HQ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38954" y="2199389"/>
            <a:ext cx="4859540" cy="89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38954" y="2316307"/>
            <a:ext cx="4859540" cy="545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全案件の</a:t>
            </a:r>
            <a:r>
              <a:rPr lang="en-US" sz="225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</a:t>
            </a:r>
            <a:r>
              <a:rPr lang="en-US" sz="225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 </a:t>
            </a:r>
            <a:r>
              <a:rPr 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予算リスク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b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一覧で見たい。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18929" y="1641779"/>
            <a:ext cx="5308550" cy="15211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14204" y="2095961"/>
            <a:ext cx="4718000" cy="4497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14204" y="1808163"/>
            <a:ext cx="1504950" cy="215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部門管理者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636905" y="1790175"/>
            <a:ext cx="495300" cy="233836"/>
          </a:xfrm>
          <a:prstGeom prst="ellipse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98805" y="1790175"/>
            <a:ext cx="571500" cy="251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DEPT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14204" y="2199389"/>
            <a:ext cx="4859540" cy="89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14204" y="2316307"/>
            <a:ext cx="4859540" cy="529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 </a:t>
            </a:r>
            <a:r>
              <a:rPr lang="en-US" sz="22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 を減らし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、メンバーの</a:t>
            </a:r>
            <a:r>
              <a:rPr lang="en-US" sz="22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状況を一目で把握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したい。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694180" y="1641779"/>
            <a:ext cx="5308550" cy="1486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989455" y="2095961"/>
            <a:ext cx="4718000" cy="4497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989455" y="1808163"/>
            <a:ext cx="933450" cy="2158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申請者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7212155" y="1790175"/>
            <a:ext cx="495300" cy="233836"/>
          </a:xfrm>
          <a:prstGeom prst="ellipse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7174055" y="1790175"/>
            <a:ext cx="571500" cy="251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USER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989455" y="2199389"/>
            <a:ext cx="4859540" cy="89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989455" y="2316307"/>
            <a:ext cx="4859540" cy="600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申請した案件が </a:t>
            </a:r>
            <a:r>
              <a:rPr lang="en-US" sz="225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今どの承認段階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か分かると安心。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649186" y="4874911"/>
            <a:ext cx="16199809" cy="3956835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929583" y="4895472"/>
            <a:ext cx="1737569" cy="395683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57300" y="7260143"/>
            <a:ext cx="1562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97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087587" y="4944617"/>
            <a:ext cx="13230076" cy="1390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5000"/>
              </a:lnSpc>
            </a:pP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本社が業績管理をしたいためのシステム導入だが、</a:t>
            </a:r>
            <a:br>
              <a:rPr lang="en-US" altLang="ja-JP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開発部門は運用しやすい</a:t>
            </a:r>
            <a:r>
              <a:rPr lang="en-US" altLang="ja-JP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</a:t>
            </a: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管理を継続したい。</a:t>
            </a:r>
            <a:br>
              <a:rPr lang="en-US" altLang="ja-JP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部署ごとに異なる </a:t>
            </a: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開発進捗管理の</a:t>
            </a: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 運用</a:t>
            </a: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をシステム</a:t>
            </a: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へ移行するには、</a:t>
            </a:r>
            <a:b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2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各部署のニーズを吸収できる多様な管理機能 </a:t>
            </a: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が必要</a:t>
            </a:r>
            <a:b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32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単機能の置き換えでは、結局 Excel に戻る。</a:t>
            </a:r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65000"/>
              </a:lnSpc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37618" y="9171730"/>
            <a:ext cx="14874537" cy="38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「管理項目」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「運用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」の違い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4400" b="1" u="sng">
                <a:solidFill>
                  <a:srgbClr val="E5A330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機能の選択肢</a:t>
            </a:r>
            <a:r>
              <a:rPr lang="en-US" sz="4400" b="1" u="sng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で吸収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</a:t>
            </a:r>
            <a:endParaRPr lang="en-US" sz="4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EEDC2B8A-68B1-EB6C-9972-589285560430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9E83F828-F16E-AC73-0BC0-788B4F8C4DDC}"/>
              </a:ext>
            </a:extLst>
          </p:cNvPr>
          <p:cNvSpPr/>
          <p:nvPr/>
        </p:nvSpPr>
        <p:spPr>
          <a:xfrm>
            <a:off x="4239637" y="330607"/>
            <a:ext cx="16106775" cy="1290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課題理解と</a:t>
            </a:r>
            <a:r>
              <a:rPr lang="ja-JP" alt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5400">
              <a:solidFill>
                <a:srgbClr val="E6001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3DEAAB3-9DEB-1F5A-BC9B-1F443365F1E9}"/>
              </a:ext>
            </a:extLst>
          </p:cNvPr>
          <p:cNvSpPr/>
          <p:nvPr/>
        </p:nvSpPr>
        <p:spPr>
          <a:xfrm>
            <a:off x="9645564" y="278226"/>
            <a:ext cx="7403561" cy="1202051"/>
          </a:xfrm>
          <a:prstGeom prst="rect">
            <a:avLst/>
          </a:prstGeom>
          <a:solidFill>
            <a:srgbClr val="FFFFFF"/>
          </a:solidFill>
          <a:ln>
            <a:solidFill>
              <a:srgbClr val="E5A330"/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0A3F1FEB-6FAD-F9B4-1C36-C0261C7E83AD}"/>
              </a:ext>
            </a:extLst>
          </p:cNvPr>
          <p:cNvSpPr/>
          <p:nvPr/>
        </p:nvSpPr>
        <p:spPr>
          <a:xfrm>
            <a:off x="9757891" y="356227"/>
            <a:ext cx="7253134" cy="918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b="1"/>
              <a:t>背景</a:t>
            </a:r>
            <a:endParaRPr lang="en-US" altLang="ja-JP" b="1"/>
          </a:p>
          <a:p>
            <a:r>
              <a:rPr lang="en-US" altLang="ja-JP"/>
              <a:t>PoC </a:t>
            </a:r>
            <a:r>
              <a:rPr lang="ja-JP" altLang="en-US"/>
              <a:t>は「</a:t>
            </a:r>
            <a:r>
              <a:rPr lang="en-US" altLang="ja-JP"/>
              <a:t>Excel</a:t>
            </a:r>
            <a:r>
              <a:rPr lang="ja-JP" altLang="en-US"/>
              <a:t>に戻らない設計」 を目標に置く</a:t>
            </a:r>
            <a:br>
              <a:rPr lang="en-US" altLang="ja-JP"/>
            </a:br>
            <a:r>
              <a:rPr lang="ja-JP" altLang="en-US"/>
              <a:t>そのために誰が・何に困っていて・何があれば移行できるかを先に言語化した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09DFBA44-BC66-FEA8-DF1E-4063ECBC1812}"/>
              </a:ext>
            </a:extLst>
          </p:cNvPr>
          <p:cNvSpPr/>
          <p:nvPr/>
        </p:nvSpPr>
        <p:spPr>
          <a:xfrm>
            <a:off x="295650" y="3571364"/>
            <a:ext cx="1209930" cy="5673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2400" b="1" kern="0" spc="-8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</a:t>
            </a:r>
            <a:endParaRPr lang="en-US" sz="2400" b="1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42F35F89-2A94-5261-3AAA-EF1964FDC7AB}"/>
              </a:ext>
            </a:extLst>
          </p:cNvPr>
          <p:cNvSpPr/>
          <p:nvPr/>
        </p:nvSpPr>
        <p:spPr>
          <a:xfrm>
            <a:off x="1543679" y="3357973"/>
            <a:ext cx="5308550" cy="1410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83E93064-4736-E318-CFF9-B549167F6501}"/>
              </a:ext>
            </a:extLst>
          </p:cNvPr>
          <p:cNvSpPr/>
          <p:nvPr/>
        </p:nvSpPr>
        <p:spPr>
          <a:xfrm>
            <a:off x="1838954" y="3680548"/>
            <a:ext cx="4718000" cy="3716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D80543DF-1022-F7F3-ED35-FC44B6F9C08A}"/>
              </a:ext>
            </a:extLst>
          </p:cNvPr>
          <p:cNvSpPr/>
          <p:nvPr/>
        </p:nvSpPr>
        <p:spPr>
          <a:xfrm>
            <a:off x="1838953" y="3423905"/>
            <a:ext cx="3026961" cy="300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ダッシュボード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B29263C2-2196-563F-D31C-AB4910A87745}"/>
              </a:ext>
            </a:extLst>
          </p:cNvPr>
          <p:cNvSpPr/>
          <p:nvPr/>
        </p:nvSpPr>
        <p:spPr>
          <a:xfrm>
            <a:off x="1838954" y="3791389"/>
            <a:ext cx="858526" cy="116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>
                <a:latin typeface="Meiryo UI" panose="020B0604030504040204" pitchFamily="50" charset="-128"/>
                <a:ea typeface="Meiryo UI" panose="020B0604030504040204" pitchFamily="50" charset="-128"/>
              </a:rPr>
              <a:t>FUNCTION</a:t>
            </a: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116B285A-A40F-2A04-9472-F19B71DBF2A0}"/>
              </a:ext>
            </a:extLst>
          </p:cNvPr>
          <p:cNvSpPr/>
          <p:nvPr/>
        </p:nvSpPr>
        <p:spPr>
          <a:xfrm>
            <a:off x="1838954" y="3947825"/>
            <a:ext cx="4859540" cy="450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予定工数、</a:t>
            </a:r>
            <a:r>
              <a:rPr lang="ja-JP" alt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実績工数</a:t>
            </a: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の対比　</a:t>
            </a:r>
            <a:br>
              <a:rPr lang="en-US" altLang="ja-JP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工数と比した</a:t>
            </a:r>
            <a:r>
              <a:rPr 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</a:t>
            </a:r>
            <a:r>
              <a:rPr lang="ja-JP" alt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</a:t>
            </a:r>
            <a:r>
              <a:rPr 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表示</a:t>
            </a:r>
            <a:br>
              <a:rPr lang="en-US" altLang="ja-JP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09A58AE4-B2EC-963D-CFF4-48C35486F221}"/>
              </a:ext>
            </a:extLst>
          </p:cNvPr>
          <p:cNvSpPr/>
          <p:nvPr/>
        </p:nvSpPr>
        <p:spPr>
          <a:xfrm>
            <a:off x="7118929" y="3357973"/>
            <a:ext cx="5308550" cy="1410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D2E4A39D-5062-4E79-0C0A-FCD0813B1570}"/>
              </a:ext>
            </a:extLst>
          </p:cNvPr>
          <p:cNvSpPr/>
          <p:nvPr/>
        </p:nvSpPr>
        <p:spPr>
          <a:xfrm>
            <a:off x="7414204" y="3680548"/>
            <a:ext cx="4718000" cy="3716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6E0DB260-E697-2174-8CF7-F5FEA1A5D3BE}"/>
              </a:ext>
            </a:extLst>
          </p:cNvPr>
          <p:cNvSpPr/>
          <p:nvPr/>
        </p:nvSpPr>
        <p:spPr>
          <a:xfrm>
            <a:off x="7414203" y="3405480"/>
            <a:ext cx="4391353" cy="124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メンバー別タスク表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4F1FA194-FF6A-3B9F-BCA3-59327C6E0084}"/>
              </a:ext>
            </a:extLst>
          </p:cNvPr>
          <p:cNvSpPr/>
          <p:nvPr/>
        </p:nvSpPr>
        <p:spPr>
          <a:xfrm>
            <a:off x="7414204" y="3791390"/>
            <a:ext cx="4859540" cy="74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FUNCTION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61D8A3F2-CBF0-5823-D30F-9BE2DCF489AC}"/>
              </a:ext>
            </a:extLst>
          </p:cNvPr>
          <p:cNvSpPr/>
          <p:nvPr/>
        </p:nvSpPr>
        <p:spPr>
          <a:xfrm>
            <a:off x="7414204" y="3946410"/>
            <a:ext cx="4859540" cy="43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 </a:t>
            </a:r>
            <a:r>
              <a:rPr lang="en-US" sz="22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 を減らし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、メンバーの</a:t>
            </a:r>
            <a:r>
              <a:rPr lang="en-US" sz="22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状況を一目で把握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したい。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BDBB2181-950E-2E39-530C-DC97AA556E90}"/>
              </a:ext>
            </a:extLst>
          </p:cNvPr>
          <p:cNvSpPr/>
          <p:nvPr/>
        </p:nvSpPr>
        <p:spPr>
          <a:xfrm>
            <a:off x="12694180" y="3355009"/>
            <a:ext cx="5308550" cy="137869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500DE359-8C12-2F20-2134-EEC55F54B6E8}"/>
              </a:ext>
            </a:extLst>
          </p:cNvPr>
          <p:cNvSpPr/>
          <p:nvPr/>
        </p:nvSpPr>
        <p:spPr>
          <a:xfrm>
            <a:off x="12989455" y="3680548"/>
            <a:ext cx="4718000" cy="3716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59F26EFE-174E-89DE-67F8-3BE95A95F84B}"/>
              </a:ext>
            </a:extLst>
          </p:cNvPr>
          <p:cNvSpPr/>
          <p:nvPr/>
        </p:nvSpPr>
        <p:spPr>
          <a:xfrm>
            <a:off x="12989455" y="3401199"/>
            <a:ext cx="4859540" cy="84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24E60AEC-C0C2-868B-D4CD-EC565E91FB69}"/>
              </a:ext>
            </a:extLst>
          </p:cNvPr>
          <p:cNvSpPr/>
          <p:nvPr/>
        </p:nvSpPr>
        <p:spPr>
          <a:xfrm>
            <a:off x="12989455" y="3791390"/>
            <a:ext cx="4859540" cy="74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FUNCTION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3A338707-BA87-F77F-31F9-EDF071E2E82D}"/>
              </a:ext>
            </a:extLst>
          </p:cNvPr>
          <p:cNvSpPr/>
          <p:nvPr/>
        </p:nvSpPr>
        <p:spPr>
          <a:xfrm>
            <a:off x="12989455" y="3952654"/>
            <a:ext cx="4859540" cy="496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申請した案件が </a:t>
            </a:r>
            <a:r>
              <a:rPr lang="en-US" sz="225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今どの承認段階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か分かると安心。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ADD37B95-E935-FB59-CE5F-ADF6B10FB5B0}"/>
              </a:ext>
            </a:extLst>
          </p:cNvPr>
          <p:cNvSpPr/>
          <p:nvPr/>
        </p:nvSpPr>
        <p:spPr>
          <a:xfrm>
            <a:off x="1929583" y="8970198"/>
            <a:ext cx="15919411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17B6B413-B821-7DCA-5012-EBE4097EE6DD}"/>
              </a:ext>
            </a:extLst>
          </p:cNvPr>
          <p:cNvSpPr/>
          <p:nvPr/>
        </p:nvSpPr>
        <p:spPr>
          <a:xfrm>
            <a:off x="2337618" y="6079127"/>
            <a:ext cx="1251327" cy="1444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立てた</a:t>
            </a:r>
            <a:br>
              <a:rPr lang="en-US" sz="2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6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37">
            <a:extLst>
              <a:ext uri="{FF2B5EF4-FFF2-40B4-BE49-F238E27FC236}">
                <a16:creationId xmlns:a16="http://schemas.microsoft.com/office/drawing/2014/main" id="{EA54D467-0220-E081-8AC1-1C0AF6B77263}"/>
              </a:ext>
            </a:extLst>
          </p:cNvPr>
          <p:cNvSpPr/>
          <p:nvPr/>
        </p:nvSpPr>
        <p:spPr>
          <a:xfrm>
            <a:off x="3072405" y="9192291"/>
            <a:ext cx="14139750" cy="471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「管理項目」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「運用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」の違い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4400" b="1" u="sng">
                <a:solidFill>
                  <a:srgbClr val="E5A330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機能の選択肢</a:t>
            </a:r>
            <a:r>
              <a:rPr lang="en-US" sz="4400" b="1" u="sng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で吸収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</a:t>
            </a:r>
            <a:endParaRPr lang="en-US" sz="4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Text 33">
            <a:extLst>
              <a:ext uri="{FF2B5EF4-FFF2-40B4-BE49-F238E27FC236}">
                <a16:creationId xmlns:a16="http://schemas.microsoft.com/office/drawing/2014/main" id="{6A0BFC35-C8FD-3745-870F-D45B27379EE7}"/>
              </a:ext>
            </a:extLst>
          </p:cNvPr>
          <p:cNvSpPr/>
          <p:nvPr/>
        </p:nvSpPr>
        <p:spPr>
          <a:xfrm>
            <a:off x="179613" y="5323301"/>
            <a:ext cx="1737569" cy="41309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より現場で</a:t>
            </a:r>
            <a:br>
              <a:rPr lang="en-US" altLang="ja-JP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使いやすくなる</a:t>
            </a:r>
            <a:r>
              <a:rPr lang="en-US" altLang="ja-JP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/</a:t>
            </a:r>
            <a:br>
              <a:rPr lang="en-US" altLang="ja-JP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効果がでる</a:t>
            </a:r>
            <a:br>
              <a:rPr lang="en-US" altLang="ja-JP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ルール整備や</a:t>
            </a:r>
            <a:endParaRPr lang="en-US" altLang="ja-JP" sz="2000" b="1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機能追加などの</a:t>
            </a:r>
            <a:endParaRPr lang="en-US" altLang="ja-JP" sz="2000" b="1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提案</a:t>
            </a:r>
            <a:endParaRPr lang="en-US" sz="3200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324093"/>
              </p:ext>
            </p:extLst>
          </p:nvPr>
        </p:nvGraphicFramePr>
        <p:xfrm>
          <a:off x="1028700" y="2131378"/>
          <a:ext cx="16344900" cy="7526971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3984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4785029">
                  <a:extLst>
                    <a:ext uri="{9D8B030D-6E8A-4147-A177-3AD203B41FA5}">
                      <a16:colId xmlns:a16="http://schemas.microsoft.com/office/drawing/2014/main" val="2042908271"/>
                    </a:ext>
                  </a:extLst>
                </a:gridCol>
                <a:gridCol w="5914831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87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ロール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主な役割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できること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制限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申請者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案件を申請し、</a:t>
                      </a:r>
                      <a:br>
                        <a:rPr lang="en-US" altLang="ja-JP" sz="2800"/>
                      </a:br>
                      <a:r>
                        <a:rPr lang="ja-JP" altLang="en-US" sz="2800"/>
                        <a:t>進捗・予算を入力する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新規申請、下書き編集、取り戻し、再申請、自案件のタスク作成・予算実績入力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承認・却下は不可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部門管理者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自部門の案件を一次承認し、進捗を管理する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自部門の部門承認・却下、自部門タスクの作成・編集、予算実績入力、自分の案件申請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本部承認・他部門閲覧は不可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263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本部管理者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全社案件を最終承認し、</a:t>
                      </a:r>
                      <a:br>
                        <a:rPr lang="en-US" altLang="ja-JP" sz="2800"/>
                      </a:br>
                      <a:r>
                        <a:rPr lang="ja-JP" altLang="en-US" sz="2800"/>
                        <a:t>全体を俯瞰する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本部承認・却下、全部門・全案件の閲覧、進捗・予算状況の確認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案件申請、部門承認、タスク編集、予算入力は不可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601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実装内容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739560"/>
              </p:ext>
            </p:extLst>
          </p:nvPr>
        </p:nvGraphicFramePr>
        <p:xfrm>
          <a:off x="1028700" y="2131378"/>
          <a:ext cx="15773400" cy="6677339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36042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0408920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2004060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必須要件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実装した内容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状況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案件の申請・承認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下書き → 部門承認待ち → 本部承認待ち → 承認済の承認フローを実装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却下・再申請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却下案件は元案件を履歴として残し、新しい案件として再申請可能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/>
                        <a:t>開発進捗管理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承認済案件にタスクを作成し、未着手・進行中・確認待ち・完了で管理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進捗の見える化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カンバン・メンバー別・一覧の</a:t>
                      </a:r>
                      <a:r>
                        <a:rPr lang="en-US" altLang="ja-JP" sz="2800"/>
                        <a:t>3</a:t>
                      </a:r>
                      <a:r>
                        <a:rPr lang="ja-JP" altLang="en-US" sz="2800"/>
                        <a:t>ビューでタスク状況を確認可能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予算管理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予算額・実績額・消費率を案件単位で管理し、消費率を色分け表示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ロール別制御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申請者・部門管理者・本部管理者で、操作範囲と閲覧範囲を分離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355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8619-BC65-31E2-A30D-D35C3F17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45AD170B-12A0-B312-8186-CD6606969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805930"/>
              </p:ext>
            </p:extLst>
          </p:nvPr>
        </p:nvGraphicFramePr>
        <p:xfrm>
          <a:off x="1028700" y="2131378"/>
          <a:ext cx="16344900" cy="763851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988988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2355912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</a:tblGrid>
              <a:tr h="463777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層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採用技術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バックエンド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 8.2 + Laravel 11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認証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Laravel Breeze (Inertia + React)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権限管理 </a:t>
                      </a:r>
                      <a:endParaRPr lang="zh-TW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spatie/laravel-permission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ユーザー複数ロール）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フロントエンド</a:t>
                      </a:r>
                      <a:endParaRPr lang="zh-TW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React 18 + TypeScript + Inertia.js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139311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スタイル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Tailwind CSS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UI 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コンポーネント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shadcn/ui + lucide-react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グラフ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Recharts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622812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データベース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MySQL 8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XAMPP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）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47827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デプロイ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Laravel Cloud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D66FA3F3-7DB1-1124-7B78-4754BF848570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6137A5-4FEA-576A-B30C-03B1CBB539F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A633C7-674D-45B4-B573-8B6EDFE8B355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技術スタック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642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26">
            <a:extLst>
              <a:ext uri="{FF2B5EF4-FFF2-40B4-BE49-F238E27FC236}">
                <a16:creationId xmlns:a16="http://schemas.microsoft.com/office/drawing/2014/main" id="{73641F41-2CE0-6DA8-EBA5-E52E993003DE}"/>
              </a:ext>
            </a:extLst>
          </p:cNvPr>
          <p:cNvSpPr/>
          <p:nvPr/>
        </p:nvSpPr>
        <p:spPr>
          <a:xfrm>
            <a:off x="14966202" y="2965262"/>
            <a:ext cx="3096000" cy="586189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30">
            <a:extLst>
              <a:ext uri="{FF2B5EF4-FFF2-40B4-BE49-F238E27FC236}">
                <a16:creationId xmlns:a16="http://schemas.microsoft.com/office/drawing/2014/main" id="{3F916F8E-D33B-7F14-1DC8-19FDD2B96FB6}"/>
              </a:ext>
            </a:extLst>
          </p:cNvPr>
          <p:cNvSpPr/>
          <p:nvPr/>
        </p:nvSpPr>
        <p:spPr>
          <a:xfrm>
            <a:off x="15094035" y="6231391"/>
            <a:ext cx="2769422" cy="1406259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10">
            <a:extLst>
              <a:ext uri="{FF2B5EF4-FFF2-40B4-BE49-F238E27FC236}">
                <a16:creationId xmlns:a16="http://schemas.microsoft.com/office/drawing/2014/main" id="{DC6645BE-66E8-6540-FE5C-8E797A7FEE41}"/>
              </a:ext>
            </a:extLst>
          </p:cNvPr>
          <p:cNvSpPr/>
          <p:nvPr/>
        </p:nvSpPr>
        <p:spPr>
          <a:xfrm>
            <a:off x="6054452" y="8935606"/>
            <a:ext cx="10854849" cy="1259009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326B62D1-B245-8353-59B1-8E8E4C01BAF4}"/>
              </a:ext>
            </a:extLst>
          </p:cNvPr>
          <p:cNvGrpSpPr/>
          <p:nvPr/>
        </p:nvGrpSpPr>
        <p:grpSpPr>
          <a:xfrm>
            <a:off x="10784869" y="9122155"/>
            <a:ext cx="5646746" cy="971550"/>
            <a:chOff x="10675294" y="8964960"/>
            <a:chExt cx="5646746" cy="971550"/>
          </a:xfrm>
        </p:grpSpPr>
        <p:sp>
          <p:nvSpPr>
            <p:cNvPr id="37" name="Shape 34"/>
            <p:cNvSpPr/>
            <p:nvPr/>
          </p:nvSpPr>
          <p:spPr>
            <a:xfrm>
              <a:off x="10675294" y="8964960"/>
              <a:ext cx="5646746" cy="9715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Text 35"/>
            <p:cNvSpPr/>
            <p:nvPr/>
          </p:nvSpPr>
          <p:spPr>
            <a:xfrm>
              <a:off x="10875318" y="9107835"/>
              <a:ext cx="1736973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コーポレートカラー × 機能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Shape 36"/>
            <p:cNvSpPr/>
            <p:nvPr/>
          </p:nvSpPr>
          <p:spPr>
            <a:xfrm>
              <a:off x="10875318" y="9393585"/>
              <a:ext cx="2099370" cy="114300"/>
            </a:xfrm>
            <a:prstGeom prst="rect">
              <a:avLst/>
            </a:prstGeom>
            <a:solidFill>
              <a:srgbClr val="E60013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Shape 37"/>
            <p:cNvSpPr/>
            <p:nvPr/>
          </p:nvSpPr>
          <p:spPr>
            <a:xfrm>
              <a:off x="11843566" y="9393585"/>
              <a:ext cx="2099370" cy="114300"/>
            </a:xfrm>
            <a:prstGeom prst="rect">
              <a:avLst/>
            </a:prstGeom>
            <a:solidFill>
              <a:srgbClr val="14A0B4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1" name="Shape 38"/>
            <p:cNvSpPr/>
            <p:nvPr/>
          </p:nvSpPr>
          <p:spPr>
            <a:xfrm>
              <a:off x="12811814" y="9393585"/>
              <a:ext cx="2099370" cy="114300"/>
            </a:xfrm>
            <a:prstGeom prst="rect">
              <a:avLst/>
            </a:prstGeom>
            <a:solidFill>
              <a:srgbClr val="0064A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Text 39"/>
            <p:cNvSpPr/>
            <p:nvPr/>
          </p:nvSpPr>
          <p:spPr>
            <a:xfrm>
              <a:off x="10875318" y="9612660"/>
              <a:ext cx="170304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アイコン + 色 + テキストの</a:t>
              </a:r>
              <a:endParaRPr lang="en-US" sz="11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12539216" y="9584085"/>
              <a:ext cx="718691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3 点セット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Text 41"/>
            <p:cNvSpPr/>
            <p:nvPr/>
          </p:nvSpPr>
          <p:spPr>
            <a:xfrm>
              <a:off x="13218616" y="9612660"/>
              <a:ext cx="194324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で識別し、色覚特性にも配慮。</a:t>
              </a:r>
              <a:endParaRPr 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Shape 38">
              <a:extLst>
                <a:ext uri="{FF2B5EF4-FFF2-40B4-BE49-F238E27FC236}">
                  <a16:creationId xmlns:a16="http://schemas.microsoft.com/office/drawing/2014/main" id="{6AC18A27-0D85-75B9-2348-44C386575B96}"/>
                </a:ext>
              </a:extLst>
            </p:cNvPr>
            <p:cNvSpPr/>
            <p:nvPr/>
          </p:nvSpPr>
          <p:spPr>
            <a:xfrm>
              <a:off x="13780062" y="9393585"/>
              <a:ext cx="2099370" cy="114300"/>
            </a:xfrm>
            <a:prstGeom prst="rect">
              <a:avLst/>
            </a:prstGeom>
            <a:solidFill>
              <a:srgbClr val="002E6E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Shape 38">
              <a:extLst>
                <a:ext uri="{FF2B5EF4-FFF2-40B4-BE49-F238E27FC236}">
                  <a16:creationId xmlns:a16="http://schemas.microsoft.com/office/drawing/2014/main" id="{34B71D4A-8211-8881-9DF8-FF09DDD742EC}"/>
                </a:ext>
              </a:extLst>
            </p:cNvPr>
            <p:cNvSpPr/>
            <p:nvPr/>
          </p:nvSpPr>
          <p:spPr>
            <a:xfrm>
              <a:off x="14748310" y="9393585"/>
              <a:ext cx="1224000" cy="114300"/>
            </a:xfrm>
            <a:prstGeom prst="rect">
              <a:avLst/>
            </a:prstGeom>
            <a:solidFill>
              <a:srgbClr val="E5A33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77" name="Shape 18">
            <a:extLst>
              <a:ext uri="{FF2B5EF4-FFF2-40B4-BE49-F238E27FC236}">
                <a16:creationId xmlns:a16="http://schemas.microsoft.com/office/drawing/2014/main" id="{203498B1-D27E-FBBD-97E5-D910A517A521}"/>
              </a:ext>
            </a:extLst>
          </p:cNvPr>
          <p:cNvSpPr/>
          <p:nvPr/>
        </p:nvSpPr>
        <p:spPr>
          <a:xfrm>
            <a:off x="11588830" y="2896230"/>
            <a:ext cx="3096000" cy="595234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Shape 30">
            <a:extLst>
              <a:ext uri="{FF2B5EF4-FFF2-40B4-BE49-F238E27FC236}">
                <a16:creationId xmlns:a16="http://schemas.microsoft.com/office/drawing/2014/main" id="{B961B874-BD3D-43FB-7A2E-E6B3A7B8A8DB}"/>
              </a:ext>
            </a:extLst>
          </p:cNvPr>
          <p:cNvSpPr/>
          <p:nvPr/>
        </p:nvSpPr>
        <p:spPr>
          <a:xfrm>
            <a:off x="11633098" y="5647020"/>
            <a:ext cx="2933084" cy="313272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DAD121C1-A13F-74B5-FA79-D8D8CBF9868C}"/>
              </a:ext>
            </a:extLst>
          </p:cNvPr>
          <p:cNvSpPr/>
          <p:nvPr/>
        </p:nvSpPr>
        <p:spPr>
          <a:xfrm>
            <a:off x="6055336" y="5892242"/>
            <a:ext cx="5304597" cy="293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Shape 30">
            <a:extLst>
              <a:ext uri="{FF2B5EF4-FFF2-40B4-BE49-F238E27FC236}">
                <a16:creationId xmlns:a16="http://schemas.microsoft.com/office/drawing/2014/main" id="{0CF56EF4-8F16-314C-A6FD-71DA9C70F343}"/>
              </a:ext>
            </a:extLst>
          </p:cNvPr>
          <p:cNvSpPr/>
          <p:nvPr/>
        </p:nvSpPr>
        <p:spPr>
          <a:xfrm>
            <a:off x="6294279" y="7637650"/>
            <a:ext cx="3463328" cy="110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41AB2CC1-85F6-4D52-3A06-BA6A8B4B7E0D}"/>
              </a:ext>
            </a:extLst>
          </p:cNvPr>
          <p:cNvSpPr/>
          <p:nvPr/>
        </p:nvSpPr>
        <p:spPr>
          <a:xfrm>
            <a:off x="6026308" y="2890636"/>
            <a:ext cx="5304597" cy="2863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31051FB1-BB34-726A-09E6-941E0E685450}"/>
              </a:ext>
            </a:extLst>
          </p:cNvPr>
          <p:cNvSpPr/>
          <p:nvPr/>
        </p:nvSpPr>
        <p:spPr>
          <a:xfrm>
            <a:off x="6116420" y="4648755"/>
            <a:ext cx="5081963" cy="99826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1" y="2890635"/>
            <a:ext cx="4846638" cy="69409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C1EC39D2-A755-4DC9-1E2E-82C811FA7D44}"/>
              </a:ext>
            </a:extLst>
          </p:cNvPr>
          <p:cNvSpPr/>
          <p:nvPr/>
        </p:nvSpPr>
        <p:spPr>
          <a:xfrm>
            <a:off x="1127356" y="8616518"/>
            <a:ext cx="3680566" cy="8217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3592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CRAFT · 07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71441" y="2330132"/>
            <a:ext cx="2489512" cy="25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3545102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同じ画面で視点を切替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迷わない操作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3475" y="3090661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 / APPROVAL STEPPER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79003" y="5352914"/>
            <a:ext cx="4565958" cy="273952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77232" y="5162413"/>
            <a:ext cx="3996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762653" y="9008752"/>
            <a:ext cx="6565538" cy="460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 </a:t>
            </a:r>
            <a:r>
              <a:rPr lang="en-US" sz="16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 → blue → indigo </a:t>
            </a:r>
            <a:br>
              <a:rPr lang="en-US" sz="16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グラデーションを進行表現に転用</a:t>
            </a:r>
            <a: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色覚特性に配慮してアイコン+テキストも併用</a:t>
            </a:r>
            <a: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B3919FC-E5C0-D7E3-A176-91CDBFF6ED2B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>
            <a:noFill/>
          </a:ln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2EFA5C7-BD2C-CEBF-999B-D26D3A23224E}"/>
              </a:ext>
            </a:extLst>
          </p:cNvPr>
          <p:cNvSpPr/>
          <p:nvPr/>
        </p:nvSpPr>
        <p:spPr>
          <a:xfrm rot="20207916">
            <a:off x="5927459" y="8767247"/>
            <a:ext cx="1093387" cy="556941"/>
          </a:xfrm>
          <a:prstGeom prst="rightArrow">
            <a:avLst>
              <a:gd name="adj1" fmla="val 69505"/>
              <a:gd name="adj2" fmla="val 59069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621AAFDD-6B96-4B1C-EDEB-4C115EB9B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64" b="7919"/>
          <a:stretch>
            <a:fillRect/>
          </a:stretch>
        </p:blipFill>
        <p:spPr>
          <a:xfrm>
            <a:off x="1209763" y="5427781"/>
            <a:ext cx="4258118" cy="2492919"/>
          </a:xfrm>
          <a:prstGeom prst="rect">
            <a:avLst/>
          </a:prstGeom>
        </p:spPr>
      </p:pic>
      <p:sp>
        <p:nvSpPr>
          <p:cNvPr id="52" name="Text 8">
            <a:extLst>
              <a:ext uri="{FF2B5EF4-FFF2-40B4-BE49-F238E27FC236}">
                <a16:creationId xmlns:a16="http://schemas.microsoft.com/office/drawing/2014/main" id="{C163DD23-0995-0CD6-65CF-B6F29A366599}"/>
              </a:ext>
            </a:extLst>
          </p:cNvPr>
          <p:cNvSpPr/>
          <p:nvPr/>
        </p:nvSpPr>
        <p:spPr>
          <a:xfrm>
            <a:off x="1177232" y="3286756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38475FC5-9881-F480-EF14-DC6356459E6B}"/>
              </a:ext>
            </a:extLst>
          </p:cNvPr>
          <p:cNvSpPr/>
          <p:nvPr/>
        </p:nvSpPr>
        <p:spPr>
          <a:xfrm>
            <a:off x="1177232" y="3605842"/>
            <a:ext cx="5419511" cy="128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申請→部門承認→本部承認→承認済の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ノードで「いまどの段階か」を一目で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大型版・ミニ版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の２種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展開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853C2779-06CD-898B-03BE-DCD9B67A5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163" y="8747310"/>
            <a:ext cx="2491346" cy="690914"/>
          </a:xfrm>
          <a:prstGeom prst="rect">
            <a:avLst/>
          </a:prstGeom>
        </p:spPr>
      </p:pic>
      <p:sp>
        <p:nvSpPr>
          <p:cNvPr id="61" name="Text 11">
            <a:extLst>
              <a:ext uri="{FF2B5EF4-FFF2-40B4-BE49-F238E27FC236}">
                <a16:creationId xmlns:a16="http://schemas.microsoft.com/office/drawing/2014/main" id="{4B677FFE-71BF-AB47-2824-D5934849F1E8}"/>
              </a:ext>
            </a:extLst>
          </p:cNvPr>
          <p:cNvSpPr/>
          <p:nvPr/>
        </p:nvSpPr>
        <p:spPr>
          <a:xfrm>
            <a:off x="6245383" y="3090661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 / DETAIL TABS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A4DD4A5B-76A2-BB6E-D9A5-BA09B1974238}"/>
              </a:ext>
            </a:extLst>
          </p:cNvPr>
          <p:cNvSpPr/>
          <p:nvPr/>
        </p:nvSpPr>
        <p:spPr>
          <a:xfrm>
            <a:off x="6245383" y="3300211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案件詳細タブ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22254CB-D473-2B57-640C-8B4AD1E9487A}"/>
              </a:ext>
            </a:extLst>
          </p:cNvPr>
          <p:cNvSpPr/>
          <p:nvPr/>
        </p:nvSpPr>
        <p:spPr>
          <a:xfrm>
            <a:off x="6245382" y="3619297"/>
            <a:ext cx="5214486" cy="56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 / 開発 / 予算 / 履歴を 1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画面でタブ切替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導線を短く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9" name="図 68">
            <a:extLst>
              <a:ext uri="{FF2B5EF4-FFF2-40B4-BE49-F238E27FC236}">
                <a16:creationId xmlns:a16="http://schemas.microsoft.com/office/drawing/2014/main" id="{3CC79EB2-2915-BA83-6FEC-9500303D2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83" y="4756977"/>
            <a:ext cx="4953000" cy="762000"/>
          </a:xfrm>
          <a:prstGeom prst="rect">
            <a:avLst/>
          </a:prstGeom>
        </p:spPr>
      </p:pic>
      <p:sp>
        <p:nvSpPr>
          <p:cNvPr id="71" name="Text 15">
            <a:extLst>
              <a:ext uri="{FF2B5EF4-FFF2-40B4-BE49-F238E27FC236}">
                <a16:creationId xmlns:a16="http://schemas.microsoft.com/office/drawing/2014/main" id="{3817F203-21BA-FF54-F114-6217DE50C858}"/>
              </a:ext>
            </a:extLst>
          </p:cNvPr>
          <p:cNvSpPr/>
          <p:nvPr/>
        </p:nvSpPr>
        <p:spPr>
          <a:xfrm>
            <a:off x="6253782" y="6074173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 / BUDGET BAR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C1CD4D91-630D-54A8-AD4E-B182307D2689}"/>
              </a:ext>
            </a:extLst>
          </p:cNvPr>
          <p:cNvSpPr/>
          <p:nvPr/>
        </p:nvSpPr>
        <p:spPr>
          <a:xfrm>
            <a:off x="6253782" y="6283723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予算消化バー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FE1EB722-331B-C157-B259-02DA62B0F970}"/>
              </a:ext>
            </a:extLst>
          </p:cNvPr>
          <p:cNvSpPr/>
          <p:nvPr/>
        </p:nvSpPr>
        <p:spPr>
          <a:xfrm>
            <a:off x="6253782" y="6602810"/>
            <a:ext cx="5106151" cy="499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 70% / 100%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超で警告色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リアルタイム算出。DB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には率を持たず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その場で計算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607EFD3F-2CB1-CF41-477B-E3D0C5E6C3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5408"/>
          <a:stretch>
            <a:fillRect/>
          </a:stretch>
        </p:blipFill>
        <p:spPr>
          <a:xfrm>
            <a:off x="6404397" y="7765659"/>
            <a:ext cx="2961323" cy="932116"/>
          </a:xfrm>
          <a:prstGeom prst="rect">
            <a:avLst/>
          </a:prstGeom>
        </p:spPr>
      </p:pic>
      <p:sp>
        <p:nvSpPr>
          <p:cNvPr id="78" name="Text 19">
            <a:extLst>
              <a:ext uri="{FF2B5EF4-FFF2-40B4-BE49-F238E27FC236}">
                <a16:creationId xmlns:a16="http://schemas.microsoft.com/office/drawing/2014/main" id="{E4685841-AA4F-D0B7-F0C8-1652B87659A1}"/>
              </a:ext>
            </a:extLst>
          </p:cNvPr>
          <p:cNvSpPr/>
          <p:nvPr/>
        </p:nvSpPr>
        <p:spPr>
          <a:xfrm>
            <a:off x="11807906" y="3096256"/>
            <a:ext cx="2736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04 / SIDEBAR · NAV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59C7F73C-2324-224B-A79C-754D7FB2B7D0}"/>
              </a:ext>
            </a:extLst>
          </p:cNvPr>
          <p:cNvSpPr/>
          <p:nvPr/>
        </p:nvSpPr>
        <p:spPr>
          <a:xfrm>
            <a:off x="11807906" y="3305806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サイドバー導線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FAD4AEC2-D2CD-C1A0-6EFF-DAF61738EF3E}"/>
              </a:ext>
            </a:extLst>
          </p:cNvPr>
          <p:cNvSpPr/>
          <p:nvPr/>
        </p:nvSpPr>
        <p:spPr>
          <a:xfrm>
            <a:off x="11807905" y="3624893"/>
            <a:ext cx="2651597" cy="77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申請・承認 / 開発管理 / 予算管理を 3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セクションで分離し導線を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直観化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4" name="図 83">
            <a:extLst>
              <a:ext uri="{FF2B5EF4-FFF2-40B4-BE49-F238E27FC236}">
                <a16:creationId xmlns:a16="http://schemas.microsoft.com/office/drawing/2014/main" id="{283E496A-951F-2B0E-9206-1A74FD3C9D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7905" y="5676286"/>
            <a:ext cx="1613124" cy="2940232"/>
          </a:xfrm>
          <a:prstGeom prst="rect">
            <a:avLst/>
          </a:prstGeom>
        </p:spPr>
      </p:pic>
      <p:sp>
        <p:nvSpPr>
          <p:cNvPr id="87" name="Shape 8">
            <a:extLst>
              <a:ext uri="{FF2B5EF4-FFF2-40B4-BE49-F238E27FC236}">
                <a16:creationId xmlns:a16="http://schemas.microsoft.com/office/drawing/2014/main" id="{FE2E3E13-E656-D7D5-D5B9-E6E230C68ABC}"/>
              </a:ext>
            </a:extLst>
          </p:cNvPr>
          <p:cNvSpPr/>
          <p:nvPr/>
        </p:nvSpPr>
        <p:spPr>
          <a:xfrm>
            <a:off x="11711531" y="5716055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14A0B4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0" name="Shape 8">
            <a:extLst>
              <a:ext uri="{FF2B5EF4-FFF2-40B4-BE49-F238E27FC236}">
                <a16:creationId xmlns:a16="http://schemas.microsoft.com/office/drawing/2014/main" id="{FF5DE912-A6E4-8164-64C1-1A34CC0553E0}"/>
              </a:ext>
            </a:extLst>
          </p:cNvPr>
          <p:cNvSpPr/>
          <p:nvPr/>
        </p:nvSpPr>
        <p:spPr>
          <a:xfrm>
            <a:off x="13530566" y="5816917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14A0B4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>
                <a:solidFill>
                  <a:schemeClr val="bg1"/>
                </a:solidFill>
              </a:rPr>
              <a:t>申請</a:t>
            </a:r>
          </a:p>
        </p:txBody>
      </p:sp>
      <p:sp>
        <p:nvSpPr>
          <p:cNvPr id="93" name="Shape 8">
            <a:extLst>
              <a:ext uri="{FF2B5EF4-FFF2-40B4-BE49-F238E27FC236}">
                <a16:creationId xmlns:a16="http://schemas.microsoft.com/office/drawing/2014/main" id="{3310894E-A10D-D69B-6375-5D4AE78BCF09}"/>
              </a:ext>
            </a:extLst>
          </p:cNvPr>
          <p:cNvSpPr/>
          <p:nvPr/>
        </p:nvSpPr>
        <p:spPr>
          <a:xfrm>
            <a:off x="11711531" y="6781590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64A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8">
            <a:extLst>
              <a:ext uri="{FF2B5EF4-FFF2-40B4-BE49-F238E27FC236}">
                <a16:creationId xmlns:a16="http://schemas.microsoft.com/office/drawing/2014/main" id="{3625ED86-912D-6A47-435A-4643CD27C00F}"/>
              </a:ext>
            </a:extLst>
          </p:cNvPr>
          <p:cNvSpPr/>
          <p:nvPr/>
        </p:nvSpPr>
        <p:spPr>
          <a:xfrm>
            <a:off x="13530566" y="6882452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64A0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>
                <a:solidFill>
                  <a:schemeClr val="bg1"/>
                </a:solidFill>
              </a:rPr>
              <a:t>開発</a:t>
            </a:r>
          </a:p>
        </p:txBody>
      </p:sp>
      <p:sp>
        <p:nvSpPr>
          <p:cNvPr id="95" name="Shape 8">
            <a:extLst>
              <a:ext uri="{FF2B5EF4-FFF2-40B4-BE49-F238E27FC236}">
                <a16:creationId xmlns:a16="http://schemas.microsoft.com/office/drawing/2014/main" id="{AB1BB7F0-F736-9D3B-E4EA-F7D618B80DF7}"/>
              </a:ext>
            </a:extLst>
          </p:cNvPr>
          <p:cNvSpPr/>
          <p:nvPr/>
        </p:nvSpPr>
        <p:spPr>
          <a:xfrm>
            <a:off x="11711531" y="7819838"/>
            <a:ext cx="1709498" cy="877936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2E6E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883A048C-DB94-6BDD-6A14-A1F5BBD15913}"/>
              </a:ext>
            </a:extLst>
          </p:cNvPr>
          <p:cNvSpPr/>
          <p:nvPr/>
        </p:nvSpPr>
        <p:spPr>
          <a:xfrm>
            <a:off x="13530566" y="7920700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2E6E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>
                <a:solidFill>
                  <a:schemeClr val="bg1"/>
                </a:solidFill>
              </a:rPr>
              <a:t>予算</a:t>
            </a:r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444A7299-7956-99F2-9619-A649A2224698}"/>
              </a:ext>
            </a:extLst>
          </p:cNvPr>
          <p:cNvSpPr/>
          <p:nvPr/>
        </p:nvSpPr>
        <p:spPr>
          <a:xfrm>
            <a:off x="11737990" y="5488117"/>
            <a:ext cx="18000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0" name="Text 27">
            <a:extLst>
              <a:ext uri="{FF2B5EF4-FFF2-40B4-BE49-F238E27FC236}">
                <a16:creationId xmlns:a16="http://schemas.microsoft.com/office/drawing/2014/main" id="{CB79C38F-1848-1369-0899-DF90511B3D26}"/>
              </a:ext>
            </a:extLst>
          </p:cNvPr>
          <p:cNvSpPr/>
          <p:nvPr/>
        </p:nvSpPr>
        <p:spPr>
          <a:xfrm>
            <a:off x="15250575" y="3148959"/>
            <a:ext cx="2664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</a:t>
            </a:r>
            <a:r>
              <a:rPr lang="en-US" altLang="ja-JP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5</a:t>
            </a: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 / TOOLTIPS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EC29459C-F883-FED8-B4E2-665A6954C9E0}"/>
              </a:ext>
            </a:extLst>
          </p:cNvPr>
          <p:cNvSpPr/>
          <p:nvPr/>
        </p:nvSpPr>
        <p:spPr>
          <a:xfrm>
            <a:off x="15250575" y="3358509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文脈ツールチップ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5FDF515B-7F35-3F4B-5727-BA09D914B26F}"/>
              </a:ext>
            </a:extLst>
          </p:cNvPr>
          <p:cNvSpPr/>
          <p:nvPr/>
        </p:nvSpPr>
        <p:spPr>
          <a:xfrm>
            <a:off x="15185278" y="3693926"/>
            <a:ext cx="2678179" cy="47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ロール・状態によって操作の意味が変わる箇所に、要約だけ表示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説明文を画面に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詰め込まない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3" name="図 102">
            <a:extLst>
              <a:ext uri="{FF2B5EF4-FFF2-40B4-BE49-F238E27FC236}">
                <a16:creationId xmlns:a16="http://schemas.microsoft.com/office/drawing/2014/main" id="{535E95DD-12B0-BA4D-DF31-7B1ADFF777D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393" t="2098" r="31985" b="44475"/>
          <a:stretch>
            <a:fillRect/>
          </a:stretch>
        </p:blipFill>
        <p:spPr>
          <a:xfrm>
            <a:off x="15362550" y="6329647"/>
            <a:ext cx="2500907" cy="1184787"/>
          </a:xfrm>
          <a:prstGeom prst="rect">
            <a:avLst/>
          </a:prstGeom>
        </p:spPr>
      </p:pic>
      <p:sp>
        <p:nvSpPr>
          <p:cNvPr id="104" name="楕円 103">
            <a:extLst>
              <a:ext uri="{FF2B5EF4-FFF2-40B4-BE49-F238E27FC236}">
                <a16:creationId xmlns:a16="http://schemas.microsoft.com/office/drawing/2014/main" id="{9A44B114-6BCD-AAB0-9213-CF0D5B8F960A}"/>
              </a:ext>
            </a:extLst>
          </p:cNvPr>
          <p:cNvSpPr/>
          <p:nvPr/>
        </p:nvSpPr>
        <p:spPr>
          <a:xfrm>
            <a:off x="15929485" y="6445481"/>
            <a:ext cx="457200" cy="407050"/>
          </a:xfrm>
          <a:prstGeom prst="ellipse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rgbClr val="14A0B4"/>
              </a:solidFill>
            </a:endParaRPr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133B8617-F1F3-D120-20E0-1019E9267E6C}"/>
              </a:ext>
            </a:extLst>
          </p:cNvPr>
          <p:cNvSpPr/>
          <p:nvPr/>
        </p:nvSpPr>
        <p:spPr>
          <a:xfrm>
            <a:off x="16081885" y="6895893"/>
            <a:ext cx="1781572" cy="643778"/>
          </a:xfrm>
          <a:prstGeom prst="roundRect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106" name="矢印: 左カーブ 105">
            <a:extLst>
              <a:ext uri="{FF2B5EF4-FFF2-40B4-BE49-F238E27FC236}">
                <a16:creationId xmlns:a16="http://schemas.microsoft.com/office/drawing/2014/main" id="{154C75E6-2DD6-B097-3A87-CF0F2EE10F24}"/>
              </a:ext>
            </a:extLst>
          </p:cNvPr>
          <p:cNvSpPr/>
          <p:nvPr/>
        </p:nvSpPr>
        <p:spPr>
          <a:xfrm rot="19341267">
            <a:off x="16483018" y="6322286"/>
            <a:ext cx="278445" cy="645148"/>
          </a:xfrm>
          <a:prstGeom prst="curvedLeftArrow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4A0B4"/>
              </a:solidFill>
            </a:endParaRPr>
          </a:p>
        </p:txBody>
      </p:sp>
      <p:sp>
        <p:nvSpPr>
          <p:cNvPr id="107" name="Text 2">
            <a:extLst>
              <a:ext uri="{FF2B5EF4-FFF2-40B4-BE49-F238E27FC236}">
                <a16:creationId xmlns:a16="http://schemas.microsoft.com/office/drawing/2014/main" id="{5B6D5BE4-7A15-407B-B3FE-BE52CDB657ED}"/>
              </a:ext>
            </a:extLst>
          </p:cNvPr>
          <p:cNvSpPr/>
          <p:nvPr/>
        </p:nvSpPr>
        <p:spPr>
          <a:xfrm>
            <a:off x="4140862" y="455425"/>
            <a:ext cx="5253957" cy="25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ja-JP" alt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3E9471CD-FBEA-9CA2-EDFF-22B22D134F71}"/>
              </a:ext>
            </a:extLst>
          </p:cNvPr>
          <p:cNvSpPr/>
          <p:nvPr/>
        </p:nvSpPr>
        <p:spPr>
          <a:xfrm>
            <a:off x="3248196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DBEE6452-599B-ABFD-BBF2-B5EA073AF61F}"/>
              </a:ext>
            </a:extLst>
          </p:cNvPr>
          <p:cNvSpPr/>
          <p:nvPr/>
        </p:nvSpPr>
        <p:spPr>
          <a:xfrm>
            <a:off x="8128277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8E335B5C-83A2-8A8F-288C-A2ED65422087}"/>
              </a:ext>
            </a:extLst>
          </p:cNvPr>
          <p:cNvSpPr/>
          <p:nvPr/>
        </p:nvSpPr>
        <p:spPr>
          <a:xfrm>
            <a:off x="13689034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978CAC8F-DEB6-AA67-7A9E-267FAA091886}"/>
              </a:ext>
            </a:extLst>
          </p:cNvPr>
          <p:cNvSpPr/>
          <p:nvPr/>
        </p:nvSpPr>
        <p:spPr>
          <a:xfrm>
            <a:off x="17344715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FF927762-C2A4-5B9D-3631-C6E26249DD92}"/>
              </a:ext>
            </a:extLst>
          </p:cNvPr>
          <p:cNvSpPr/>
          <p:nvPr/>
        </p:nvSpPr>
        <p:spPr>
          <a:xfrm>
            <a:off x="8128277" y="6051588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0" name="Text 31">
            <a:extLst>
              <a:ext uri="{FF2B5EF4-FFF2-40B4-BE49-F238E27FC236}">
                <a16:creationId xmlns:a16="http://schemas.microsoft.com/office/drawing/2014/main" id="{AC362312-49C2-ADBA-7B04-3B4331F3D369}"/>
              </a:ext>
            </a:extLst>
          </p:cNvPr>
          <p:cNvSpPr/>
          <p:nvPr/>
        </p:nvSpPr>
        <p:spPr>
          <a:xfrm>
            <a:off x="1177232" y="8417611"/>
            <a:ext cx="3156175" cy="1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31">
            <a:extLst>
              <a:ext uri="{FF2B5EF4-FFF2-40B4-BE49-F238E27FC236}">
                <a16:creationId xmlns:a16="http://schemas.microsoft.com/office/drawing/2014/main" id="{9A88D39B-5E50-B222-C4C0-3D65225FFA02}"/>
              </a:ext>
            </a:extLst>
          </p:cNvPr>
          <p:cNvSpPr/>
          <p:nvPr/>
        </p:nvSpPr>
        <p:spPr>
          <a:xfrm>
            <a:off x="15094035" y="6080065"/>
            <a:ext cx="259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9F9E9667-632E-8128-9488-2ED4D2521A8F}"/>
              </a:ext>
            </a:extLst>
          </p:cNvPr>
          <p:cNvSpPr/>
          <p:nvPr/>
        </p:nvSpPr>
        <p:spPr>
          <a:xfrm>
            <a:off x="6254957" y="4551270"/>
            <a:ext cx="259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1B987BA4-C8FA-3ACA-D5BF-A19EA4651743}"/>
              </a:ext>
            </a:extLst>
          </p:cNvPr>
          <p:cNvSpPr/>
          <p:nvPr/>
        </p:nvSpPr>
        <p:spPr>
          <a:xfrm>
            <a:off x="6285437" y="7538585"/>
            <a:ext cx="259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Shape 36">
            <a:extLst>
              <a:ext uri="{FF2B5EF4-FFF2-40B4-BE49-F238E27FC236}">
                <a16:creationId xmlns:a16="http://schemas.microsoft.com/office/drawing/2014/main" id="{B571897E-B055-0DB0-4144-1A1579770550}"/>
              </a:ext>
            </a:extLst>
          </p:cNvPr>
          <p:cNvSpPr/>
          <p:nvPr/>
        </p:nvSpPr>
        <p:spPr>
          <a:xfrm>
            <a:off x="9365720" y="623234"/>
            <a:ext cx="8497737" cy="1874664"/>
          </a:xfrm>
          <a:prstGeom prst="rect">
            <a:avLst/>
          </a:prstGeom>
          <a:solidFill>
            <a:srgbClr val="FFFFFF"/>
          </a:solidFill>
          <a:ln>
            <a:solidFill>
              <a:srgbClr val="E5A330"/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8092BD7-3997-9A5C-685C-935E1DEB1837}"/>
              </a:ext>
            </a:extLst>
          </p:cNvPr>
          <p:cNvSpPr/>
          <p:nvPr/>
        </p:nvSpPr>
        <p:spPr>
          <a:xfrm>
            <a:off x="9475086" y="703664"/>
            <a:ext cx="8587116" cy="404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/>
              <a:t>背景の仮説</a:t>
            </a:r>
            <a:endParaRPr lang="en-US" altLang="ja-JP" sz="2800" b="1"/>
          </a:p>
          <a:p>
            <a:r>
              <a:rPr lang="ja-JP" altLang="ja-JP" sz="2800"/>
              <a:t>申請は、</a:t>
            </a:r>
            <a:r>
              <a:rPr lang="ja-JP" altLang="ja-JP" sz="2800" b="1"/>
              <a:t>たまにしか使わない方</a:t>
            </a:r>
            <a:r>
              <a:rPr lang="ja-JP" altLang="ja-JP" sz="2800"/>
              <a:t>も行う</a:t>
            </a:r>
            <a:r>
              <a:rPr lang="ja-JP" altLang="en-US" sz="2800"/>
              <a:t>可能性があり、</a:t>
            </a:r>
            <a:endParaRPr lang="en-US" altLang="ja-JP" sz="2800"/>
          </a:p>
          <a:p>
            <a:r>
              <a:rPr lang="ja-JP" altLang="ja-JP" sz="2800" b="1"/>
              <a:t>マニュアルを見ずに</a:t>
            </a:r>
            <a:r>
              <a:rPr lang="ja-JP" altLang="ja-JP" sz="2800"/>
              <a:t>手順や状態を</a:t>
            </a:r>
            <a:br>
              <a:rPr lang="en-US" altLang="ja-JP" sz="2800"/>
            </a:br>
            <a:r>
              <a:rPr lang="ja-JP" altLang="ja-JP" sz="2800"/>
              <a:t>理解できるUIを目指</a:t>
            </a:r>
            <a:r>
              <a:rPr lang="ja-JP" altLang="en-US" sz="2800"/>
              <a:t>す</a:t>
            </a:r>
            <a:endParaRPr lang="en-US" sz="2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C186F-1CA4-32C3-5046-F00CCF97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E41F17-BBD3-BCEC-7E69-C26469082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994385-F682-C6B5-A418-705257FA1454}"/>
              </a:ext>
            </a:extLst>
          </p:cNvPr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TASK VIEWS · 10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C0C922-B5CC-9AED-F59E-3F2111DFAE39}"/>
              </a:ext>
            </a:extLst>
          </p:cNvPr>
          <p:cNvSpPr/>
          <p:nvPr/>
        </p:nvSpPr>
        <p:spPr>
          <a:xfrm>
            <a:off x="914399" y="1123950"/>
            <a:ext cx="14791411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60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多様なデータを即反映し、</a:t>
            </a:r>
            <a:br>
              <a:rPr lang="en-US" altLang="ja-JP" sz="60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60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分析・課題発見・行動ができる、</a:t>
            </a:r>
            <a:r>
              <a:rPr lang="ja-JP" altLang="en-US" sz="60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ダッシュボード</a:t>
            </a:r>
            <a:endParaRPr lang="en-US" sz="60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CF539904-CE40-E931-7817-AB0B83950CA2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BD4924F-4E98-636B-F081-7CB6B5E56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696" y="3146471"/>
            <a:ext cx="14311600" cy="6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94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TASK VIEWS · 10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123950"/>
            <a:ext cx="17765868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開発進捗管理は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多部署の</a:t>
            </a: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色々な管理手法に代替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するため、</a:t>
            </a:r>
            <a:br>
              <a:rPr lang="en-US" altLang="ja-JP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①ビューを多様化、②入力項目を網羅し、部署ごとに選択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5D7D5689-6E39-5A88-06CC-94FF137BB9E4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2" name="Shape 6">
            <a:extLst>
              <a:ext uri="{FF2B5EF4-FFF2-40B4-BE49-F238E27FC236}">
                <a16:creationId xmlns:a16="http://schemas.microsoft.com/office/drawing/2014/main" id="{38AE692F-DC13-4A70-F853-7A7D304EADFE}"/>
              </a:ext>
            </a:extLst>
          </p:cNvPr>
          <p:cNvSpPr/>
          <p:nvPr/>
        </p:nvSpPr>
        <p:spPr>
          <a:xfrm>
            <a:off x="914400" y="3515719"/>
            <a:ext cx="164592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3" name="Shape 7">
            <a:extLst>
              <a:ext uri="{FF2B5EF4-FFF2-40B4-BE49-F238E27FC236}">
                <a16:creationId xmlns:a16="http://schemas.microsoft.com/office/drawing/2014/main" id="{CEB47BA5-2CAE-62D8-168C-72E113315170}"/>
              </a:ext>
            </a:extLst>
          </p:cNvPr>
          <p:cNvSpPr/>
          <p:nvPr/>
        </p:nvSpPr>
        <p:spPr>
          <a:xfrm>
            <a:off x="923924" y="3525244"/>
            <a:ext cx="2365713" cy="78105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4" name="Text 8">
            <a:extLst>
              <a:ext uri="{FF2B5EF4-FFF2-40B4-BE49-F238E27FC236}">
                <a16:creationId xmlns:a16="http://schemas.microsoft.com/office/drawing/2014/main" id="{A3C5868C-2B94-1F6D-2C83-7BFB3A9A96BB}"/>
              </a:ext>
            </a:extLst>
          </p:cNvPr>
          <p:cNvSpPr/>
          <p:nvPr/>
        </p:nvSpPr>
        <p:spPr>
          <a:xfrm>
            <a:off x="1133475" y="3677644"/>
            <a:ext cx="193297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 4 値運用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5" name="Shape 9">
            <a:extLst>
              <a:ext uri="{FF2B5EF4-FFF2-40B4-BE49-F238E27FC236}">
                <a16:creationId xmlns:a16="http://schemas.microsoft.com/office/drawing/2014/main" id="{B882CD9F-3479-F2B2-C273-6EE3BCB83575}"/>
              </a:ext>
            </a:extLst>
          </p:cNvPr>
          <p:cNvSpPr/>
          <p:nvPr/>
        </p:nvSpPr>
        <p:spPr>
          <a:xfrm>
            <a:off x="7038350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6" name="Text 10">
            <a:extLst>
              <a:ext uri="{FF2B5EF4-FFF2-40B4-BE49-F238E27FC236}">
                <a16:creationId xmlns:a16="http://schemas.microsoft.com/office/drawing/2014/main" id="{4E6C9B8C-E26B-684D-B18C-8B650FE1B5DE}"/>
              </a:ext>
            </a:extLst>
          </p:cNvPr>
          <p:cNvSpPr/>
          <p:nvPr/>
        </p:nvSpPr>
        <p:spPr>
          <a:xfrm>
            <a:off x="4110841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1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7" name="Text 11">
            <a:extLst>
              <a:ext uri="{FF2B5EF4-FFF2-40B4-BE49-F238E27FC236}">
                <a16:creationId xmlns:a16="http://schemas.microsoft.com/office/drawing/2014/main" id="{F055D433-5C5A-557C-0E9C-FE926338EDFA}"/>
              </a:ext>
            </a:extLst>
          </p:cNvPr>
          <p:cNvSpPr/>
          <p:nvPr/>
        </p:nvSpPr>
        <p:spPr>
          <a:xfrm>
            <a:off x="4110841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未着手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8" name="Shape 12">
            <a:extLst>
              <a:ext uri="{FF2B5EF4-FFF2-40B4-BE49-F238E27FC236}">
                <a16:creationId xmlns:a16="http://schemas.microsoft.com/office/drawing/2014/main" id="{AC3EC913-FDDD-A622-1A57-8C3619A86D8D}"/>
              </a:ext>
            </a:extLst>
          </p:cNvPr>
          <p:cNvSpPr/>
          <p:nvPr/>
        </p:nvSpPr>
        <p:spPr>
          <a:xfrm>
            <a:off x="10741194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9" name="Text 13">
            <a:extLst>
              <a:ext uri="{FF2B5EF4-FFF2-40B4-BE49-F238E27FC236}">
                <a16:creationId xmlns:a16="http://schemas.microsoft.com/office/drawing/2014/main" id="{5E25D7F6-8414-186D-508A-005C89721B8A}"/>
              </a:ext>
            </a:extLst>
          </p:cNvPr>
          <p:cNvSpPr/>
          <p:nvPr/>
        </p:nvSpPr>
        <p:spPr>
          <a:xfrm>
            <a:off x="7813685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2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0" name="Text 14">
            <a:extLst>
              <a:ext uri="{FF2B5EF4-FFF2-40B4-BE49-F238E27FC236}">
                <a16:creationId xmlns:a16="http://schemas.microsoft.com/office/drawing/2014/main" id="{4CF3ECB3-0860-4CAB-DB58-BB6C1BB0E025}"/>
              </a:ext>
            </a:extLst>
          </p:cNvPr>
          <p:cNvSpPr/>
          <p:nvPr/>
        </p:nvSpPr>
        <p:spPr>
          <a:xfrm>
            <a:off x="7813685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進行中（%）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1" name="Shape 15">
            <a:extLst>
              <a:ext uri="{FF2B5EF4-FFF2-40B4-BE49-F238E27FC236}">
                <a16:creationId xmlns:a16="http://schemas.microsoft.com/office/drawing/2014/main" id="{4A489979-E3B6-B729-81D8-88E4E5E62BB2}"/>
              </a:ext>
            </a:extLst>
          </p:cNvPr>
          <p:cNvSpPr/>
          <p:nvPr/>
        </p:nvSpPr>
        <p:spPr>
          <a:xfrm>
            <a:off x="14444037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2" name="Text 16">
            <a:extLst>
              <a:ext uri="{FF2B5EF4-FFF2-40B4-BE49-F238E27FC236}">
                <a16:creationId xmlns:a16="http://schemas.microsoft.com/office/drawing/2014/main" id="{C4E0BE2B-7C0D-BFEE-49FD-939D950334CC}"/>
              </a:ext>
            </a:extLst>
          </p:cNvPr>
          <p:cNvSpPr/>
          <p:nvPr/>
        </p:nvSpPr>
        <p:spPr>
          <a:xfrm>
            <a:off x="11516529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3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3" name="Text 17">
            <a:extLst>
              <a:ext uri="{FF2B5EF4-FFF2-40B4-BE49-F238E27FC236}">
                <a16:creationId xmlns:a16="http://schemas.microsoft.com/office/drawing/2014/main" id="{7954C69D-91F2-082A-4752-14FE62B8A64E}"/>
              </a:ext>
            </a:extLst>
          </p:cNvPr>
          <p:cNvSpPr/>
          <p:nvPr/>
        </p:nvSpPr>
        <p:spPr>
          <a:xfrm>
            <a:off x="11516529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確認待ち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4" name="Text 18">
            <a:extLst>
              <a:ext uri="{FF2B5EF4-FFF2-40B4-BE49-F238E27FC236}">
                <a16:creationId xmlns:a16="http://schemas.microsoft.com/office/drawing/2014/main" id="{E8386BCB-19DA-13FA-2325-DAA959B2C9C3}"/>
              </a:ext>
            </a:extLst>
          </p:cNvPr>
          <p:cNvSpPr/>
          <p:nvPr/>
        </p:nvSpPr>
        <p:spPr>
          <a:xfrm>
            <a:off x="15219372" y="3677644"/>
            <a:ext cx="34608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4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5" name="Text 19">
            <a:extLst>
              <a:ext uri="{FF2B5EF4-FFF2-40B4-BE49-F238E27FC236}">
                <a16:creationId xmlns:a16="http://schemas.microsoft.com/office/drawing/2014/main" id="{D0B26C6B-DE08-07A6-2836-19C7DF002F33}"/>
              </a:ext>
            </a:extLst>
          </p:cNvPr>
          <p:cNvSpPr/>
          <p:nvPr/>
        </p:nvSpPr>
        <p:spPr>
          <a:xfrm>
            <a:off x="15219372" y="3849094"/>
            <a:ext cx="34608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完了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6" name="Shape 20">
            <a:extLst>
              <a:ext uri="{FF2B5EF4-FFF2-40B4-BE49-F238E27FC236}">
                <a16:creationId xmlns:a16="http://schemas.microsoft.com/office/drawing/2014/main" id="{24277631-EAA9-A2BE-A0B9-BEE225444DDE}"/>
              </a:ext>
            </a:extLst>
          </p:cNvPr>
          <p:cNvSpPr/>
          <p:nvPr/>
        </p:nvSpPr>
        <p:spPr>
          <a:xfrm>
            <a:off x="9753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7" name="Shape 21">
            <a:extLst>
              <a:ext uri="{FF2B5EF4-FFF2-40B4-BE49-F238E27FC236}">
                <a16:creationId xmlns:a16="http://schemas.microsoft.com/office/drawing/2014/main" id="{D10D2E81-646E-D212-F9F2-2B98FB571CE3}"/>
              </a:ext>
            </a:extLst>
          </p:cNvPr>
          <p:cNvSpPr/>
          <p:nvPr/>
        </p:nvSpPr>
        <p:spPr>
          <a:xfrm>
            <a:off x="9848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8" name="Shape 22">
            <a:extLst>
              <a:ext uri="{FF2B5EF4-FFF2-40B4-BE49-F238E27FC236}">
                <a16:creationId xmlns:a16="http://schemas.microsoft.com/office/drawing/2014/main" id="{22F8C333-ACBE-A283-15D1-5E8ACB631BE0}"/>
              </a:ext>
            </a:extLst>
          </p:cNvPr>
          <p:cNvSpPr/>
          <p:nvPr/>
        </p:nvSpPr>
        <p:spPr>
          <a:xfrm>
            <a:off x="1194435" y="5315932"/>
            <a:ext cx="861865" cy="32504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9" name="Text 23">
            <a:extLst>
              <a:ext uri="{FF2B5EF4-FFF2-40B4-BE49-F238E27FC236}">
                <a16:creationId xmlns:a16="http://schemas.microsoft.com/office/drawing/2014/main" id="{EBD38D30-B154-8984-D556-7BE86305FC30}"/>
              </a:ext>
            </a:extLst>
          </p:cNvPr>
          <p:cNvSpPr/>
          <p:nvPr/>
        </p:nvSpPr>
        <p:spPr>
          <a:xfrm>
            <a:off x="1280160" y="5344506"/>
            <a:ext cx="9454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1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0" name="Text 24">
            <a:extLst>
              <a:ext uri="{FF2B5EF4-FFF2-40B4-BE49-F238E27FC236}">
                <a16:creationId xmlns:a16="http://schemas.microsoft.com/office/drawing/2014/main" id="{10EC5F3B-6653-8960-C51C-35C16A9A0C8E}"/>
              </a:ext>
            </a:extLst>
          </p:cNvPr>
          <p:cNvSpPr/>
          <p:nvPr/>
        </p:nvSpPr>
        <p:spPr>
          <a:xfrm>
            <a:off x="2213643" y="5258782"/>
            <a:ext cx="28300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カンバン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1" name="Shape 25">
            <a:extLst>
              <a:ext uri="{FF2B5EF4-FFF2-40B4-BE49-F238E27FC236}">
                <a16:creationId xmlns:a16="http://schemas.microsoft.com/office/drawing/2014/main" id="{B049C3AB-7FBD-C0AF-D495-B2ED9F1DD759}"/>
              </a:ext>
            </a:extLst>
          </p:cNvPr>
          <p:cNvSpPr/>
          <p:nvPr/>
        </p:nvSpPr>
        <p:spPr>
          <a:xfrm>
            <a:off x="984885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2" name="Shape 26">
            <a:extLst>
              <a:ext uri="{FF2B5EF4-FFF2-40B4-BE49-F238E27FC236}">
                <a16:creationId xmlns:a16="http://schemas.microsoft.com/office/drawing/2014/main" id="{01816999-F374-0E22-9015-9950E87DAF17}"/>
              </a:ext>
            </a:extLst>
          </p:cNvPr>
          <p:cNvSpPr/>
          <p:nvPr/>
        </p:nvSpPr>
        <p:spPr>
          <a:xfrm>
            <a:off x="9848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3" name="Text 27">
            <a:extLst>
              <a:ext uri="{FF2B5EF4-FFF2-40B4-BE49-F238E27FC236}">
                <a16:creationId xmlns:a16="http://schemas.microsoft.com/office/drawing/2014/main" id="{15C9ECE6-F2BC-86E5-FAAD-F91E95898145}"/>
              </a:ext>
            </a:extLst>
          </p:cNvPr>
          <p:cNvSpPr/>
          <p:nvPr/>
        </p:nvSpPr>
        <p:spPr>
          <a:xfrm>
            <a:off x="1194435" y="8154323"/>
            <a:ext cx="506832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自分の手持ち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タスクの流れを把握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期限超過と完了予定を一目で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4" name="Shape 28">
            <a:extLst>
              <a:ext uri="{FF2B5EF4-FFF2-40B4-BE49-F238E27FC236}">
                <a16:creationId xmlns:a16="http://schemas.microsoft.com/office/drawing/2014/main" id="{6D2A59BC-C27B-1378-B593-BD5AA8B5FC40}"/>
              </a:ext>
            </a:extLst>
          </p:cNvPr>
          <p:cNvSpPr/>
          <p:nvPr/>
        </p:nvSpPr>
        <p:spPr>
          <a:xfrm>
            <a:off x="65315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5" name="Shape 29">
            <a:extLst>
              <a:ext uri="{FF2B5EF4-FFF2-40B4-BE49-F238E27FC236}">
                <a16:creationId xmlns:a16="http://schemas.microsoft.com/office/drawing/2014/main" id="{30C1DD8F-EC37-07C8-B15B-D031956FD7FA}"/>
              </a:ext>
            </a:extLst>
          </p:cNvPr>
          <p:cNvSpPr/>
          <p:nvPr/>
        </p:nvSpPr>
        <p:spPr>
          <a:xfrm>
            <a:off x="65410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6" name="Shape 30">
            <a:extLst>
              <a:ext uri="{FF2B5EF4-FFF2-40B4-BE49-F238E27FC236}">
                <a16:creationId xmlns:a16="http://schemas.microsoft.com/office/drawing/2014/main" id="{6E2A3973-C025-173F-540D-E42FE8301DDE}"/>
              </a:ext>
            </a:extLst>
          </p:cNvPr>
          <p:cNvSpPr/>
          <p:nvPr/>
        </p:nvSpPr>
        <p:spPr>
          <a:xfrm>
            <a:off x="6750635" y="5315932"/>
            <a:ext cx="861865" cy="325040"/>
          </a:xfrm>
          <a:prstGeom prst="rect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7" name="Text 31">
            <a:extLst>
              <a:ext uri="{FF2B5EF4-FFF2-40B4-BE49-F238E27FC236}">
                <a16:creationId xmlns:a16="http://schemas.microsoft.com/office/drawing/2014/main" id="{591A8595-B7A5-D369-63B3-6107EF698F33}"/>
              </a:ext>
            </a:extLst>
          </p:cNvPr>
          <p:cNvSpPr/>
          <p:nvPr/>
        </p:nvSpPr>
        <p:spPr>
          <a:xfrm>
            <a:off x="6836360" y="5344506"/>
            <a:ext cx="7359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2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8" name="Text 32">
            <a:extLst>
              <a:ext uri="{FF2B5EF4-FFF2-40B4-BE49-F238E27FC236}">
                <a16:creationId xmlns:a16="http://schemas.microsoft.com/office/drawing/2014/main" id="{6729FC04-0A83-4FDD-D93E-D0DB8C7D9C06}"/>
              </a:ext>
            </a:extLst>
          </p:cNvPr>
          <p:cNvSpPr/>
          <p:nvPr/>
        </p:nvSpPr>
        <p:spPr>
          <a:xfrm>
            <a:off x="7769843" y="5258781"/>
            <a:ext cx="3125986" cy="42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メンバー別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9" name="Shape 33">
            <a:extLst>
              <a:ext uri="{FF2B5EF4-FFF2-40B4-BE49-F238E27FC236}">
                <a16:creationId xmlns:a16="http://schemas.microsoft.com/office/drawing/2014/main" id="{FDCB97A0-DE61-0B36-F973-4D647B6CE00E}"/>
              </a:ext>
            </a:extLst>
          </p:cNvPr>
          <p:cNvSpPr/>
          <p:nvPr/>
        </p:nvSpPr>
        <p:spPr>
          <a:xfrm>
            <a:off x="6541085" y="5725508"/>
            <a:ext cx="5327600" cy="2330948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0" name="Shape 34">
            <a:extLst>
              <a:ext uri="{FF2B5EF4-FFF2-40B4-BE49-F238E27FC236}">
                <a16:creationId xmlns:a16="http://schemas.microsoft.com/office/drawing/2014/main" id="{966D440D-9F65-B9FB-3827-BE04686A34B6}"/>
              </a:ext>
            </a:extLst>
          </p:cNvPr>
          <p:cNvSpPr/>
          <p:nvPr/>
        </p:nvSpPr>
        <p:spPr>
          <a:xfrm>
            <a:off x="65410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1" name="Text 35">
            <a:extLst>
              <a:ext uri="{FF2B5EF4-FFF2-40B4-BE49-F238E27FC236}">
                <a16:creationId xmlns:a16="http://schemas.microsoft.com/office/drawing/2014/main" id="{9323657C-0F1A-2B96-F538-0AB68D1A142C}"/>
              </a:ext>
            </a:extLst>
          </p:cNvPr>
          <p:cNvSpPr/>
          <p:nvPr/>
        </p:nvSpPr>
        <p:spPr>
          <a:xfrm>
            <a:off x="6750635" y="8154323"/>
            <a:ext cx="5068328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誰が何を抱え 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誰が忙しいかを一望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件数＋進捗バー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で偏りを発見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2" name="Shape 36">
            <a:extLst>
              <a:ext uri="{FF2B5EF4-FFF2-40B4-BE49-F238E27FC236}">
                <a16:creationId xmlns:a16="http://schemas.microsoft.com/office/drawing/2014/main" id="{596791F8-5495-122C-851C-279A29D5B645}"/>
              </a:ext>
            </a:extLst>
          </p:cNvPr>
          <p:cNvSpPr/>
          <p:nvPr/>
        </p:nvSpPr>
        <p:spPr>
          <a:xfrm>
            <a:off x="12087761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3" name="Shape 37">
            <a:extLst>
              <a:ext uri="{FF2B5EF4-FFF2-40B4-BE49-F238E27FC236}">
                <a16:creationId xmlns:a16="http://schemas.microsoft.com/office/drawing/2014/main" id="{18474EFD-F7C2-37AB-AF01-369560ACACD5}"/>
              </a:ext>
            </a:extLst>
          </p:cNvPr>
          <p:cNvSpPr/>
          <p:nvPr/>
        </p:nvSpPr>
        <p:spPr>
          <a:xfrm>
            <a:off x="12097286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4" name="Shape 38">
            <a:extLst>
              <a:ext uri="{FF2B5EF4-FFF2-40B4-BE49-F238E27FC236}">
                <a16:creationId xmlns:a16="http://schemas.microsoft.com/office/drawing/2014/main" id="{03504F83-31B9-38BE-7B7D-91C68985B2C2}"/>
              </a:ext>
            </a:extLst>
          </p:cNvPr>
          <p:cNvSpPr/>
          <p:nvPr/>
        </p:nvSpPr>
        <p:spPr>
          <a:xfrm>
            <a:off x="12306836" y="5315932"/>
            <a:ext cx="861865" cy="32504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5" name="Text 39">
            <a:extLst>
              <a:ext uri="{FF2B5EF4-FFF2-40B4-BE49-F238E27FC236}">
                <a16:creationId xmlns:a16="http://schemas.microsoft.com/office/drawing/2014/main" id="{32C6790F-A54E-F5DF-7404-8D48A21EF11B}"/>
              </a:ext>
            </a:extLst>
          </p:cNvPr>
          <p:cNvSpPr/>
          <p:nvPr/>
        </p:nvSpPr>
        <p:spPr>
          <a:xfrm>
            <a:off x="12392561" y="5344506"/>
            <a:ext cx="776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3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6" name="Text 40">
            <a:extLst>
              <a:ext uri="{FF2B5EF4-FFF2-40B4-BE49-F238E27FC236}">
                <a16:creationId xmlns:a16="http://schemas.microsoft.com/office/drawing/2014/main" id="{E4C5CF91-6D49-F817-B8C0-314C008E107C}"/>
              </a:ext>
            </a:extLst>
          </p:cNvPr>
          <p:cNvSpPr/>
          <p:nvPr/>
        </p:nvSpPr>
        <p:spPr>
          <a:xfrm>
            <a:off x="13326043" y="5258781"/>
            <a:ext cx="2309426" cy="38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7" name="Shape 41">
            <a:extLst>
              <a:ext uri="{FF2B5EF4-FFF2-40B4-BE49-F238E27FC236}">
                <a16:creationId xmlns:a16="http://schemas.microsoft.com/office/drawing/2014/main" id="{5C872D30-1635-06F2-A357-CB217507EDAD}"/>
              </a:ext>
            </a:extLst>
          </p:cNvPr>
          <p:cNvSpPr/>
          <p:nvPr/>
        </p:nvSpPr>
        <p:spPr>
          <a:xfrm>
            <a:off x="12097286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8" name="Shape 42">
            <a:extLst>
              <a:ext uri="{FF2B5EF4-FFF2-40B4-BE49-F238E27FC236}">
                <a16:creationId xmlns:a16="http://schemas.microsoft.com/office/drawing/2014/main" id="{A3B9B887-5FAE-22D1-3D40-938154419CE3}"/>
              </a:ext>
            </a:extLst>
          </p:cNvPr>
          <p:cNvSpPr/>
          <p:nvPr/>
        </p:nvSpPr>
        <p:spPr>
          <a:xfrm>
            <a:off x="12097286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79" name="Image 2" descr="preencoded.png">
            <a:extLst>
              <a:ext uri="{FF2B5EF4-FFF2-40B4-BE49-F238E27FC236}">
                <a16:creationId xmlns:a16="http://schemas.microsoft.com/office/drawing/2014/main" id="{71398F1C-1AC8-DEA3-FB64-CDE1F570A0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47564" y="5715982"/>
            <a:ext cx="5327600" cy="2340474"/>
          </a:xfrm>
          <a:prstGeom prst="rect">
            <a:avLst/>
          </a:prstGeom>
        </p:spPr>
      </p:pic>
      <p:sp>
        <p:nvSpPr>
          <p:cNvPr id="280" name="Text 43">
            <a:extLst>
              <a:ext uri="{FF2B5EF4-FFF2-40B4-BE49-F238E27FC236}">
                <a16:creationId xmlns:a16="http://schemas.microsoft.com/office/drawing/2014/main" id="{77A954B7-516A-2350-3287-5297CBE254ED}"/>
              </a:ext>
            </a:extLst>
          </p:cNvPr>
          <p:cNvSpPr/>
          <p:nvPr/>
        </p:nvSpPr>
        <p:spPr>
          <a:xfrm>
            <a:off x="12306836" y="8154323"/>
            <a:ext cx="5068328" cy="548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期限・優先度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でソートして運用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表形式の網羅性で取りこぼしを防ぐ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1" name="Text 6">
            <a:extLst>
              <a:ext uri="{FF2B5EF4-FFF2-40B4-BE49-F238E27FC236}">
                <a16:creationId xmlns:a16="http://schemas.microsoft.com/office/drawing/2014/main" id="{FFA4292F-AD0E-2906-A7F7-832B60DA9AE4}"/>
              </a:ext>
            </a:extLst>
          </p:cNvPr>
          <p:cNvSpPr/>
          <p:nvPr/>
        </p:nvSpPr>
        <p:spPr>
          <a:xfrm>
            <a:off x="1315627" y="3025182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ステータスの４値運用</a:t>
            </a:r>
            <a:endParaRPr lang="en-US" sz="28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2" name="Text 6">
            <a:extLst>
              <a:ext uri="{FF2B5EF4-FFF2-40B4-BE49-F238E27FC236}">
                <a16:creationId xmlns:a16="http://schemas.microsoft.com/office/drawing/2014/main" id="{AF337EFA-6492-37F6-A2A7-200B2A2B0C41}"/>
              </a:ext>
            </a:extLst>
          </p:cNvPr>
          <p:cNvSpPr/>
          <p:nvPr/>
        </p:nvSpPr>
        <p:spPr>
          <a:xfrm>
            <a:off x="1280158" y="4623296"/>
            <a:ext cx="8963378" cy="19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３ビュートグル切り替え　</a:t>
            </a:r>
            <a:r>
              <a:rPr lang="ja-JP" altLang="en-US" sz="2800">
                <a:latin typeface="Meiryo UI" panose="020B0604030504040204" pitchFamily="50" charset="-128"/>
                <a:ea typeface="Meiryo UI" panose="020B0604030504040204" pitchFamily="50" charset="-128"/>
              </a:rPr>
              <a:t>部署ごとの管理の違いを吸収</a:t>
            </a: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endParaRPr lang="en-US" sz="28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3" name="矢印: 右 282">
            <a:extLst>
              <a:ext uri="{FF2B5EF4-FFF2-40B4-BE49-F238E27FC236}">
                <a16:creationId xmlns:a16="http://schemas.microsoft.com/office/drawing/2014/main" id="{3DAE4C32-3E46-A827-31D0-D184B15BECD5}"/>
              </a:ext>
            </a:extLst>
          </p:cNvPr>
          <p:cNvSpPr/>
          <p:nvPr/>
        </p:nvSpPr>
        <p:spPr>
          <a:xfrm rot="20550121">
            <a:off x="161897" y="2941474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284" name="Image 0" descr="preencoded.png">
            <a:extLst>
              <a:ext uri="{FF2B5EF4-FFF2-40B4-BE49-F238E27FC236}">
                <a16:creationId xmlns:a16="http://schemas.microsoft.com/office/drawing/2014/main" id="{F5894923-F611-8EB1-7574-2948E11845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" b="16835"/>
          <a:stretch>
            <a:fillRect/>
          </a:stretch>
        </p:blipFill>
        <p:spPr>
          <a:xfrm>
            <a:off x="6550610" y="5744559"/>
            <a:ext cx="5327600" cy="2333564"/>
          </a:xfrm>
          <a:prstGeom prst="rect">
            <a:avLst/>
          </a:prstGeom>
        </p:spPr>
      </p:pic>
      <p:sp>
        <p:nvSpPr>
          <p:cNvPr id="285" name="Text 6">
            <a:extLst>
              <a:ext uri="{FF2B5EF4-FFF2-40B4-BE49-F238E27FC236}">
                <a16:creationId xmlns:a16="http://schemas.microsoft.com/office/drawing/2014/main" id="{41950D2F-DF85-2724-2CE7-429FB5BF7358}"/>
              </a:ext>
            </a:extLst>
          </p:cNvPr>
          <p:cNvSpPr/>
          <p:nvPr/>
        </p:nvSpPr>
        <p:spPr>
          <a:xfrm>
            <a:off x="1493518" y="9627681"/>
            <a:ext cx="13173404" cy="271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バーンダウンチャート </a:t>
            </a:r>
            <a:r>
              <a:rPr lang="en-US" altLang="ja-JP" sz="2800" b="1">
                <a:latin typeface="Meiryo UI" panose="020B0604030504040204" pitchFamily="50" charset="-128"/>
                <a:ea typeface="Meiryo UI" panose="020B0604030504040204" pitchFamily="50" charset="-128"/>
              </a:rPr>
              <a:t>/ </a:t>
            </a: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ガントチャート</a:t>
            </a:r>
            <a:r>
              <a:rPr lang="en-US" altLang="ja-JP" sz="2800" b="1">
                <a:latin typeface="Meiryo UI" panose="020B0604030504040204" pitchFamily="50" charset="-128"/>
                <a:ea typeface="Meiryo UI" panose="020B0604030504040204" pitchFamily="50" charset="-128"/>
              </a:rPr>
              <a:t>/Wiki</a:t>
            </a: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機能</a:t>
            </a:r>
          </a:p>
        </p:txBody>
      </p:sp>
      <p:pic>
        <p:nvPicPr>
          <p:cNvPr id="286" name="図 285">
            <a:extLst>
              <a:ext uri="{FF2B5EF4-FFF2-40B4-BE49-F238E27FC236}">
                <a16:creationId xmlns:a16="http://schemas.microsoft.com/office/drawing/2014/main" id="{17DE7E01-1B21-1D8E-F777-7610933F8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67" y="5721636"/>
            <a:ext cx="5332192" cy="2412162"/>
          </a:xfrm>
          <a:prstGeom prst="rect">
            <a:avLst/>
          </a:prstGeom>
        </p:spPr>
      </p:pic>
      <p:sp>
        <p:nvSpPr>
          <p:cNvPr id="287" name="Shape 8">
            <a:extLst>
              <a:ext uri="{FF2B5EF4-FFF2-40B4-BE49-F238E27FC236}">
                <a16:creationId xmlns:a16="http://schemas.microsoft.com/office/drawing/2014/main" id="{1164F338-4862-0F42-C0F4-295431488208}"/>
              </a:ext>
            </a:extLst>
          </p:cNvPr>
          <p:cNvSpPr/>
          <p:nvPr/>
        </p:nvSpPr>
        <p:spPr>
          <a:xfrm>
            <a:off x="16777225" y="5077809"/>
            <a:ext cx="1371193" cy="571499"/>
          </a:xfrm>
          <a:prstGeom prst="roundRect">
            <a:avLst>
              <a:gd name="adj" fmla="val 15238"/>
            </a:avLst>
          </a:prstGeom>
          <a:solidFill>
            <a:srgbClr val="E5A330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800" b="1">
                <a:solidFill>
                  <a:schemeClr val="bg1"/>
                </a:solidFill>
              </a:rPr>
              <a:t>トグル</a:t>
            </a:r>
          </a:p>
        </p:txBody>
      </p:sp>
      <p:sp>
        <p:nvSpPr>
          <p:cNvPr id="288" name="楕円 287">
            <a:extLst>
              <a:ext uri="{FF2B5EF4-FFF2-40B4-BE49-F238E27FC236}">
                <a16:creationId xmlns:a16="http://schemas.microsoft.com/office/drawing/2014/main" id="{AAC373DD-91F8-3B37-B0F0-4B3F483B367B}"/>
              </a:ext>
            </a:extLst>
          </p:cNvPr>
          <p:cNvSpPr/>
          <p:nvPr/>
        </p:nvSpPr>
        <p:spPr>
          <a:xfrm>
            <a:off x="15705810" y="5639782"/>
            <a:ext cx="1695482" cy="552402"/>
          </a:xfrm>
          <a:prstGeom prst="ellipse">
            <a:avLst/>
          </a:prstGeom>
          <a:noFill/>
          <a:ln w="123825">
            <a:solidFill>
              <a:srgbClr val="E5A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rgbClr val="14A0B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AUTOMATION · 09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078373" y="9772650"/>
            <a:ext cx="22952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課題2 / 運用性を上げる自動化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7145000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開発部門の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Excel文化からの脱却は、 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現場メリットのある</a:t>
            </a: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省力化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</a:t>
            </a: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業績への寄与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がマスト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7157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申請、予算と連携し、転記不要に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3925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9642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通知拡張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9642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担当 / 期限 / 完了報告 / 確認OK をアプリ内通知で共有。連絡漏れ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防止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7157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</a:t>
            </a: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と同じ操作感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7157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現場感覚で工夫され、使い慣れたエクセルを踏襲、</a:t>
            </a:r>
            <a:b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導入への抵抗感をなくす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3925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7F48646-C4EB-FE88-CA5D-436DFF349DAC}"/>
              </a:ext>
            </a:extLst>
          </p:cNvPr>
          <p:cNvGrpSpPr/>
          <p:nvPr/>
        </p:nvGrpSpPr>
        <p:grpSpPr>
          <a:xfrm>
            <a:off x="1773458" y="3556456"/>
            <a:ext cx="11980565" cy="2407889"/>
            <a:chOff x="1773458" y="3556456"/>
            <a:chExt cx="11980565" cy="2407889"/>
          </a:xfrm>
        </p:grpSpPr>
        <p:sp>
          <p:nvSpPr>
            <p:cNvPr id="9" name="Shape 7"/>
            <p:cNvSpPr/>
            <p:nvPr/>
          </p:nvSpPr>
          <p:spPr>
            <a:xfrm>
              <a:off x="177345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87823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1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284087" y="3604080"/>
              <a:ext cx="178322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altLang="ja-JP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AUTO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009830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020308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0608937" y="3604080"/>
              <a:ext cx="2918109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NOTIFICATION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77345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87823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3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2284087" y="5640496"/>
              <a:ext cx="246415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HISTOR</a:t>
              </a:r>
              <a:r>
                <a:rPr lang="ja-JP" alt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、</a:t>
              </a:r>
              <a:r>
                <a:rPr 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BUDGET LOG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009830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20308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4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0608937" y="5640496"/>
              <a:ext cx="314508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DERIVED VALUE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6" name="Text 34"/>
          <p:cNvSpPr/>
          <p:nvPr/>
        </p:nvSpPr>
        <p:spPr>
          <a:xfrm>
            <a:off x="949642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altLang="ja-JP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</a:t>
            </a:r>
            <a:r>
              <a:rPr lang="ja-JP" alt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より</a:t>
            </a: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ちょっと“便利な機能　</a:t>
            </a:r>
            <a:r>
              <a:rPr lang="ja-JP" alt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</a:t>
            </a: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業務再設計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9642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もっと使いたくなる仕掛けを導入し、</a:t>
            </a:r>
            <a:br>
              <a:rPr lang="en-US" altLang="ja-JP" sz="200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000">
                <a:latin typeface="Meiryo UI" panose="020B0604030504040204" pitchFamily="50" charset="-128"/>
                <a:ea typeface="Meiryo UI" panose="020B0604030504040204" pitchFamily="50" charset="-128"/>
              </a:rPr>
              <a:t>今後、業務再設計とシステムリプレースの種をまく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03ADDD1D-B2B1-1522-62D8-4EC9FEDE2DBA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14400" y="7629227"/>
            <a:ext cx="164592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23925" y="7638752"/>
            <a:ext cx="2286000" cy="12954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918400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2636401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171575" y="7848302"/>
            <a:ext cx="1866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000" b="1" kern="0" spc="18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機能採用判断基準の３層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71575" y="8057852"/>
            <a:ext cx="1866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438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MUST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438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必須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438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課題1 の完成度を担保する機能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156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+ MVP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156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課題２　</a:t>
            </a:r>
            <a:r>
              <a:rPr 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+α</a:t>
            </a:r>
            <a:r>
              <a:rPr lang="ja-JP" alt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156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顧客の要望、次に見た目のインパクト大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2874526" y="7848302"/>
            <a:ext cx="43887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→ NEXT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2874526" y="8057852"/>
            <a:ext cx="43887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後回し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2874526" y="8419802"/>
            <a:ext cx="43887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提案資料（これ）に盛り込む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8"/>
          <p:cNvSpPr/>
          <p:nvPr/>
        </p:nvSpPr>
        <p:spPr>
          <a:xfrm>
            <a:off x="1024695" y="9078506"/>
            <a:ext cx="16320329" cy="92031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9"/>
          <p:cNvSpPr/>
          <p:nvPr/>
        </p:nvSpPr>
        <p:spPr>
          <a:xfrm>
            <a:off x="914399" y="9078505"/>
            <a:ext cx="2295525" cy="9203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Text 40"/>
          <p:cNvSpPr/>
          <p:nvPr/>
        </p:nvSpPr>
        <p:spPr>
          <a:xfrm>
            <a:off x="1328696" y="9395787"/>
            <a:ext cx="12086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54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選定基準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Text 41"/>
          <p:cNvSpPr/>
          <p:nvPr/>
        </p:nvSpPr>
        <p:spPr>
          <a:xfrm>
            <a:off x="3896982" y="9279684"/>
            <a:ext cx="8197834" cy="452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</a:t>
            </a:r>
            <a:r>
              <a:rPr lang="ja-JP" alt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×</a:t>
            </a:r>
            <a:r>
              <a:rPr lang="ja-JP" alt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コスト</a:t>
            </a:r>
            <a:r>
              <a:rPr lang="ja-JP" altLang="en-US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× </a:t>
            </a:r>
            <a:r>
              <a:rPr lang="ja-JP" alt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リスク</a:t>
            </a:r>
            <a:endParaRPr lang="en-US" altLang="ja-JP" sz="3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42"/>
          <p:cNvSpPr/>
          <p:nvPr/>
        </p:nvSpPr>
        <p:spPr>
          <a:xfrm>
            <a:off x="14749334" y="9990775"/>
            <a:ext cx="2826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7" name="Text 43"/>
          <p:cNvSpPr/>
          <p:nvPr/>
        </p:nvSpPr>
        <p:spPr>
          <a:xfrm>
            <a:off x="3396258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45"/>
          <p:cNvSpPr/>
          <p:nvPr/>
        </p:nvSpPr>
        <p:spPr>
          <a:xfrm>
            <a:off x="4688532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46"/>
          <p:cNvSpPr/>
          <p:nvPr/>
        </p:nvSpPr>
        <p:spPr>
          <a:xfrm>
            <a:off x="11816862" y="9570196"/>
            <a:ext cx="544644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1662A602-BC77-7A51-D47A-30E7ECE37F32}"/>
              </a:ext>
            </a:extLst>
          </p:cNvPr>
          <p:cNvSpPr/>
          <p:nvPr/>
        </p:nvSpPr>
        <p:spPr>
          <a:xfrm>
            <a:off x="680665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C3B49FD9-A5DF-91E4-CC8C-BBDB98D5D64A}"/>
              </a:ext>
            </a:extLst>
          </p:cNvPr>
          <p:cNvSpPr/>
          <p:nvPr/>
        </p:nvSpPr>
        <p:spPr>
          <a:xfrm>
            <a:off x="9211397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40" name="矢印: 右 39">
            <a:extLst>
              <a:ext uri="{FF2B5EF4-FFF2-40B4-BE49-F238E27FC236}">
                <a16:creationId xmlns:a16="http://schemas.microsoft.com/office/drawing/2014/main" id="{872AF92E-DD50-5501-82FF-1FCE8C0F1F39}"/>
              </a:ext>
            </a:extLst>
          </p:cNvPr>
          <p:cNvSpPr/>
          <p:nvPr/>
        </p:nvSpPr>
        <p:spPr>
          <a:xfrm rot="20550121">
            <a:off x="8943202" y="4893132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B9B7E043-A92E-0E63-701F-F341A34F16AC}"/>
              </a:ext>
            </a:extLst>
          </p:cNvPr>
          <p:cNvSpPr/>
          <p:nvPr/>
        </p:nvSpPr>
        <p:spPr>
          <a:xfrm>
            <a:off x="117157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転記自動化</a:t>
            </a:r>
            <a:endParaRPr lang="en-US" altLang="ja-JP" sz="2800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5F6AFBA8-DF23-7EFD-39DF-4F565968E0AC}"/>
              </a:ext>
            </a:extLst>
          </p:cNvPr>
          <p:cNvSpPr/>
          <p:nvPr/>
        </p:nvSpPr>
        <p:spPr>
          <a:xfrm rot="20550121">
            <a:off x="665978" y="4893131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APPROVAL FLOW · 08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434" y="1204277"/>
            <a:ext cx="10436039" cy="270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申請・</a:t>
            </a:r>
            <a:r>
              <a:rPr 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承認フロー</a:t>
            </a:r>
            <a:r>
              <a:rPr lang="ja-JP" alt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、開発進捗管理</a:t>
            </a:r>
            <a:r>
              <a:rPr 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2717" y="1818431"/>
            <a:ext cx="16565574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</a:t>
            </a:r>
            <a:r>
              <a:rPr lang="en-US" sz="66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</a:t>
            </a:r>
            <a:r>
              <a:rPr 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再申請</a:t>
            </a:r>
            <a:r>
              <a:rPr lang="ja-JP" alt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追跡</a:t>
            </a:r>
            <a:r>
              <a:rPr 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</a:t>
            </a:r>
            <a:r>
              <a:rPr lang="ja-JP" alt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タスク履歴、予算実績履歴</a:t>
            </a:r>
            <a:endParaRPr lang="en-US" sz="6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2787648"/>
            <a:ext cx="5494020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0967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502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監査証跡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5025" y="4724795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誰が・いつ・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どのレベルで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なにを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したかを後から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追跡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できるよう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、履歴を保持する。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23925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3452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987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却下と再申請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9875" y="4724795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却下案件は元案件を引き継いだまま再申請できる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何回目の改訂かも追跡できる構造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0967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0502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タスク履歴</a:t>
            </a:r>
            <a:endParaRPr lang="en-US" sz="28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05025" y="6724747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ja-JP" altLang="en-US" sz="2400">
                <a:latin typeface="Meiryo UI" panose="020B0604030504040204" pitchFamily="50" charset="-128"/>
                <a:ea typeface="Meiryo UI" panose="020B0604030504040204" pitchFamily="50" charset="-128"/>
              </a:rPr>
              <a:t>開始・終了・確認・完了を追跡可能にし、だれがどこに責任を持つか履歴管理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3925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3452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42987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予算、実績履歴</a:t>
            </a:r>
            <a:endParaRPr lang="en-US" sz="2800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429875" y="6724747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将来は、会計システムと連携　進捗をリアルタイム把握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32716" y="8052295"/>
            <a:ext cx="16963397" cy="143817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8071344"/>
            <a:ext cx="1297186" cy="1419126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81100" y="8595219"/>
            <a:ext cx="10304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kern="0" spc="66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WHY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211586" y="8280894"/>
            <a:ext cx="34469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58135" y="8242794"/>
            <a:ext cx="25908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473416" y="7937994"/>
            <a:ext cx="152757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66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監査と関係させ、システム利用の</a:t>
            </a:r>
            <a:r>
              <a:rPr lang="ja-JP" altLang="en-US" sz="6600" b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正当性を</a:t>
            </a:r>
            <a:r>
              <a:rPr lang="en-US" altLang="ja-JP" sz="6600" b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UP</a:t>
            </a:r>
            <a:endParaRPr lang="ja-JP" altLang="en-US" sz="6600" b="1">
              <a:solidFill>
                <a:schemeClr val="accent2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374B01B-DD78-B64C-ED5F-2D6BD271259E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2605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ROADMAP · 11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807843"/>
            <a:ext cx="15672436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管理範囲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を広げ、</a:t>
            </a:r>
            <a:r>
              <a:rPr lang="ja-JP" alt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管理の粒度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を細かくする方向で</a:t>
            </a:r>
            <a:br>
              <a:rPr lang="en-US" altLang="ja-JP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拡張予定</a:t>
            </a:r>
          </a:p>
        </p:txBody>
      </p:sp>
      <p:sp>
        <p:nvSpPr>
          <p:cNvPr id="7" name="Text 5"/>
          <p:cNvSpPr/>
          <p:nvPr/>
        </p:nvSpPr>
        <p:spPr>
          <a:xfrm>
            <a:off x="923924" y="8926777"/>
            <a:ext cx="16703675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ja-JP" sz="28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</a:t>
            </a:r>
            <a:r>
              <a:rPr lang="ja-JP" altLang="en-US" sz="28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時間の限界を認識し、 拡張に備えて現行テーブルを肥大化させず、追加テーブルで拡張できる設計方針</a:t>
            </a: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E24FABAB-DB54-90B8-9814-4611BB38A23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85BD41B-E52F-BAF8-5DC7-28892F070FAC}"/>
              </a:ext>
            </a:extLst>
          </p:cNvPr>
          <p:cNvSpPr/>
          <p:nvPr/>
        </p:nvSpPr>
        <p:spPr>
          <a:xfrm>
            <a:off x="8044058" y="362129"/>
            <a:ext cx="10577981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F02DC648-B874-8A76-6E2D-739357E63BA1}"/>
              </a:ext>
            </a:extLst>
          </p:cNvPr>
          <p:cNvSpPr/>
          <p:nvPr/>
        </p:nvSpPr>
        <p:spPr>
          <a:xfrm>
            <a:off x="923925" y="1141093"/>
            <a:ext cx="51491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今後の拡張予定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880365"/>
            <a:ext cx="16459200" cy="514362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5" y="3889891"/>
            <a:ext cx="16440150" cy="42862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23925" y="4308991"/>
            <a:ext cx="164401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5375" y="4023241"/>
            <a:ext cx="400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62125" y="4023241"/>
            <a:ext cx="42393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機能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0895" y="4023241"/>
            <a:ext cx="63224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実装内容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682091" y="4023241"/>
            <a:ext cx="46561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価値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23925" y="4975741"/>
            <a:ext cx="164401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57275" y="4470916"/>
            <a:ext cx="400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510641" y="4318516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0F45465E-8034-A7E5-8018-D4A800FF9F56}"/>
              </a:ext>
            </a:extLst>
          </p:cNvPr>
          <p:cNvGrpSpPr/>
          <p:nvPr/>
        </p:nvGrpSpPr>
        <p:grpSpPr>
          <a:xfrm>
            <a:off x="1762125" y="7827579"/>
            <a:ext cx="15576103" cy="390525"/>
            <a:chOff x="1762125" y="4470916"/>
            <a:chExt cx="15576103" cy="390525"/>
          </a:xfrm>
        </p:grpSpPr>
        <p:sp>
          <p:nvSpPr>
            <p:cNvPr id="17" name="Text 15"/>
            <p:cNvSpPr/>
            <p:nvPr/>
          </p:nvSpPr>
          <p:spPr>
            <a:xfrm>
              <a:off x="1762125" y="44709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ロール別アカウント管理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210895" y="44709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本部で部門・ユーザーを動的に追加できる管理画面。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691616" y="44709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権限境界の運用化。組織変更に追従。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1" name="Shape 19"/>
          <p:cNvSpPr/>
          <p:nvPr/>
        </p:nvSpPr>
        <p:spPr>
          <a:xfrm>
            <a:off x="923925" y="5642491"/>
            <a:ext cx="164401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57275" y="5137666"/>
            <a:ext cx="400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62125" y="4451866"/>
            <a:ext cx="42393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ja-JP" altLang="en-US" sz="2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予算ダッシュボード</a:t>
            </a:r>
            <a:br>
              <a:rPr lang="en-US" altLang="ja-JP" sz="2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予算実績の</a:t>
            </a:r>
            <a:r>
              <a:rPr lang="ja-JP" altLang="en-US" sz="2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管理強化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10895" y="4451866"/>
            <a:ext cx="6322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ja-JP" alt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予算ダッシュボード充実　</a:t>
            </a:r>
            <a:br>
              <a:rPr lang="en-US" altLang="ja-JP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工数管理　</a:t>
            </a: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/ 費目別集計を追加/ </a:t>
            </a:r>
            <a:r>
              <a:rPr lang="ja-JP" alt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進捗管理と連動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2510641" y="4299466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691616" y="4451866"/>
            <a:ext cx="46466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履歴と分析に耐える構造へ。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23925" y="6309241"/>
            <a:ext cx="164401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57275" y="5804416"/>
            <a:ext cx="400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762125" y="5118616"/>
            <a:ext cx="42393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アラート通知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10895" y="5118616"/>
            <a:ext cx="6322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 </a:t>
            </a:r>
            <a:r>
              <a:rPr lang="en-US" altLang="ja-JP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70</a:t>
            </a: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 / 100% 超過、期限滞留を自動検知。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2510641" y="4966216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691616" y="5118616"/>
            <a:ext cx="46466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早期に対策できる。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23925" y="6975991"/>
            <a:ext cx="164401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57275" y="6471166"/>
            <a:ext cx="400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23925" y="7642788"/>
            <a:ext cx="16440150" cy="9431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57275" y="7137916"/>
            <a:ext cx="400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758400" y="6471163"/>
            <a:ext cx="42393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見積書エクスポート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07170" y="6471163"/>
            <a:ext cx="6322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案件・予算情報を PDF / Excel に出力。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506916" y="6318763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687891" y="6471163"/>
            <a:ext cx="46466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既存業務との接続 / 提出物に流用。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758400" y="7137913"/>
            <a:ext cx="42393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セキュリティ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07170" y="7137913"/>
            <a:ext cx="6322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URL 直打ちの閲覧・編集制限を Policy で厳格化。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2506916" y="6985513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687891" y="7137913"/>
            <a:ext cx="46466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権限外操作の遮断。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057275" y="7806599"/>
            <a:ext cx="400050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6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762125" y="5791052"/>
            <a:ext cx="4239333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タスク管理の可視化強化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210895" y="5791052"/>
            <a:ext cx="6322432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バーンダウン / ガント / S-02ダッシュボードの発展。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510641" y="7655519"/>
            <a:ext cx="9525" cy="650718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691616" y="5791052"/>
            <a:ext cx="4646612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進捗の傾向と先読みが可能に。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Shape 37">
            <a:extLst>
              <a:ext uri="{FF2B5EF4-FFF2-40B4-BE49-F238E27FC236}">
                <a16:creationId xmlns:a16="http://schemas.microsoft.com/office/drawing/2014/main" id="{7CEFBF71-CC17-D054-5581-4DF1306C5E02}"/>
              </a:ext>
            </a:extLst>
          </p:cNvPr>
          <p:cNvSpPr/>
          <p:nvPr/>
        </p:nvSpPr>
        <p:spPr>
          <a:xfrm>
            <a:off x="923925" y="8316950"/>
            <a:ext cx="16440150" cy="9431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10B653C8-3D4F-BF1F-9BED-1B44EE3C3D29}"/>
              </a:ext>
            </a:extLst>
          </p:cNvPr>
          <p:cNvSpPr/>
          <p:nvPr/>
        </p:nvSpPr>
        <p:spPr>
          <a:xfrm>
            <a:off x="1057275" y="8480761"/>
            <a:ext cx="400050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altLang="ja-JP" sz="32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7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B75BF3BF-363B-FA44-C65C-2CAF5AD74921}"/>
              </a:ext>
            </a:extLst>
          </p:cNvPr>
          <p:cNvSpPr/>
          <p:nvPr/>
        </p:nvSpPr>
        <p:spPr>
          <a:xfrm>
            <a:off x="1762125" y="8480761"/>
            <a:ext cx="4239333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PC</a:t>
            </a:r>
            <a:r>
              <a:rPr lang="ja-JP" alt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・タブレット対応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45">
            <a:extLst>
              <a:ext uri="{FF2B5EF4-FFF2-40B4-BE49-F238E27FC236}">
                <a16:creationId xmlns:a16="http://schemas.microsoft.com/office/drawing/2014/main" id="{E5747D76-0D6E-25EB-8517-9927BC7FAEE7}"/>
              </a:ext>
            </a:extLst>
          </p:cNvPr>
          <p:cNvSpPr/>
          <p:nvPr/>
        </p:nvSpPr>
        <p:spPr>
          <a:xfrm>
            <a:off x="6210895" y="8480761"/>
            <a:ext cx="6322432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ハンバーガーメニュー</a:t>
            </a:r>
            <a:r>
              <a:rPr lang="en-US" altLang="ja-JP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/</a:t>
            </a:r>
            <a:r>
              <a:rPr lang="ja-JP" altLang="en-US" sz="2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レスポンシブ対応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46">
            <a:extLst>
              <a:ext uri="{FF2B5EF4-FFF2-40B4-BE49-F238E27FC236}">
                <a16:creationId xmlns:a16="http://schemas.microsoft.com/office/drawing/2014/main" id="{CC0BBA72-64AE-FD32-A5D8-6E7B465A9203}"/>
              </a:ext>
            </a:extLst>
          </p:cNvPr>
          <p:cNvSpPr/>
          <p:nvPr/>
        </p:nvSpPr>
        <p:spPr>
          <a:xfrm>
            <a:off x="12510641" y="8329681"/>
            <a:ext cx="9525" cy="650718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Text 47">
            <a:extLst>
              <a:ext uri="{FF2B5EF4-FFF2-40B4-BE49-F238E27FC236}">
                <a16:creationId xmlns:a16="http://schemas.microsoft.com/office/drawing/2014/main" id="{8D54DDBE-4E48-E045-A5DD-2321F6C1D2B9}"/>
              </a:ext>
            </a:extLst>
          </p:cNvPr>
          <p:cNvSpPr/>
          <p:nvPr/>
        </p:nvSpPr>
        <p:spPr>
          <a:xfrm>
            <a:off x="12691616" y="8480761"/>
            <a:ext cx="4646612" cy="3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2200">
                <a:latin typeface="Meiryo UI" panose="020B0604030504040204" pitchFamily="50" charset="-128"/>
                <a:ea typeface="Meiryo UI" panose="020B0604030504040204" pitchFamily="50" charset="-128"/>
              </a:rPr>
              <a:t>利便性向上</a:t>
            </a:r>
            <a:endParaRPr 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CC6E02D8-74D8-43B1-FA43-A5862FCE03A8}"/>
              </a:ext>
            </a:extLst>
          </p:cNvPr>
          <p:cNvSpPr/>
          <p:nvPr/>
        </p:nvSpPr>
        <p:spPr>
          <a:xfrm rot="20550121">
            <a:off x="58291" y="3403778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sp>
        <p:nvSpPr>
          <p:cNvPr id="61" name="Shape 35">
            <a:extLst>
              <a:ext uri="{FF2B5EF4-FFF2-40B4-BE49-F238E27FC236}">
                <a16:creationId xmlns:a16="http://schemas.microsoft.com/office/drawing/2014/main" id="{27657585-B951-33CB-E4A8-0AA3CE491C0E}"/>
              </a:ext>
            </a:extLst>
          </p:cNvPr>
          <p:cNvSpPr/>
          <p:nvPr/>
        </p:nvSpPr>
        <p:spPr>
          <a:xfrm>
            <a:off x="12528564" y="5623441"/>
            <a:ext cx="9525" cy="6572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COLLABORATION · 05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5411" y="1975543"/>
            <a:ext cx="16130954" cy="86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「判断は自分、 実装はAI」の線引き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457474"/>
            <a:ext cx="5494020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09675" y="3392686"/>
            <a:ext cx="571500" cy="571500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私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52625" y="3421261"/>
            <a:ext cx="2294037" cy="45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HUMAN · OWNER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52625" y="3531750"/>
            <a:ext cx="2294036" cy="552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967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RESPONSIBILITIES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9542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b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優先順位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</a:t>
            </a:r>
            <a:b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最終責任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9542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9542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95425" y="58215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2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392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347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スコープ・要件・受け入れの最終判断は人が行う。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8965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917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84925" y="3392686"/>
            <a:ext cx="571500" cy="5715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4682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27875" y="3421260"/>
            <a:ext cx="2396134" cy="225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STRATEGY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27875" y="3516510"/>
            <a:ext cx="29146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Claude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8492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7067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設計整理</a:t>
            </a:r>
            <a:b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仕様の言語化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比較検討</a:t>
            </a:r>
            <a:b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自動テスト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7067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7067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917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9917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0872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複雑な意思決定を構造化し、判断のための叩き台を作る。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064901" y="3116461"/>
            <a:ext cx="5308550" cy="458152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2074426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360176" y="3392686"/>
            <a:ext cx="571500" cy="57150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322076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⌘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103126" y="3421261"/>
            <a:ext cx="3660874" cy="27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IMPLEMENTATION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103126" y="3516510"/>
            <a:ext cx="247215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Cursor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360176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2645926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</a:t>
            </a:r>
            <a:b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差分修正</a:t>
            </a:r>
            <a:b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テスト補助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645926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645926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074426" y="6956385"/>
            <a:ext cx="5289500" cy="1046401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2074426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283976" y="7090924"/>
            <a:ext cx="5029085" cy="36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仕様の正本に従って手を動かす。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生成コードはレビュー前提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14400" y="8289374"/>
            <a:ext cx="16459200" cy="1120379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14399" y="8289374"/>
            <a:ext cx="2786955" cy="112037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81099" y="8460824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自分で</a:t>
            </a:r>
            <a:r>
              <a:rPr lang="en-US" altLang="ja-JP" sz="28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、残りは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AI 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へ任せる。AI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altLang="ja-JP" sz="28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速度と品質を補助する道具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として運用する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479602" y="8460824"/>
            <a:ext cx="4953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898702" y="8498924"/>
            <a:ext cx="27462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564957" y="8460824"/>
            <a:ext cx="2590800" cy="60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079557" y="8498924"/>
            <a:ext cx="17463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94710812-833E-F8E2-58D4-24B110C1D13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課題作成過程</a:t>
            </a:r>
            <a:endParaRPr lang="en-US" altLang="ja-JP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E2E800EE-B00E-D2E2-2372-68EAE7EA5E76}"/>
              </a:ext>
            </a:extLst>
          </p:cNvPr>
          <p:cNvSpPr/>
          <p:nvPr/>
        </p:nvSpPr>
        <p:spPr>
          <a:xfrm>
            <a:off x="1102995" y="1143893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ja-JP" sz="3200" b="1" err="1">
                <a:solidFill>
                  <a:srgbClr val="21242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AI協働の役割分担</a:t>
            </a:r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754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DESIGN-FIRST · 04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096518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設計優先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で、 開発品質を作る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794570"/>
            <a:ext cx="549402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5013722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753619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196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11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PHASE 0 投資時間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11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11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設計・環境構築・DB設計に集中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344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959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総時間に占める設計比率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959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959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100時間の上限のうち約3分の1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492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07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HTML モック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107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107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主要画面を実装前に画面イメージ化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525500" y="3045873"/>
            <a:ext cx="36888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画面ポリシー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525500" y="3516164"/>
            <a:ext cx="3688842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525500" y="4537472"/>
            <a:ext cx="36888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画面ごとの判断・前提を文書化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2525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ENTRY POINT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52525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525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 AI が最初に読む入口。進め方・約束事・参照順・禁止事項を集約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72063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10188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SOURCE OF TRUTH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10188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10188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スコープ・DB・URL・ロール・承認・通知の事実正本。仕様変更時に必ず更新。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229725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67850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DATA MODEL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467850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er_diagram.md · v7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467850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業務 10 テーブル + 将来拡張用カラム。Enum と外部キー方針を明示。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3387388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625513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TOKENS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625513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625513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配色・タイポ・余白・コンポーネント仕様を統一。</a:t>
            </a:r>
            <a:r>
              <a:rPr lang="en-US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ロゴ由来カラーを正本化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14400" y="7408949"/>
            <a:ext cx="16459200" cy="1758553"/>
          </a:xfrm>
          <a:prstGeom prst="rect">
            <a:avLst/>
          </a:prstGeom>
          <a:solidFill>
            <a:srgbClr val="2F2E6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11413" y="7618499"/>
            <a:ext cx="17484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83646" y="7580399"/>
            <a:ext cx="174664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54093" y="7618499"/>
            <a:ext cx="95962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D0E4A1-F6BA-CF08-990E-D7F3AE46D881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制作過程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53126F9-C300-9A4C-752B-8639227A51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352239" y="3463306"/>
            <a:ext cx="1493149" cy="864616"/>
          </a:xfrm>
          <a:prstGeom prst="rect">
            <a:avLst/>
          </a:prstGeom>
        </p:spPr>
      </p:pic>
      <p:sp>
        <p:nvSpPr>
          <p:cNvPr id="49" name="Text 58">
            <a:extLst>
              <a:ext uri="{FF2B5EF4-FFF2-40B4-BE49-F238E27FC236}">
                <a16:creationId xmlns:a16="http://schemas.microsoft.com/office/drawing/2014/main" id="{AE09FDFA-8DA1-3E71-6BBE-52A39AEB6A21}"/>
              </a:ext>
            </a:extLst>
          </p:cNvPr>
          <p:cNvSpPr/>
          <p:nvPr/>
        </p:nvSpPr>
        <p:spPr>
          <a:xfrm>
            <a:off x="2583754" y="7616833"/>
            <a:ext cx="15738586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</a:t>
            </a: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での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解像度が、</a:t>
            </a:r>
            <a:r>
              <a:rPr lang="en-US" altLang="ja-JP" sz="28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AI時代の開発品質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を決める。</a:t>
            </a:r>
            <a:b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判断の</a:t>
            </a: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過程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まで残せば、実装時に AI へ指示する回数が減り、時間内の完成度が上がる。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56">
            <a:extLst>
              <a:ext uri="{FF2B5EF4-FFF2-40B4-BE49-F238E27FC236}">
                <a16:creationId xmlns:a16="http://schemas.microsoft.com/office/drawing/2014/main" id="{B9525657-728F-125B-DF12-20845677D61D}"/>
              </a:ext>
            </a:extLst>
          </p:cNvPr>
          <p:cNvSpPr/>
          <p:nvPr/>
        </p:nvSpPr>
        <p:spPr>
          <a:xfrm>
            <a:off x="863943" y="7407758"/>
            <a:ext cx="1528750" cy="17502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57">
            <a:extLst>
              <a:ext uri="{FF2B5EF4-FFF2-40B4-BE49-F238E27FC236}">
                <a16:creationId xmlns:a16="http://schemas.microsoft.com/office/drawing/2014/main" id="{6CF364ED-47BF-B2B4-B7A3-16D18A6CF400}"/>
              </a:ext>
            </a:extLst>
          </p:cNvPr>
          <p:cNvSpPr/>
          <p:nvPr/>
        </p:nvSpPr>
        <p:spPr>
          <a:xfrm>
            <a:off x="1130643" y="8078404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Message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19F328D-DF03-7335-079A-B557507B8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192695" y="3227068"/>
            <a:ext cx="1493149" cy="864616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2F6506F7-9ABF-3051-DE06-CFE99DAB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676354" y="3625452"/>
            <a:ext cx="1493149" cy="864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 OPERATIONS · 06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427870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毎日スケジュールを見直し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判断を記載し、実装と設計のずれをなくす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078361"/>
            <a:ext cx="5613946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157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L1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72654" y="3326011"/>
            <a:ext cx="1173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· 設計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513748"/>
            <a:ext cx="525258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設計の正本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71575" y="4572298"/>
            <a:ext cx="5099596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011019"/>
            <a:ext cx="525258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実装前に必ず参照する仕様の事実。AI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と人の判断基準を揃える。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71575" y="4838998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76349" y="4934247"/>
            <a:ext cx="1763896" cy="24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7068" y="501128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進め方・約束事・参照順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71575" y="5438924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76349" y="5534173"/>
            <a:ext cx="4951073" cy="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7068" y="5657943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スコープ・DB・URL・権限・通知の正本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71575" y="6038850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76350" y="6134100"/>
            <a:ext cx="279692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components_spec.md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7068" y="6228550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共通部品の Props 仕様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71575" y="6638776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76350" y="6734026"/>
            <a:ext cx="250280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7068" y="685779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配色・トークン・デザインルール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37896" y="3078361"/>
            <a:ext cx="5614095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95071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L2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96150" y="3326011"/>
            <a:ext cx="1356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SCHEDULE · 日報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95071" y="3513748"/>
            <a:ext cx="525273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日次の実装・判断ログ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95071" y="4572298"/>
            <a:ext cx="5099745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95071" y="4011019"/>
            <a:ext cx="525273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提出済み部分は変更せず追記のみ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95071" y="4838998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99846" y="4934248"/>
            <a:ext cx="1190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daily_report.md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39153" y="5117009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1日の作業と判断（追記のみ）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95071" y="5438924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99846" y="5534174"/>
            <a:ext cx="19340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daily_technical_report.md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39153" y="5716935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技術観点の詳細ログ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995071" y="6038850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99846" y="6134100"/>
            <a:ext cx="14138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intern_schedule.md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39153" y="6316861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5週間の見積もり・チェックリスト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995071" y="6638776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99846" y="6734026"/>
            <a:ext cx="47797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implementation_schedule.md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39153" y="6916787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明日以降の着手順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2561540" y="3078361"/>
            <a:ext cx="4811911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281871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L3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3119795" y="3326011"/>
            <a:ext cx="14936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HANDOVER · 引継ぎ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818715" y="3513748"/>
            <a:ext cx="442648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セッション間の文脈引継ぎ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818715" y="4793754"/>
            <a:ext cx="429756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818715" y="4011019"/>
            <a:ext cx="44264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セッションをまたいでも文脈を再開できるよう、要約と次アクションを残す。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2818715" y="5060454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2923490" y="5155704"/>
            <a:ext cx="4088161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next_chat_handover.md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2862797" y="5338465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次セッション開始時の要約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2818715" y="5660380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2923490" y="5755630"/>
            <a:ext cx="16899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残課題リスト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2862797" y="5938391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未対応バグ・先送り判断を明示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85E44E18-CE3A-EC23-361F-B94D9DB4386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課題作成過程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46">
            <a:extLst>
              <a:ext uri="{FF2B5EF4-FFF2-40B4-BE49-F238E27FC236}">
                <a16:creationId xmlns:a16="http://schemas.microsoft.com/office/drawing/2014/main" id="{35C6764C-8150-7A97-2638-57E281360F4D}"/>
              </a:ext>
            </a:extLst>
          </p:cNvPr>
          <p:cNvSpPr/>
          <p:nvPr/>
        </p:nvSpPr>
        <p:spPr>
          <a:xfrm>
            <a:off x="914400" y="8289374"/>
            <a:ext cx="16459200" cy="13320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Shape 47">
            <a:extLst>
              <a:ext uri="{FF2B5EF4-FFF2-40B4-BE49-F238E27FC236}">
                <a16:creationId xmlns:a16="http://schemas.microsoft.com/office/drawing/2014/main" id="{47E89E1C-E621-A18D-6E36-9E758375C3DB}"/>
              </a:ext>
            </a:extLst>
          </p:cNvPr>
          <p:cNvSpPr/>
          <p:nvPr/>
        </p:nvSpPr>
        <p:spPr>
          <a:xfrm>
            <a:off x="914399" y="8289373"/>
            <a:ext cx="2786955" cy="1332000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386AB481-D0E7-201B-16E9-32316490B88E}"/>
              </a:ext>
            </a:extLst>
          </p:cNvPr>
          <p:cNvSpPr/>
          <p:nvPr/>
        </p:nvSpPr>
        <p:spPr>
          <a:xfrm>
            <a:off x="1181099" y="8647087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Text 49">
            <a:extLst>
              <a:ext uri="{FF2B5EF4-FFF2-40B4-BE49-F238E27FC236}">
                <a16:creationId xmlns:a16="http://schemas.microsoft.com/office/drawing/2014/main" id="{EC335547-D94D-A806-EB63-2796316A76C7}"/>
              </a:ext>
            </a:extLst>
          </p:cNvPr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>
              <a:defRPr/>
            </a:pP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28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28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も明文化し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日付、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</a:t>
            </a: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DB5BC20D-9EE3-BBEE-57A0-E23CC40EC33B}"/>
              </a:ext>
            </a:extLst>
          </p:cNvPr>
          <p:cNvGrpSpPr/>
          <p:nvPr/>
        </p:nvGrpSpPr>
        <p:grpSpPr>
          <a:xfrm>
            <a:off x="4876800" y="7989688"/>
            <a:ext cx="12617482" cy="912019"/>
            <a:chOff x="4876800" y="7989688"/>
            <a:chExt cx="12617482" cy="912019"/>
          </a:xfrm>
        </p:grpSpPr>
        <p:sp>
          <p:nvSpPr>
            <p:cNvPr id="74" name="Shape 52">
              <a:extLst>
                <a:ext uri="{FF2B5EF4-FFF2-40B4-BE49-F238E27FC236}">
                  <a16:creationId xmlns:a16="http://schemas.microsoft.com/office/drawing/2014/main" id="{8DB0A449-30F9-1510-2A73-FF412F55BFDD}"/>
                </a:ext>
              </a:extLst>
            </p:cNvPr>
            <p:cNvSpPr/>
            <p:nvPr/>
          </p:nvSpPr>
          <p:spPr>
            <a:xfrm>
              <a:off x="4876800" y="7989688"/>
              <a:ext cx="12496800" cy="91201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1" name="Shape 55">
              <a:extLst>
                <a:ext uri="{FF2B5EF4-FFF2-40B4-BE49-F238E27FC236}">
                  <a16:creationId xmlns:a16="http://schemas.microsoft.com/office/drawing/2014/main" id="{2B7F4561-472B-02EB-1552-E3B9D28E7F35}"/>
                </a:ext>
              </a:extLst>
            </p:cNvPr>
            <p:cNvSpPr/>
            <p:nvPr/>
          </p:nvSpPr>
          <p:spPr>
            <a:xfrm>
              <a:off x="4876800" y="7989688"/>
              <a:ext cx="38100" cy="912019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txBody>
            <a:bodyPr>
              <a:noAutofit/>
            </a:bodyPr>
            <a:lstStyle/>
            <a:p>
              <a:endParaRPr lang="ja-JP" altLang="en-US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3" name="Text 57">
              <a:extLst>
                <a:ext uri="{FF2B5EF4-FFF2-40B4-BE49-F238E27FC236}">
                  <a16:creationId xmlns:a16="http://schemas.microsoft.com/office/drawing/2014/main" id="{00370BF0-A075-77CA-8F49-DD9E34E1B028}"/>
                </a:ext>
              </a:extLst>
            </p:cNvPr>
            <p:cNvSpPr/>
            <p:nvPr/>
          </p:nvSpPr>
          <p:spPr>
            <a:xfrm>
              <a:off x="5124450" y="8170663"/>
              <a:ext cx="609600" cy="5881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100" b="1">
                  <a:solidFill>
                    <a:srgbClr val="C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04</a:t>
              </a:r>
              <a:endParaRPr lang="en-US" sz="21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4" name="Text 58">
              <a:extLst>
                <a:ext uri="{FF2B5EF4-FFF2-40B4-BE49-F238E27FC236}">
                  <a16:creationId xmlns:a16="http://schemas.microsoft.com/office/drawing/2014/main" id="{57939FA1-138A-3082-D99D-2B35C84409CA}"/>
                </a:ext>
              </a:extLst>
            </p:cNvPr>
            <p:cNvSpPr/>
            <p:nvPr/>
          </p:nvSpPr>
          <p:spPr>
            <a:xfrm>
              <a:off x="5829300" y="8170663"/>
              <a:ext cx="11412000" cy="3143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500" b="1" err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赤は最重要</a:t>
              </a:r>
              <a:r>
                <a:rPr lang="en-US" sz="15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/</a:t>
              </a:r>
              <a:r>
                <a:rPr lang="ja-JP" altLang="en-US" sz="15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アクション</a:t>
              </a:r>
              <a:r>
                <a:rPr lang="en-US" sz="1500" b="1" err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だけ</a:t>
              </a:r>
              <a:endParaRPr lang="en-US" sz="15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5" name="Text 59">
              <a:extLst>
                <a:ext uri="{FF2B5EF4-FFF2-40B4-BE49-F238E27FC236}">
                  <a16:creationId xmlns:a16="http://schemas.microsoft.com/office/drawing/2014/main" id="{14BC0B16-2AFB-2B3E-7639-C65632596763}"/>
                </a:ext>
              </a:extLst>
            </p:cNvPr>
            <p:cNvSpPr/>
            <p:nvPr/>
          </p:nvSpPr>
          <p:spPr>
            <a:xfrm>
              <a:off x="5829300" y="8484988"/>
              <a:ext cx="11664982" cy="2738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65000"/>
                </a:lnSpc>
                <a:buNone/>
              </a:pPr>
              <a:r>
                <a:rPr lang="en-US" sz="1125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jpt-red はリスク・CTA・最重要キーワードに限定。多用しない。通常のアクセントは amber / cyan で取る。</a:t>
              </a:r>
              <a:endParaRPr lang="en-US" sz="1125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77" name="Shape 36">
            <a:extLst>
              <a:ext uri="{FF2B5EF4-FFF2-40B4-BE49-F238E27FC236}">
                <a16:creationId xmlns:a16="http://schemas.microsoft.com/office/drawing/2014/main" id="{1BC8D57C-9888-0BC8-6005-618F3FFBC68B}"/>
              </a:ext>
            </a:extLst>
          </p:cNvPr>
          <p:cNvSpPr/>
          <p:nvPr/>
        </p:nvSpPr>
        <p:spPr>
          <a:xfrm>
            <a:off x="7423118" y="371475"/>
            <a:ext cx="9950482" cy="4120158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E8916F68-77E6-2EDB-FE6E-6B49947D1DA7}"/>
              </a:ext>
            </a:extLst>
          </p:cNvPr>
          <p:cNvSpPr/>
          <p:nvPr/>
        </p:nvSpPr>
        <p:spPr>
          <a:xfrm>
            <a:off x="8510778" y="903962"/>
            <a:ext cx="2667000" cy="246489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ADA2D452-7CAF-4593-D382-8678AF0F5D08}"/>
              </a:ext>
            </a:extLst>
          </p:cNvPr>
          <p:cNvSpPr/>
          <p:nvPr/>
        </p:nvSpPr>
        <p:spPr>
          <a:xfrm>
            <a:off x="12561022" y="903962"/>
            <a:ext cx="2667000" cy="246489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F6304B97-D449-A573-CA50-7D6A7835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73" r="13281"/>
          <a:stretch>
            <a:fillRect/>
          </a:stretch>
        </p:blipFill>
        <p:spPr>
          <a:xfrm>
            <a:off x="8829793" y="1795145"/>
            <a:ext cx="2196465" cy="13553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POLICY · 00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1877" y="2223406"/>
            <a:ext cx="646802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プレゼン資料デザイン</a:t>
            </a:r>
            <a:br>
              <a:rPr lang="en-US" altLang="ja-JP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37222" y="3168253"/>
            <a:ext cx="8968078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ja-JP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JGC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</a:t>
            </a:r>
            <a:r>
              <a:rPr lang="en-US" altLang="ja-JP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HP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から</a:t>
            </a:r>
            <a:r>
              <a:rPr lang="en-US" altLang="ja-JP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4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red #E60013</a:t>
            </a:r>
            <a:r>
              <a:rPr lang="en-US" altLang="ja-JP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抽出。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70000"/>
              </a:lnSpc>
              <a:buNone/>
            </a:pP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HP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から</a:t>
            </a:r>
            <a:r>
              <a:rPr lang="en-US" sz="2400" b="1" err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</a:t>
            </a:r>
            <a:r>
              <a:rPr lang="en-US" sz="240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→</a:t>
            </a:r>
            <a:r>
              <a:rPr lang="en-US" sz="2400" b="1" err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blue</a:t>
            </a:r>
            <a:r>
              <a:rPr lang="en-US" sz="240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→</a:t>
            </a:r>
            <a:r>
              <a:rPr lang="en-US" sz="2400" b="1" err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indigo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のグラデーションと</a:t>
            </a:r>
            <a:r>
              <a:rPr lang="en-US" sz="2400" b="1" err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amber</a:t>
            </a:r>
            <a:r>
              <a:rPr lang="en-US" sz="240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を抽出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0350" y="1871345"/>
            <a:ext cx="1390352" cy="139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43983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カラ</a:t>
            </a:r>
            <a:r>
              <a:rPr lang="en-US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ー</a:t>
            </a:r>
            <a:r>
              <a:rPr lang="ja-JP" altLang="en-US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ガイド</a:t>
            </a: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46821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57275" y="47869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3525" y="48583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jpt-indigo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875280" y="48666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#2F2E6E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53298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57275" y="54346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33525" y="55060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jpt-blue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875280" y="55143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#0064A0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" y="59775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57275" y="60823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533525" y="61537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jpt-cyan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75280" y="61620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#14A0B4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14400" y="66252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57275" y="67300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33525" y="68014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jpt-amber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875280" y="68097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#E5A330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14400" y="72729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57275" y="73777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533525" y="74491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jpt-red ★CTA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5280" y="74574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#E60013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14400" y="79206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57275" y="80254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FAF8F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533525" y="80968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paper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875280" y="81051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#FAF8F3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14400" y="85683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057275" y="86731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5182A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533525" y="87445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ink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875280" y="87528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#15182A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876800" y="4243983"/>
            <a:ext cx="128717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ja-JP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</a:t>
            </a:r>
            <a:r>
              <a:rPr lang="en-US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つの原則</a:t>
            </a: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876800" y="4682133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876800" y="5584627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876800" y="468213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876800" y="4682133"/>
            <a:ext cx="38100" cy="912019"/>
          </a:xfrm>
          <a:prstGeom prst="rect">
            <a:avLst/>
          </a:prstGeom>
          <a:solidFill>
            <a:srgbClr val="0064A0"/>
          </a:solidFill>
          <a:ln>
            <a:solidFill>
              <a:srgbClr val="002E6E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7364075" y="4682133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124450" y="4863108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</a:t>
            </a:r>
            <a:endParaRPr lang="en-US" sz="2100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829300" y="4863108"/>
            <a:ext cx="11376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意味</a:t>
            </a:r>
            <a:r>
              <a:rPr 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は構造で表現する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829300" y="5177433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ロゴの「点を糸で繋ぐ」モチーフを、承認フローや「分断→一元化」の表現に転用。色は塗りより線・罫線で語る。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876800" y="5784652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4876800" y="6687145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876800" y="5784652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876800" y="5784652"/>
            <a:ext cx="38100" cy="912019"/>
          </a:xfrm>
          <a:prstGeom prst="rect">
            <a:avLst/>
          </a:prstGeom>
          <a:solidFill>
            <a:srgbClr val="0064A0"/>
          </a:solidFill>
          <a:ln>
            <a:solidFill>
              <a:srgbClr val="0064A0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0064A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17364075" y="5784652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124450" y="5965627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</a:t>
            </a:r>
            <a:endParaRPr lang="en-US" sz="2100">
              <a:solidFill>
                <a:srgbClr val="0064A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829300" y="5965627"/>
            <a:ext cx="11448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余白と大型数字で密度を制御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829300" y="6279952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1920×1080 / 8カラム / 余白80pxを基準。情報量の多いスライドでも、見出し・数字・本文の3階層で読み順を作る。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4876800" y="6887170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4876800" y="7789664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876800" y="6887170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4876800" y="6887170"/>
            <a:ext cx="38100" cy="912019"/>
          </a:xfrm>
          <a:prstGeom prst="rect">
            <a:avLst/>
          </a:prstGeom>
          <a:solidFill>
            <a:srgbClr val="14A0B4"/>
          </a:solidFill>
          <a:ln>
            <a:solidFill>
              <a:srgbClr val="14A0B4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14A0B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17364075" y="6887170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5124450" y="7068145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</a:t>
            </a:r>
            <a:endParaRPr lang="en-US" sz="2100">
              <a:solidFill>
                <a:srgbClr val="14A0B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829300" y="7068145"/>
            <a:ext cx="11412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altLang="ja-JP" sz="150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装飾より</a:t>
            </a:r>
            <a:r>
              <a:rPr lang="ja-JP" alt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階層構造</a:t>
            </a:r>
            <a:endParaRPr lang="en-US" altLang="ja-JP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5829300" y="7382470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5000"/>
              </a:lnSpc>
            </a:pPr>
            <a:r>
              <a:rPr lang="en-US" altLang="ja-JP" sz="1125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絵文字・無闇なグラデ・AI生成風アイコンを避ける。タイポ階層・罫線・カードで構造を見せ、提出物としての信頼感を担保</a:t>
            </a:r>
            <a:r>
              <a:rPr lang="en-US" altLang="ja-JP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4876800" y="889218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4876800" y="7989689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17364075" y="7989689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0F6652B5-3167-15DC-7F70-F024688EFAA1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5A33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altLang="ja-JP" sz="2400">
                <a:solidFill>
                  <a:schemeClr val="bg1"/>
                </a:solidFill>
              </a:rPr>
              <a:t> </a:t>
            </a:r>
            <a:r>
              <a:rPr lang="ja-JP" altLang="en-US" sz="2400">
                <a:solidFill>
                  <a:schemeClr val="bg1"/>
                </a:solidFill>
              </a:rPr>
              <a:t>附録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D7DC3961-5E1A-0AC9-B87A-8264212F4838}"/>
              </a:ext>
            </a:extLst>
          </p:cNvPr>
          <p:cNvSpPr/>
          <p:nvPr/>
        </p:nvSpPr>
        <p:spPr>
          <a:xfrm>
            <a:off x="8730853" y="970785"/>
            <a:ext cx="2394347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日揮ホールディングス様</a:t>
            </a:r>
            <a:r>
              <a:rPr lang="en-US" altLang="ja-JP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HP</a:t>
            </a: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より</a:t>
            </a:r>
            <a:endParaRPr 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2F7B0E80-CEA0-CED4-A0C6-8AC772ED887E}"/>
              </a:ext>
            </a:extLst>
          </p:cNvPr>
          <p:cNvSpPr/>
          <p:nvPr/>
        </p:nvSpPr>
        <p:spPr>
          <a:xfrm>
            <a:off x="12697348" y="970785"/>
            <a:ext cx="2394347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日揮パラレルテクノロジーズ様　</a:t>
            </a:r>
            <a:r>
              <a:rPr lang="en-US" altLang="ja-JP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HP</a:t>
            </a: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より</a:t>
            </a:r>
            <a:endParaRPr 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0A58E751-D028-0667-128A-CEEEDE4E7638}"/>
              </a:ext>
            </a:extLst>
          </p:cNvPr>
          <p:cNvSpPr/>
          <p:nvPr/>
        </p:nvSpPr>
        <p:spPr>
          <a:xfrm>
            <a:off x="7509944" y="513437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/>
              <a:t>参考</a:t>
            </a:r>
            <a:endParaRPr lang="en-US" sz="2000" b="1"/>
          </a:p>
        </p:txBody>
      </p:sp>
      <p:sp>
        <p:nvSpPr>
          <p:cNvPr id="79" name="Shape 53">
            <a:extLst>
              <a:ext uri="{FF2B5EF4-FFF2-40B4-BE49-F238E27FC236}">
                <a16:creationId xmlns:a16="http://schemas.microsoft.com/office/drawing/2014/main" id="{A29F5A78-2F80-791E-1810-89F00FB5CF55}"/>
              </a:ext>
            </a:extLst>
          </p:cNvPr>
          <p:cNvSpPr/>
          <p:nvPr/>
        </p:nvSpPr>
        <p:spPr>
          <a:xfrm>
            <a:off x="4876800" y="8892182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Shape 54">
            <a:extLst>
              <a:ext uri="{FF2B5EF4-FFF2-40B4-BE49-F238E27FC236}">
                <a16:creationId xmlns:a16="http://schemas.microsoft.com/office/drawing/2014/main" id="{D358833E-6914-E3EA-3CE3-B75A31D2FC71}"/>
              </a:ext>
            </a:extLst>
          </p:cNvPr>
          <p:cNvSpPr/>
          <p:nvPr/>
        </p:nvSpPr>
        <p:spPr>
          <a:xfrm>
            <a:off x="4876800" y="7989688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56">
            <a:extLst>
              <a:ext uri="{FF2B5EF4-FFF2-40B4-BE49-F238E27FC236}">
                <a16:creationId xmlns:a16="http://schemas.microsoft.com/office/drawing/2014/main" id="{895AD3F1-B601-B69F-BBEA-9248D19C441A}"/>
              </a:ext>
            </a:extLst>
          </p:cNvPr>
          <p:cNvSpPr/>
          <p:nvPr/>
        </p:nvSpPr>
        <p:spPr>
          <a:xfrm>
            <a:off x="17364075" y="7989688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6" name="Shape 60">
            <a:extLst>
              <a:ext uri="{FF2B5EF4-FFF2-40B4-BE49-F238E27FC236}">
                <a16:creationId xmlns:a16="http://schemas.microsoft.com/office/drawing/2014/main" id="{EA9A6C20-D830-D0F5-31ED-7FC6E31641DB}"/>
              </a:ext>
            </a:extLst>
          </p:cNvPr>
          <p:cNvSpPr/>
          <p:nvPr/>
        </p:nvSpPr>
        <p:spPr>
          <a:xfrm>
            <a:off x="4876800" y="9092207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7" name="Shape 61">
            <a:extLst>
              <a:ext uri="{FF2B5EF4-FFF2-40B4-BE49-F238E27FC236}">
                <a16:creationId xmlns:a16="http://schemas.microsoft.com/office/drawing/2014/main" id="{0845A2A5-6193-829A-6CC7-32CD257CC9D4}"/>
              </a:ext>
            </a:extLst>
          </p:cNvPr>
          <p:cNvSpPr/>
          <p:nvPr/>
        </p:nvSpPr>
        <p:spPr>
          <a:xfrm>
            <a:off x="4876800" y="9994701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8" name="Shape 62">
            <a:extLst>
              <a:ext uri="{FF2B5EF4-FFF2-40B4-BE49-F238E27FC236}">
                <a16:creationId xmlns:a16="http://schemas.microsoft.com/office/drawing/2014/main" id="{0EBB936A-4834-E154-CEF0-AE58F4FF9705}"/>
              </a:ext>
            </a:extLst>
          </p:cNvPr>
          <p:cNvSpPr/>
          <p:nvPr/>
        </p:nvSpPr>
        <p:spPr>
          <a:xfrm>
            <a:off x="4876800" y="9092207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9" name="Shape 63">
            <a:extLst>
              <a:ext uri="{FF2B5EF4-FFF2-40B4-BE49-F238E27FC236}">
                <a16:creationId xmlns:a16="http://schemas.microsoft.com/office/drawing/2014/main" id="{6723284D-4F9D-DED1-72D4-70544656916B}"/>
              </a:ext>
            </a:extLst>
          </p:cNvPr>
          <p:cNvSpPr/>
          <p:nvPr/>
        </p:nvSpPr>
        <p:spPr>
          <a:xfrm>
            <a:off x="4876800" y="9092207"/>
            <a:ext cx="38100" cy="9120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0" name="Shape 64">
            <a:extLst>
              <a:ext uri="{FF2B5EF4-FFF2-40B4-BE49-F238E27FC236}">
                <a16:creationId xmlns:a16="http://schemas.microsoft.com/office/drawing/2014/main" id="{3D7E3E15-AA47-4473-210C-45C40CF9D1E5}"/>
              </a:ext>
            </a:extLst>
          </p:cNvPr>
          <p:cNvSpPr/>
          <p:nvPr/>
        </p:nvSpPr>
        <p:spPr>
          <a:xfrm>
            <a:off x="17364075" y="9092207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1" name="Text 65">
            <a:extLst>
              <a:ext uri="{FF2B5EF4-FFF2-40B4-BE49-F238E27FC236}">
                <a16:creationId xmlns:a16="http://schemas.microsoft.com/office/drawing/2014/main" id="{F4574212-E9F7-AA64-0B59-3AFB6828A441}"/>
              </a:ext>
            </a:extLst>
          </p:cNvPr>
          <p:cNvSpPr/>
          <p:nvPr/>
        </p:nvSpPr>
        <p:spPr>
          <a:xfrm>
            <a:off x="5124450" y="9273182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05</a:t>
            </a:r>
            <a:endParaRPr lang="en-US" sz="2100">
              <a:solidFill>
                <a:srgbClr val="E5A33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2" name="Text 66">
            <a:extLst>
              <a:ext uri="{FF2B5EF4-FFF2-40B4-BE49-F238E27FC236}">
                <a16:creationId xmlns:a16="http://schemas.microsoft.com/office/drawing/2014/main" id="{C8EF3FC4-CEC8-471A-E354-9F9369BD0353}"/>
              </a:ext>
            </a:extLst>
          </p:cNvPr>
          <p:cNvSpPr/>
          <p:nvPr/>
        </p:nvSpPr>
        <p:spPr>
          <a:xfrm>
            <a:off x="5829300" y="9273182"/>
            <a:ext cx="11448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アンバーは、アクセントに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" name="Text 67">
            <a:extLst>
              <a:ext uri="{FF2B5EF4-FFF2-40B4-BE49-F238E27FC236}">
                <a16:creationId xmlns:a16="http://schemas.microsoft.com/office/drawing/2014/main" id="{C8AE427A-66BA-623A-4A6D-1DFDEDE5044F}"/>
              </a:ext>
            </a:extLst>
          </p:cNvPr>
          <p:cNvSpPr/>
          <p:nvPr/>
        </p:nvSpPr>
        <p:spPr>
          <a:xfrm>
            <a:off x="5829300" y="9587507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ja-JP" altLang="en-US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重要な情報の近くにアクセントとして配置すうｒ　遊び心を表現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6">
            <a:extLst>
              <a:ext uri="{FF2B5EF4-FFF2-40B4-BE49-F238E27FC236}">
                <a16:creationId xmlns:a16="http://schemas.microsoft.com/office/drawing/2014/main" id="{E693BF94-007A-F4CA-4E07-36E4E131FA0C}"/>
              </a:ext>
            </a:extLst>
          </p:cNvPr>
          <p:cNvSpPr/>
          <p:nvPr/>
        </p:nvSpPr>
        <p:spPr>
          <a:xfrm>
            <a:off x="914399" y="2604635"/>
            <a:ext cx="16668751" cy="3330613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0E8722D9-F423-613D-86E4-1D4D203FACB4}"/>
              </a:ext>
            </a:extLst>
          </p:cNvPr>
          <p:cNvGrpSpPr/>
          <p:nvPr/>
        </p:nvGrpSpPr>
        <p:grpSpPr>
          <a:xfrm>
            <a:off x="1123950" y="2832086"/>
            <a:ext cx="5328000" cy="2869435"/>
            <a:chOff x="1123950" y="3550538"/>
            <a:chExt cx="5328000" cy="2869435"/>
          </a:xfrm>
        </p:grpSpPr>
        <p:sp>
          <p:nvSpPr>
            <p:cNvPr id="16" name="Shape 14"/>
            <p:cNvSpPr/>
            <p:nvPr/>
          </p:nvSpPr>
          <p:spPr>
            <a:xfrm>
              <a:off x="1123950" y="3550538"/>
              <a:ext cx="5328000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9FEBFF61-3191-C48A-0BB5-99CE8A88CB0B}"/>
                </a:ext>
              </a:extLst>
            </p:cNvPr>
            <p:cNvGrpSpPr/>
            <p:nvPr/>
          </p:nvGrpSpPr>
          <p:grpSpPr>
            <a:xfrm>
              <a:off x="1419225" y="3826763"/>
              <a:ext cx="4898783" cy="2135386"/>
              <a:chOff x="1419225" y="3826763"/>
              <a:chExt cx="4898783" cy="2135386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1419225" y="3826763"/>
                <a:ext cx="4898783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1050" b="1" kern="0" spc="195">
                    <a:solidFill>
                      <a:srgbClr val="2F2E6E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LESSON 01</a:t>
                </a:r>
                <a:endParaRPr lang="en-US" sz="10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1419225" y="4845938"/>
                <a:ext cx="4898783" cy="38100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ja-JP" altLang="en-US" sz="2800" b="1">
                    <a:solidFill>
                      <a:srgbClr val="E60013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作る前に、使う人を理解する</a:t>
                </a:r>
                <a:endParaRPr lang="en-US" sz="2800" b="1">
                  <a:solidFill>
                    <a:srgbClr val="E60013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1419225" y="5436488"/>
                <a:ext cx="4898783" cy="5256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ja-JP" altLang="en-US" sz="2000">
                    <a:latin typeface="Meiryo UI" panose="020B0604030504040204" pitchFamily="50" charset="-128"/>
                    <a:ea typeface="Meiryo UI" panose="020B0604030504040204" pitchFamily="50" charset="-128"/>
                  </a:rPr>
                  <a:t>誰のためにどんな機能を提供するかを想像して、</a:t>
                </a:r>
                <a:br>
                  <a:rPr lang="en-US" altLang="ja-JP" sz="2000">
                    <a:latin typeface="Meiryo UI" panose="020B0604030504040204" pitchFamily="50" charset="-128"/>
                    <a:ea typeface="Meiryo UI" panose="020B0604030504040204" pitchFamily="50" charset="-128"/>
                  </a:rPr>
                </a:br>
                <a:r>
                  <a:rPr lang="ja-JP" altLang="en-US" sz="2000">
                    <a:latin typeface="Meiryo UI" panose="020B0604030504040204" pitchFamily="50" charset="-128"/>
                    <a:ea typeface="Meiryo UI" panose="020B0604030504040204" pitchFamily="50" charset="-128"/>
                  </a:rPr>
                  <a:t>必要な画面・権限・導線が明確になった。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46" name="Text 15">
                <a:extLst>
                  <a:ext uri="{FF2B5EF4-FFF2-40B4-BE49-F238E27FC236}">
                    <a16:creationId xmlns:a16="http://schemas.microsoft.com/office/drawing/2014/main" id="{98BAEBFB-5A7B-5C6B-A352-FF666E97A4A4}"/>
                  </a:ext>
                </a:extLst>
              </p:cNvPr>
              <p:cNvSpPr/>
              <p:nvPr/>
            </p:nvSpPr>
            <p:spPr>
              <a:xfrm>
                <a:off x="1419225" y="4250506"/>
                <a:ext cx="4898783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ja-JP" altLang="en-US" sz="2800" b="1" kern="0" spc="195">
                    <a:solidFill>
                      <a:srgbClr val="2F2E6E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業務理解</a:t>
                </a:r>
                <a:endParaRPr lang="en-US" sz="28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8F4F389A-1C8E-590F-73CF-003EB29155FE}"/>
              </a:ext>
            </a:extLst>
          </p:cNvPr>
          <p:cNvGrpSpPr/>
          <p:nvPr/>
        </p:nvGrpSpPr>
        <p:grpSpPr>
          <a:xfrm>
            <a:off x="6574012" y="2832086"/>
            <a:ext cx="5328000" cy="2869435"/>
            <a:chOff x="6680151" y="3550538"/>
            <a:chExt cx="5328000" cy="2869435"/>
          </a:xfrm>
        </p:grpSpPr>
        <p:sp>
          <p:nvSpPr>
            <p:cNvPr id="22" name="Shape 20"/>
            <p:cNvSpPr/>
            <p:nvPr/>
          </p:nvSpPr>
          <p:spPr>
            <a:xfrm>
              <a:off x="6680151" y="3550538"/>
              <a:ext cx="5328000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975425" y="3826763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95">
                  <a:solidFill>
                    <a:srgbClr val="0064A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LESSON 02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975425" y="4845938"/>
              <a:ext cx="4898783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スコープを切る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975425" y="5436488"/>
              <a:ext cx="4898783" cy="53518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60000"/>
                </a:lnSpc>
              </a:pPr>
              <a:r>
                <a:rPr lang="en-US" altLang="ja-JP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100</a:t>
              </a:r>
              <a:r>
                <a:rPr lang="ja-JP" altLang="en-US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時間内で必須機能を優先</a:t>
              </a:r>
              <a:br>
                <a:rPr lang="en-US" altLang="ja-JP" sz="2000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ja-JP" altLang="en-US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追加機能は</a:t>
              </a:r>
              <a:r>
                <a:rPr lang="en-US" altLang="ja-JP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MVP / NEXT</a:t>
              </a:r>
              <a:r>
                <a:rPr lang="ja-JP" altLang="en-US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に分けた。</a:t>
              </a:r>
              <a:endParaRPr lang="en-US" sz="20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Text 21">
              <a:extLst>
                <a:ext uri="{FF2B5EF4-FFF2-40B4-BE49-F238E27FC236}">
                  <a16:creationId xmlns:a16="http://schemas.microsoft.com/office/drawing/2014/main" id="{F8043214-3332-7657-1285-06AA87930CA4}"/>
                </a:ext>
              </a:extLst>
            </p:cNvPr>
            <p:cNvSpPr/>
            <p:nvPr/>
          </p:nvSpPr>
          <p:spPr>
            <a:xfrm>
              <a:off x="6975425" y="4250506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ja-JP" altLang="en-US" sz="2800" b="1" kern="0" spc="195">
                  <a:solidFill>
                    <a:srgbClr val="0064A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優先順位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C999F5A0-DAB6-B835-54DF-507B91ED115B}"/>
              </a:ext>
            </a:extLst>
          </p:cNvPr>
          <p:cNvGrpSpPr/>
          <p:nvPr/>
        </p:nvGrpSpPr>
        <p:grpSpPr>
          <a:xfrm>
            <a:off x="12024074" y="2832086"/>
            <a:ext cx="5328000" cy="2869435"/>
            <a:chOff x="12236351" y="3550538"/>
            <a:chExt cx="5328000" cy="2869435"/>
          </a:xfrm>
        </p:grpSpPr>
        <p:sp>
          <p:nvSpPr>
            <p:cNvPr id="28" name="Shape 26"/>
            <p:cNvSpPr/>
            <p:nvPr/>
          </p:nvSpPr>
          <p:spPr>
            <a:xfrm>
              <a:off x="12236351" y="3550538"/>
              <a:ext cx="5328000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2531626" y="3826763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95">
                  <a:solidFill>
                    <a:srgbClr val="14A0B4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LESSON 03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12531626" y="4845938"/>
              <a:ext cx="4898783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引継ぎを設計する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12531626" y="5436488"/>
              <a:ext cx="4898783" cy="5256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60000"/>
                </a:lnSpc>
                <a:buNone/>
              </a:pPr>
              <a:r>
                <a:rPr lang="ja-JP" altLang="en-US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仕様書・</a:t>
              </a:r>
              <a:r>
                <a:rPr lang="en-US" altLang="ja-JP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ER</a:t>
              </a:r>
              <a:r>
                <a:rPr lang="ja-JP" altLang="en-US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図・日報を残すことで、設計判断を説明できるようになった。自身の記録にもなった。</a:t>
              </a:r>
              <a:endParaRPr lang="en-US" sz="20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8" name="Text 27">
              <a:extLst>
                <a:ext uri="{FF2B5EF4-FFF2-40B4-BE49-F238E27FC236}">
                  <a16:creationId xmlns:a16="http://schemas.microsoft.com/office/drawing/2014/main" id="{1EC145BE-3D10-759F-3E0F-AE7B26D6CE3D}"/>
                </a:ext>
              </a:extLst>
            </p:cNvPr>
            <p:cNvSpPr/>
            <p:nvPr/>
          </p:nvSpPr>
          <p:spPr>
            <a:xfrm>
              <a:off x="12531626" y="4250506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ja-JP" altLang="en-US" sz="2800" b="1" kern="0" spc="195">
                  <a:solidFill>
                    <a:srgbClr val="14A0B4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説明責任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54" name="Text 6">
            <a:extLst>
              <a:ext uri="{FF2B5EF4-FFF2-40B4-BE49-F238E27FC236}">
                <a16:creationId xmlns:a16="http://schemas.microsoft.com/office/drawing/2014/main" id="{E4398CF2-9C20-5299-483B-8C3E87990025}"/>
              </a:ext>
            </a:extLst>
          </p:cNvPr>
          <p:cNvSpPr/>
          <p:nvPr/>
        </p:nvSpPr>
        <p:spPr>
          <a:xfrm>
            <a:off x="1145088" y="2407397"/>
            <a:ext cx="3531870" cy="507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ja-JP" sz="2000" b="1"/>
              <a:t>PoC</a:t>
            </a:r>
            <a:r>
              <a:rPr lang="ja-JP" altLang="en-US" sz="2000" b="1"/>
              <a:t>開発で学んだ</a:t>
            </a:r>
            <a:r>
              <a:rPr lang="en-US" altLang="ja-JP" sz="2000" b="1"/>
              <a:t>3</a:t>
            </a:r>
            <a:r>
              <a:rPr lang="ja-JP" altLang="en-US" sz="2000" b="1"/>
              <a:t>つのこと</a:t>
            </a:r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F37D8EB0-B711-102B-DAF3-FFD0236A165F}"/>
              </a:ext>
            </a:extLst>
          </p:cNvPr>
          <p:cNvSpPr/>
          <p:nvPr/>
        </p:nvSpPr>
        <p:spPr>
          <a:xfrm>
            <a:off x="914399" y="6662575"/>
            <a:ext cx="16668751" cy="286943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23950" y="6989212"/>
            <a:ext cx="8064000" cy="237134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9225" y="7055888"/>
            <a:ext cx="77603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うまくいったこと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19225" y="7455938"/>
            <a:ext cx="77603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ja-JP" alt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生活リズムを変えずにインターンに参加できた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19225" y="7848249"/>
            <a:ext cx="7760303" cy="588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いつも午前は、家事育児、就労移行支援事業所で１３時から１５時に訓練をし、</a:t>
            </a:r>
            <a:br>
              <a:rPr lang="en-US" altLang="ja-JP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その後家事、一通り終わって夜に自習というサイクル。同じサイクルでペースを守って</a:t>
            </a:r>
            <a:br>
              <a:rPr lang="en-US" altLang="ja-JP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インターンに参加し、就労のイメージを持てた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353550" y="6989212"/>
            <a:ext cx="8064000" cy="237134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3600" y="7027313"/>
            <a:ext cx="309371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! 想定外だったこと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53600" y="7455938"/>
            <a:ext cx="77603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altLang="ja-JP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GW</a:t>
            </a:r>
            <a:r>
              <a:rPr lang="ja-JP" alt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後に休み疲れ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53600" y="7848249"/>
            <a:ext cx="7760303" cy="112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おおむね安定して取り組むことができたが、</a:t>
            </a:r>
            <a:b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GW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には遠出をし、休み明けに風邪気味になった。スケジュールに余裕を持っていたことと、合計時間管理なので、他の日で調整できた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REFLECTION · 12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680210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ja-JP" sz="6600" b="1">
                <a:latin typeface="Meiryo UI" panose="020B0604030504040204" pitchFamily="50" charset="-128"/>
                <a:ea typeface="Meiryo UI" panose="020B0604030504040204" pitchFamily="50" charset="-128"/>
              </a:rPr>
              <a:t>PoC</a:t>
            </a:r>
            <a:r>
              <a:rPr lang="ja-JP" altLang="en-US" sz="6600" b="1">
                <a:latin typeface="Meiryo UI" panose="020B0604030504040204" pitchFamily="50" charset="-128"/>
                <a:ea typeface="Meiryo UI" panose="020B0604030504040204" pitchFamily="50" charset="-128"/>
              </a:rPr>
              <a:t>作成＆体調管理で、</a:t>
            </a:r>
            <a:r>
              <a:rPr lang="ja-JP" altLang="en-US" sz="66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働く自信</a:t>
            </a:r>
            <a:r>
              <a:rPr lang="ja-JP" altLang="en-US" sz="6600" b="1">
                <a:latin typeface="Meiryo UI" panose="020B0604030504040204" pitchFamily="50" charset="-128"/>
                <a:ea typeface="Meiryo UI" panose="020B0604030504040204" pitchFamily="50" charset="-128"/>
              </a:rPr>
              <a:t>が持てた</a:t>
            </a:r>
            <a:endParaRPr lang="en-US" sz="66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B53D176F-DE01-1C63-35F5-3A18F82EF77E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感想</a:t>
            </a:r>
            <a:endParaRPr lang="en-US" sz="32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1E96E8B9-22D6-D7C0-C58C-45DE3264D90D}"/>
              </a:ext>
            </a:extLst>
          </p:cNvPr>
          <p:cNvSpPr/>
          <p:nvPr/>
        </p:nvSpPr>
        <p:spPr>
          <a:xfrm>
            <a:off x="1145088" y="6465337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/>
              <a:t>体調管理の感想</a:t>
            </a:r>
            <a:endParaRPr lang="en-US" sz="2000" b="1"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E468163-38C0-B600-FA95-9FB545AF0E0E}"/>
              </a:ext>
            </a:extLst>
          </p:cNvPr>
          <p:cNvGrpSpPr/>
          <p:nvPr/>
        </p:nvGrpSpPr>
        <p:grpSpPr>
          <a:xfrm>
            <a:off x="914399" y="10388561"/>
            <a:ext cx="16668751" cy="3049016"/>
            <a:chOff x="914399" y="10388561"/>
            <a:chExt cx="16668751" cy="3049016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4804F5BF-E7BA-3893-E938-6D60E1562234}"/>
                </a:ext>
              </a:extLst>
            </p:cNvPr>
            <p:cNvGrpSpPr/>
            <p:nvPr/>
          </p:nvGrpSpPr>
          <p:grpSpPr>
            <a:xfrm>
              <a:off x="914399" y="10568142"/>
              <a:ext cx="16668751" cy="2869435"/>
              <a:chOff x="704849" y="9208203"/>
              <a:chExt cx="16668751" cy="2869435"/>
            </a:xfrm>
          </p:grpSpPr>
          <p:sp>
            <p:nvSpPr>
              <p:cNvPr id="20" name="Shape 6">
                <a:extLst>
                  <a:ext uri="{FF2B5EF4-FFF2-40B4-BE49-F238E27FC236}">
                    <a16:creationId xmlns:a16="http://schemas.microsoft.com/office/drawing/2014/main" id="{005F3220-8DFB-C89B-61E0-C10987F81D2A}"/>
                  </a:ext>
                </a:extLst>
              </p:cNvPr>
              <p:cNvSpPr/>
              <p:nvPr/>
            </p:nvSpPr>
            <p:spPr>
              <a:xfrm>
                <a:off x="704849" y="9208203"/>
                <a:ext cx="16668751" cy="286943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1" name="Shape 6">
                <a:extLst>
                  <a:ext uri="{FF2B5EF4-FFF2-40B4-BE49-F238E27FC236}">
                    <a16:creationId xmlns:a16="http://schemas.microsoft.com/office/drawing/2014/main" id="{52DEB602-8BCF-41D9-EAE0-CD3A0C402665}"/>
                  </a:ext>
                </a:extLst>
              </p:cNvPr>
              <p:cNvSpPr/>
              <p:nvPr/>
            </p:nvSpPr>
            <p:spPr>
              <a:xfrm>
                <a:off x="914400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6" name="Text 7">
                <a:extLst>
                  <a:ext uri="{FF2B5EF4-FFF2-40B4-BE49-F238E27FC236}">
                    <a16:creationId xmlns:a16="http://schemas.microsoft.com/office/drawing/2014/main" id="{DD6A0BD5-8FFE-7B41-BFB2-FA045E5E2F6E}"/>
                  </a:ext>
                </a:extLst>
              </p:cNvPr>
              <p:cNvSpPr/>
              <p:nvPr/>
            </p:nvSpPr>
            <p:spPr>
              <a:xfrm>
                <a:off x="1209675" y="9601516"/>
                <a:ext cx="7760303" cy="38100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>
                    <a:solidFill>
                      <a:srgbClr val="14A0B4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★ うまくいったこと</a:t>
                </a:r>
                <a:endParaRPr 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7" name="Text 8">
                <a:extLst>
                  <a:ext uri="{FF2B5EF4-FFF2-40B4-BE49-F238E27FC236}">
                    <a16:creationId xmlns:a16="http://schemas.microsoft.com/office/drawing/2014/main" id="{851D1B50-D58B-C250-38E2-411EE731B678}"/>
                  </a:ext>
                </a:extLst>
              </p:cNvPr>
              <p:cNvSpPr/>
              <p:nvPr/>
            </p:nvSpPr>
            <p:spPr>
              <a:xfrm>
                <a:off x="1209675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設計段階で画面イメージを作れた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2" name="Text 9">
                <a:extLst>
                  <a:ext uri="{FF2B5EF4-FFF2-40B4-BE49-F238E27FC236}">
                    <a16:creationId xmlns:a16="http://schemas.microsoft.com/office/drawing/2014/main" id="{4D63C1B9-2E4B-DE00-1EBC-A03E9D476427}"/>
                  </a:ext>
                </a:extLst>
              </p:cNvPr>
              <p:cNvSpPr/>
              <p:nvPr/>
            </p:nvSpPr>
            <p:spPr>
              <a:xfrm>
                <a:off x="1209675" y="10393877"/>
                <a:ext cx="7286143" cy="58846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を使った設計は初めてだったが、実装前にモックを並べたことで</a:t>
                </a: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、</a:t>
                </a:r>
                <a:b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への指示も具体的に行えた</a:t>
                </a: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「何を作るか」の合意形成が速かった。</a:t>
                </a:r>
                <a:endParaRPr lang="en-US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3" name="Shape 10">
                <a:extLst>
                  <a:ext uri="{FF2B5EF4-FFF2-40B4-BE49-F238E27FC236}">
                    <a16:creationId xmlns:a16="http://schemas.microsoft.com/office/drawing/2014/main" id="{C7328355-CDE6-37A5-6149-2DDD0C7B28A6}"/>
                  </a:ext>
                </a:extLst>
              </p:cNvPr>
              <p:cNvSpPr/>
              <p:nvPr/>
            </p:nvSpPr>
            <p:spPr>
              <a:xfrm>
                <a:off x="9248775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5" name="Text 11">
                <a:extLst>
                  <a:ext uri="{FF2B5EF4-FFF2-40B4-BE49-F238E27FC236}">
                    <a16:creationId xmlns:a16="http://schemas.microsoft.com/office/drawing/2014/main" id="{BD4BAD9E-1150-0E2C-89C5-70179B2985BA}"/>
                  </a:ext>
                </a:extLst>
              </p:cNvPr>
              <p:cNvSpPr/>
              <p:nvPr/>
            </p:nvSpPr>
            <p:spPr>
              <a:xfrm>
                <a:off x="9544050" y="9572941"/>
                <a:ext cx="3093719" cy="4286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>
                    <a:solidFill>
                      <a:srgbClr val="C686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! 想定外だったこと</a:t>
                </a:r>
                <a:endParaRPr 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6" name="Text 12">
                <a:extLst>
                  <a:ext uri="{FF2B5EF4-FFF2-40B4-BE49-F238E27FC236}">
                    <a16:creationId xmlns:a16="http://schemas.microsoft.com/office/drawing/2014/main" id="{4ED200B7-381F-FFE0-4D1D-455A0B5D7469}"/>
                  </a:ext>
                </a:extLst>
              </p:cNvPr>
              <p:cNvSpPr/>
              <p:nvPr/>
            </p:nvSpPr>
            <p:spPr>
              <a:xfrm>
                <a:off x="9544050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モック作成のトークン消費が大きい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7" name="Text 13">
                <a:extLst>
                  <a:ext uri="{FF2B5EF4-FFF2-40B4-BE49-F238E27FC236}">
                    <a16:creationId xmlns:a16="http://schemas.microsoft.com/office/drawing/2014/main" id="{25E9B68B-DB11-EF5A-8A66-E5FF7CFC859D}"/>
                  </a:ext>
                </a:extLst>
              </p:cNvPr>
              <p:cNvSpPr/>
              <p:nvPr/>
            </p:nvSpPr>
            <p:spPr>
              <a:xfrm>
                <a:off x="9544050" y="10393877"/>
                <a:ext cx="7760303" cy="112186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 sz="200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画面数を絞り、同じデザインを流用するなど、途中で運用ルールを調整した</a:t>
                </a:r>
                <a:r>
                  <a:rPr lang="en-US" sz="200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 sz="200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sz="200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のコストも設計対象になることを学んだ。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33F6F017-6A3E-3803-9889-D04DFC604E30}"/>
                </a:ext>
              </a:extLst>
            </p:cNvPr>
            <p:cNvSpPr/>
            <p:nvPr/>
          </p:nvSpPr>
          <p:spPr>
            <a:xfrm>
              <a:off x="1145088" y="10388561"/>
              <a:ext cx="353187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altLang="ja-JP" sz="2000" b="1"/>
                <a:t>AI</a:t>
              </a:r>
              <a:r>
                <a:rPr lang="ja-JP" altLang="en-US" sz="2000" b="1"/>
                <a:t>開発の感想</a:t>
              </a:r>
              <a:endParaRPr lang="en-US" sz="2000" b="1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2D0C04-37F9-490F-8850-BFFB021E2D2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e1e21be-e5de-49b7-bdf4-687c61e746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11269</TotalTime>
  <Words>2708</Words>
  <Application>Microsoft Office PowerPoint</Application>
  <PresentationFormat>ユーザー設定</PresentationFormat>
  <Paragraphs>502</Paragraphs>
  <Slides>17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Meiryo UI</vt:lpstr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rise190</cp:lastModifiedBy>
  <cp:revision>198</cp:revision>
  <cp:lastPrinted>2026-06-26T11:36:21Z</cp:lastPrinted>
  <dcterms:created xsi:type="dcterms:W3CDTF">2026-05-14T06:26:20Z</dcterms:created>
  <dcterms:modified xsi:type="dcterms:W3CDTF">2026-10-03T07:59:18Z</dcterms:modified>
</cp:coreProperties>
</file>