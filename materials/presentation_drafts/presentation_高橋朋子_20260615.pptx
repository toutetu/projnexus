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70" r:id="rId4"/>
    <p:sldId id="269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5" r:id="rId14"/>
    <p:sldId id="267" r:id="rId15"/>
    <p:sldId id="268" r:id="rId16"/>
    <p:sldId id="256" r:id="rId17"/>
  </p:sldIdLst>
  <p:sldSz cx="18288000" cy="10287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13"/>
    <a:srgbClr val="E5A330"/>
    <a:srgbClr val="14A0B4"/>
    <a:srgbClr val="0064A0"/>
    <a:srgbClr val="002E6E"/>
    <a:srgbClr val="FAF8F3"/>
    <a:srgbClr val="151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5" autoAdjust="0"/>
    <p:restoredTop sz="90720" autoAdjust="0"/>
  </p:normalViewPr>
  <p:slideViewPr>
    <p:cSldViewPr snapToGrid="0" snapToObjects="1">
      <p:cViewPr>
        <p:scale>
          <a:sx n="50" d="100"/>
          <a:sy n="50" d="100"/>
        </p:scale>
        <p:origin x="922" y="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0171"/>
    </p:cViewPr>
  </p:sorterViewPr>
  <p:notesViewPr>
    <p:cSldViewPr snapToGrid="0" snapToObjects="1">
      <p:cViewPr varScale="1">
        <p:scale>
          <a:sx n="53" d="100"/>
          <a:sy n="53" d="100"/>
        </p:scale>
        <p:origin x="3384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en-US" dirty="0"/>
              <a:t>課題</a:t>
            </a:r>
            <a:r>
              <a:rPr lang="en-US" altLang="ja-JP" dirty="0"/>
              <a:t>1</a:t>
            </a:r>
            <a:r>
              <a:rPr lang="ja-JP" altLang="en-US" dirty="0"/>
              <a:t>の必須要件である「申請・承認」「開発進捗管理」「予算管理」は、案件を中心に一気通貫で扱える形で実装しました。申請者は案件申請・進捗入力・予算実績入力、部門管理者は一次承認と自部門の進捗確認、本部管理者は最終承認と関連部門全体の進捗・予算確認を行えます。加えて、承認ステッパー、監査証跡、却下・再申請、自己承認防止、予算消費率の警告表示により、</a:t>
            </a:r>
            <a:r>
              <a:rPr lang="en-US" altLang="ja-JP" dirty="0"/>
              <a:t>PoC</a:t>
            </a:r>
            <a:r>
              <a:rPr lang="ja-JP" altLang="en-US" dirty="0"/>
              <a:t>としての運用性も高めました。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0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0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747B-13B3-1A46-972A-2ADADE57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7425B-3229-BCAC-8B3A-AD078254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0AB86-5E58-DE90-C860-5F787BB64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層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採用技術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|---|---|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バックエンド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PHP 8.2 + Laravel 11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認証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Breeze (Inertia + React)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権限管理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spatie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-permission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ユーザー複数ロール）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フロントエンド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React 18 + TypeScript + Inertia.js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スタイル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Tailwind CSS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UI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コンポーネント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shadcn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ui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+ </a:t>
            </a:r>
            <a:r>
              <a:rPr kumimoji="1" lang="en-US" altLang="ja-JP" sz="1200" b="0" kern="1200" dirty="0" err="1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lucide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-react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グラフ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Recharts 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データベース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MySQL 8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XAMPP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）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</a:p>
          <a:p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デプロイ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Cloud |</a:t>
            </a:r>
          </a:p>
          <a:p>
            <a:br>
              <a:rPr kumimoji="1" lang="en-US" altLang="ja-JP" sz="1200" b="0" kern="12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endParaRPr kumimoji="1" lang="en-US" altLang="ja-JP" sz="1200" b="0" kern="1200" dirty="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F674-DAD4-D756-D515-F46022CE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5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は機能網羅ではなく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ja-JP" sz="700" b="1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700" b="1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Excelに戻らない設計</a:t>
            </a:r>
            <a:r>
              <a:rPr lang="en-US" altLang="ja-JP" sz="700" b="1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を目標に置く。そのために誰が・何に困っていて・何があれば移行できるかを先に言語化した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に </a:t>
            </a:r>
            <a:r>
              <a:rPr lang="en-US" altLang="ja-JP" sz="700" b="1" dirty="0">
                <a:solidFill>
                  <a:srgbClr val="2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31時間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を投資。実装前に解像度を上げ、AIへの指示回数を減らして時間内の完成度を高める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altLang="ja-JP" sz="700" dirty="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を「速度と品質を補助する道具」と定義。自分で判断すべき部分と任せる部分を分けたことで、時間内の完成度を高めた</a:t>
            </a:r>
            <a:r>
              <a:rPr lang="en-US" altLang="ja-JP" sz="700" dirty="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も明文化し、AI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en-US" altLang="ja-JP" sz="1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画面数を増やすのではなく、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同じ画面で視点を切り替え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て導線を短く保つ。ロゴ由来のグラデで承認進捗を表現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設計判断の根拠を残しているため</a:t>
            </a:r>
            <a:r>
              <a:rPr lang="en-US" altLang="ja-JP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altLang="ja-JP" sz="1200" b="1" dirty="0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1200" b="1" dirty="0" err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なぜその実装にしたか</a:t>
            </a:r>
            <a:r>
              <a:rPr lang="en-US" altLang="ja-JP" sz="1200" b="1" dirty="0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altLang="ja-JP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入力画面の見やすさより、その後の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連絡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</a:t>
            </a:r>
            <a:r>
              <a:rPr lang="en-US" altLang="ja-JP" sz="12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がアプリだけで回るかを優先</a:t>
            </a:r>
            <a:r>
              <a:rPr lang="en-US" altLang="ja-JP" sz="12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【</a:t>
            </a:r>
            <a:r>
              <a:rPr lang="ja-JP" altLang="en-US" b="1" dirty="0"/>
              <a:t>カラーガイド：</a:t>
            </a:r>
            <a:r>
              <a:rPr lang="en-US" altLang="ja-JP" b="1" dirty="0"/>
              <a:t>RGB</a:t>
            </a:r>
            <a:r>
              <a:rPr lang="ja-JP" altLang="en-US" b="1" dirty="0"/>
              <a:t>指定</a:t>
            </a:r>
            <a:r>
              <a:rPr lang="en-US" altLang="ja-JP" b="1" dirty="0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-indigo</a:t>
            </a:r>
            <a:r>
              <a:rPr lang="ja-JP" altLang="en-US" b="1" dirty="0"/>
              <a:t>：</a:t>
            </a:r>
            <a:r>
              <a:rPr lang="en-US" altLang="ja-JP" b="1" dirty="0"/>
              <a:t>R47 / G46 / B110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-blue</a:t>
            </a:r>
            <a:r>
              <a:rPr lang="ja-JP" altLang="en-US" b="1" dirty="0"/>
              <a:t>：</a:t>
            </a:r>
            <a:r>
              <a:rPr lang="en-US" altLang="ja-JP" b="1" dirty="0"/>
              <a:t>R0 / G100 / B160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-cyan</a:t>
            </a:r>
            <a:r>
              <a:rPr lang="ja-JP" altLang="en-US" b="1" dirty="0"/>
              <a:t>：</a:t>
            </a:r>
            <a:r>
              <a:rPr lang="en-US" altLang="ja-JP" b="1" dirty="0"/>
              <a:t>R20 / G160 / B180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-amber</a:t>
            </a:r>
            <a:r>
              <a:rPr lang="ja-JP" altLang="en-US" b="1" dirty="0"/>
              <a:t>：</a:t>
            </a:r>
            <a:r>
              <a:rPr lang="en-US" altLang="ja-JP" b="1" dirty="0"/>
              <a:t>R229 / G163 / B48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 err="1"/>
              <a:t>jpt</a:t>
            </a:r>
            <a:r>
              <a:rPr lang="en-US" altLang="ja-JP" b="1" dirty="0"/>
              <a:t>-red</a:t>
            </a:r>
            <a:r>
              <a:rPr lang="ja-JP" altLang="en-US" b="1" dirty="0"/>
              <a:t>（</a:t>
            </a:r>
            <a:r>
              <a:rPr lang="en-US" altLang="ja-JP" b="1" dirty="0"/>
              <a:t>CTA</a:t>
            </a:r>
            <a:r>
              <a:rPr lang="ja-JP" altLang="en-US" b="1" dirty="0"/>
              <a:t>）：</a:t>
            </a:r>
            <a:r>
              <a:rPr lang="en-US" altLang="ja-JP" b="1" dirty="0"/>
              <a:t>R230 / G0 / B19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paper</a:t>
            </a:r>
            <a:r>
              <a:rPr lang="ja-JP" altLang="en-US" b="1" dirty="0"/>
              <a:t>：</a:t>
            </a:r>
            <a:r>
              <a:rPr lang="en-US" altLang="ja-JP" b="1" dirty="0"/>
              <a:t>R250 / G248 / B243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dirty="0"/>
              <a:t>ink</a:t>
            </a:r>
            <a:r>
              <a:rPr lang="ja-JP" altLang="en-US" b="1" dirty="0"/>
              <a:t>：</a:t>
            </a:r>
            <a:r>
              <a:rPr lang="en-US" altLang="ja-JP" b="1" dirty="0"/>
              <a:t>R21 / G24 / B42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5A330">
              <a:alpha val="10000"/>
            </a:srgbClr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0600" y="971550"/>
            <a:ext cx="48926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b="1" kern="0" spc="23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開発管理プロセス一元化アプリケーション · POC</a:t>
            </a:r>
            <a:endParaRPr lang="en-US" sz="12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0600" y="1585020"/>
            <a:ext cx="8892372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800" b="1" kern="0" spc="-276" dirty="0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Proj</a:t>
            </a:r>
            <a:r>
              <a:rPr lang="en-US" sz="13800" b="1" kern="0" spc="-276" dirty="0">
                <a:solidFill>
                  <a:srgbClr val="0064A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N</a:t>
            </a:r>
            <a:r>
              <a:rPr lang="en-US" sz="13800" b="1" kern="0" spc="-276" dirty="0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exus</a:t>
            </a:r>
            <a:r>
              <a:rPr lang="en-US" sz="13800" b="1" kern="0" spc="-276" dirty="0">
                <a:solidFill>
                  <a:srgbClr val="E5A33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13800" dirty="0"/>
          </a:p>
        </p:txBody>
      </p:sp>
      <p:sp>
        <p:nvSpPr>
          <p:cNvPr id="11" name="Shape 9"/>
          <p:cNvSpPr/>
          <p:nvPr/>
        </p:nvSpPr>
        <p:spPr>
          <a:xfrm>
            <a:off x="990600" y="8582025"/>
            <a:ext cx="863337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2641" y="7648575"/>
            <a:ext cx="27554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68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PRESENTED BY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53102" y="7608690"/>
            <a:ext cx="2308366" cy="66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高橋 朋子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53102" y="8058150"/>
            <a:ext cx="14589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Takahashi Tomoko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305633" y="4941689"/>
            <a:ext cx="7063829" cy="36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696158" y="5293694"/>
            <a:ext cx="6471263" cy="48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189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プロジェクト名の由来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696158" y="5733967"/>
            <a:ext cx="6471263" cy="943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255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= </a:t>
            </a:r>
            <a:r>
              <a:rPr 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Project</a:t>
            </a:r>
            <a:r>
              <a:rPr lang="ja-JP" altLang="en-US" sz="25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sz="255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 </a:t>
            </a:r>
            <a:r>
              <a:rPr lang="en-US" sz="25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</a:t>
            </a:r>
            <a:endParaRPr lang="en-US" sz="2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96158" y="6788699"/>
            <a:ext cx="6282779" cy="9514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696157" y="6990893"/>
            <a:ext cx="6471263" cy="1427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Nexus（ネクサス）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とは「すべてが繋がる中心点」を意味します。 申請者・部門管理者・本部管理者 — それぞれの視点を </a:t>
            </a: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ひとつの軸に繋ぎ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、プロジェクトを目標へと導く。それが </a:t>
            </a:r>
            <a:r>
              <a:rPr lang="en-US" sz="150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15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のコンセプトです。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677FEEC-872A-379B-5481-DA90C4981AA3}"/>
              </a:ext>
            </a:extLst>
          </p:cNvPr>
          <p:cNvGrpSpPr/>
          <p:nvPr/>
        </p:nvGrpSpPr>
        <p:grpSpPr>
          <a:xfrm>
            <a:off x="10233571" y="1219198"/>
            <a:ext cx="7063829" cy="5811659"/>
            <a:chOff x="990601" y="5590282"/>
            <a:chExt cx="7063829" cy="3515987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A5156A7B-AA25-7AEB-8BDC-BA3850662B5C}"/>
                </a:ext>
              </a:extLst>
            </p:cNvPr>
            <p:cNvGrpSpPr/>
            <p:nvPr/>
          </p:nvGrpSpPr>
          <p:grpSpPr>
            <a:xfrm>
              <a:off x="990601" y="5590282"/>
              <a:ext cx="7063829" cy="2038350"/>
              <a:chOff x="10233571" y="952500"/>
              <a:chExt cx="7063829" cy="2038350"/>
            </a:xfrm>
          </p:grpSpPr>
          <p:sp>
            <p:nvSpPr>
              <p:cNvPr id="7" name="Shape 15"/>
              <p:cNvSpPr/>
              <p:nvPr/>
            </p:nvSpPr>
            <p:spPr>
              <a:xfrm>
                <a:off x="10233571" y="952500"/>
                <a:ext cx="7063829" cy="2038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0" name="Text 16"/>
              <p:cNvSpPr/>
              <p:nvPr/>
            </p:nvSpPr>
            <p:spPr>
              <a:xfrm>
                <a:off x="12186196" y="1378744"/>
                <a:ext cx="2394347" cy="2238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975" kern="0" spc="176" dirty="0">
                    <a:solidFill>
                      <a:srgbClr val="6F7388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JPT INTERNSHIP CHALLENGE</a:t>
                </a:r>
                <a:endParaRPr lang="en-US" sz="975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5" name="Text 17"/>
              <p:cNvSpPr/>
              <p:nvPr/>
            </p:nvSpPr>
            <p:spPr>
              <a:xfrm>
                <a:off x="12290970" y="1630851"/>
                <a:ext cx="13335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日揮パラレル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8" name="Text 18"/>
              <p:cNvSpPr/>
              <p:nvPr/>
            </p:nvSpPr>
            <p:spPr>
              <a:xfrm>
                <a:off x="12290970" y="1945176"/>
                <a:ext cx="154305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テクノロジーズ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9" name="Text 19"/>
              <p:cNvSpPr/>
              <p:nvPr/>
            </p:nvSpPr>
            <p:spPr>
              <a:xfrm>
                <a:off x="12290970" y="2259501"/>
                <a:ext cx="17526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インターンシップ</a:t>
                </a:r>
                <a:endParaRPr lang="en-US" sz="165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3048000" y="7194000"/>
              <a:ext cx="4532226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>
                <a:buNone/>
              </a:pPr>
              <a:r>
                <a:rPr lang="en-US" kern="0" spc="144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2026.04.13 — 05.15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E3540B2F-E555-4397-1E83-2E5F69F74F74}"/>
                </a:ext>
              </a:extLst>
            </p:cNvPr>
            <p:cNvSpPr/>
            <p:nvPr/>
          </p:nvSpPr>
          <p:spPr>
            <a:xfrm>
              <a:off x="3782750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dirty="0" err="1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案件管理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90E33BDA-6E86-BB89-C5B4-4E212B5D7002}"/>
                </a:ext>
              </a:extLst>
            </p:cNvPr>
            <p:cNvSpPr/>
            <p:nvPr/>
          </p:nvSpPr>
          <p:spPr>
            <a:xfrm>
              <a:off x="5582828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dirty="0" err="1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接続点・中枢</a:t>
              </a:r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" name="楕円 4">
            <a:extLst>
              <a:ext uri="{FF2B5EF4-FFF2-40B4-BE49-F238E27FC236}">
                <a16:creationId xmlns:a16="http://schemas.microsoft.com/office/drawing/2014/main" id="{148B7858-99E0-B3C1-BF8B-E3BF912840DA}"/>
              </a:ext>
            </a:extLst>
          </p:cNvPr>
          <p:cNvSpPr/>
          <p:nvPr/>
        </p:nvSpPr>
        <p:spPr>
          <a:xfrm>
            <a:off x="10624096" y="2385293"/>
            <a:ext cx="720000" cy="720000"/>
          </a:xfrm>
          <a:prstGeom prst="ellipse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F4CE6C0-C361-0427-C65A-03AFF5E5A110}"/>
              </a:ext>
            </a:extLst>
          </p:cNvPr>
          <p:cNvSpPr/>
          <p:nvPr/>
        </p:nvSpPr>
        <p:spPr>
          <a:xfrm>
            <a:off x="10624096" y="3039962"/>
            <a:ext cx="720000" cy="720000"/>
          </a:xfrm>
          <a:prstGeom prst="ellipse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6DCB5B1-0C58-27B7-9E47-F81120FCE586}"/>
              </a:ext>
            </a:extLst>
          </p:cNvPr>
          <p:cNvSpPr/>
          <p:nvPr/>
        </p:nvSpPr>
        <p:spPr>
          <a:xfrm>
            <a:off x="10624096" y="3694632"/>
            <a:ext cx="720000" cy="720000"/>
          </a:xfrm>
          <a:prstGeom prst="ellips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DD715EF-00BF-8C60-EF9A-EC0BEB398A0D}"/>
              </a:ext>
            </a:extLst>
          </p:cNvPr>
          <p:cNvSpPr/>
          <p:nvPr/>
        </p:nvSpPr>
        <p:spPr>
          <a:xfrm>
            <a:off x="10624096" y="1585020"/>
            <a:ext cx="720000" cy="720000"/>
          </a:xfrm>
          <a:prstGeom prst="ellipse">
            <a:avLst/>
          </a:prstGeom>
          <a:solidFill>
            <a:srgbClr val="E5A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0">
            <a:extLst>
              <a:ext uri="{FF2B5EF4-FFF2-40B4-BE49-F238E27FC236}">
                <a16:creationId xmlns:a16="http://schemas.microsoft.com/office/drawing/2014/main" id="{B87E4554-9E33-06D1-34FE-21EF7697F519}"/>
              </a:ext>
            </a:extLst>
          </p:cNvPr>
          <p:cNvSpPr/>
          <p:nvPr/>
        </p:nvSpPr>
        <p:spPr>
          <a:xfrm>
            <a:off x="9076742" y="2930127"/>
            <a:ext cx="8754058" cy="5046369"/>
          </a:xfrm>
          <a:prstGeom prst="rect">
            <a:avLst/>
          </a:prstGeom>
          <a:solidFill>
            <a:srgbClr val="FFFFFF"/>
          </a:solidFill>
          <a:ln w="76200">
            <a:solidFill>
              <a:srgbClr val="C00000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プロダクト　概要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に分断された業務を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ひとつの画面体験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にまとめる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399" y="3135511"/>
            <a:ext cx="1476000" cy="432000"/>
          </a:xfrm>
          <a:prstGeom prst="roundRect">
            <a:avLst>
              <a:gd name="adj" fmla="val 50000"/>
            </a:avLst>
          </a:prstGeom>
          <a:solidFill>
            <a:srgbClr val="E9E6DC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0270" y="3194545"/>
            <a:ext cx="1224005" cy="334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216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BEFORE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33717" y="3181871"/>
            <a:ext cx="2385523" cy="499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216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3ツール分断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3782318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52525" y="3984129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3950" y="39936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24025" y="3926086"/>
            <a:ext cx="33919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申請システム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24025" y="4297561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承認状況の確認 / 申請フロー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" y="4994672"/>
            <a:ext cx="3727996" cy="9525"/>
          </a:xfrm>
          <a:prstGeom prst="lightningBolt">
            <a:avLst/>
          </a:prstGeom>
          <a:solidFill>
            <a:srgbClr val="C7C1A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73821" y="4766936"/>
            <a:ext cx="2013024" cy="581522"/>
          </a:xfrm>
          <a:prstGeom prst="star24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5336679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52525" y="5538490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3950" y="55480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XL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24025" y="5480447"/>
            <a:ext cx="71029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部門別 Excel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24025" y="5851922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タスク・進捗管理（部門ごとに様式バラバラ）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6549033"/>
            <a:ext cx="3727996" cy="9525"/>
          </a:xfrm>
          <a:prstGeom prst="rect">
            <a:avLst/>
          </a:prstGeom>
          <a:solidFill>
            <a:srgbClr val="C7C1A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4400" y="6891040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52525" y="7092851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23950" y="710237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¥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724025" y="7034808"/>
            <a:ext cx="71029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予算管理 Excel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724025" y="7406283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 / 実績 / 消費率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77300" y="594017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4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429750" y="3545086"/>
            <a:ext cx="79438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429749" y="3135510"/>
            <a:ext cx="1296000" cy="432000"/>
          </a:xfrm>
          <a:prstGeom prst="roundRect">
            <a:avLst>
              <a:gd name="adj" fmla="val 50000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44050" y="3173610"/>
            <a:ext cx="1181699" cy="39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216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AFTER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925191" y="3169226"/>
            <a:ext cx="38966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216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3本柱で統合 — </a:t>
            </a:r>
            <a:r>
              <a:rPr lang="en-US" sz="2000" b="1" kern="0" spc="216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</a:t>
            </a:r>
            <a:r>
              <a:rPr lang="en-US" sz="2000" b="1" kern="0" spc="216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429750" y="3707011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86925" y="4054673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391775" y="3926086"/>
            <a:ext cx="4740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391775" y="4316611"/>
            <a:ext cx="4740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 / 監査証跡 / 却下・再申請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5165586" y="4107061"/>
            <a:ext cx="1950839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270361" y="4164211"/>
            <a:ext cx="18174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S-03a · S-04 · S-05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429750" y="4916686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686925" y="5264348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391775" y="5135761"/>
            <a:ext cx="4740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開発管理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391775" y="5526286"/>
            <a:ext cx="4740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4値運用 / カンバン・一覧・メンバー別 / 履歴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5165586" y="5316736"/>
            <a:ext cx="1950839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5270361" y="5373886"/>
            <a:ext cx="18174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S-03b · S-10 · S-14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429750" y="6126361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686925" y="6474023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8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391775" y="6345436"/>
            <a:ext cx="540112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予算管理</a:t>
            </a:r>
            <a:endParaRPr lang="en-US" sz="1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0391775" y="6735961"/>
            <a:ext cx="54011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予算・実績 / 消費率 / 警告色のリアルタイム算出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5807035" y="6526411"/>
            <a:ext cx="1309390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5911810" y="6583561"/>
            <a:ext cx="1176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S-03c · S-11</a:t>
            </a: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14400" y="8564911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74961" y="8558867"/>
            <a:ext cx="1273671" cy="10867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81100" y="9025355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VALUE</a:t>
            </a:r>
            <a:endParaRPr lang="en-US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454771" y="8767408"/>
            <a:ext cx="13060561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ロール別に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「今やるべきこと」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を即把握し、部署を越えた情報連携を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自動化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する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521571" y="9159627"/>
            <a:ext cx="19621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407521" y="9197727"/>
            <a:ext cx="36692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969871" y="9159627"/>
            <a:ext cx="7048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598521" y="9197727"/>
            <a:ext cx="704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E4EE267B-BE95-6F4D-C9AF-B15C37AF8C7D}"/>
              </a:ext>
            </a:extLst>
          </p:cNvPr>
          <p:cNvSpPr/>
          <p:nvPr/>
        </p:nvSpPr>
        <p:spPr>
          <a:xfrm rot="5400000">
            <a:off x="5501154" y="4941641"/>
            <a:ext cx="4802885" cy="1266825"/>
          </a:xfrm>
          <a:prstGeom prst="triangl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ja-JP" altLang="en-US">
              <a:ln>
                <a:solidFill>
                  <a:schemeClr val="accent4"/>
                </a:solidFill>
              </a:ln>
              <a:solidFill>
                <a:schemeClr val="accent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BD85B9FB-790C-6299-6B38-061FEA89647F}"/>
              </a:ext>
            </a:extLst>
          </p:cNvPr>
          <p:cNvSpPr/>
          <p:nvPr/>
        </p:nvSpPr>
        <p:spPr>
          <a:xfrm>
            <a:off x="2565647" y="6363958"/>
            <a:ext cx="2013024" cy="581522"/>
          </a:xfrm>
          <a:prstGeom prst="star24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20E72FC-2BEE-C765-3322-AC23F2100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838" y="-1975991"/>
            <a:ext cx="1133475" cy="923925"/>
          </a:xfrm>
          <a:prstGeom prst="rect">
            <a:avLst/>
          </a:prstGeom>
        </p:spPr>
      </p:pic>
      <p:sp>
        <p:nvSpPr>
          <p:cNvPr id="5" name="Text 16">
            <a:extLst>
              <a:ext uri="{FF2B5EF4-FFF2-40B4-BE49-F238E27FC236}">
                <a16:creationId xmlns:a16="http://schemas.microsoft.com/office/drawing/2014/main" id="{5610CE0C-7D01-23FA-AC21-521583714637}"/>
              </a:ext>
            </a:extLst>
          </p:cNvPr>
          <p:cNvSpPr/>
          <p:nvPr/>
        </p:nvSpPr>
        <p:spPr>
          <a:xfrm rot="20884023">
            <a:off x="8574378" y="2497748"/>
            <a:ext cx="2013024" cy="5815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転記不要</a:t>
            </a:r>
            <a:endParaRPr lang="en-US" sz="975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A19A3B-466E-22A1-6477-07143BE31573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89007"/>
              </p:ext>
            </p:extLst>
          </p:nvPr>
        </p:nvGraphicFramePr>
        <p:xfrm>
          <a:off x="1028700" y="2131378"/>
          <a:ext cx="16344900" cy="7526971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984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4785029">
                  <a:extLst>
                    <a:ext uri="{9D8B030D-6E8A-4147-A177-3AD203B41FA5}">
                      <a16:colId xmlns:a16="http://schemas.microsoft.com/office/drawing/2014/main" val="2042908271"/>
                    </a:ext>
                  </a:extLst>
                </a:gridCol>
                <a:gridCol w="6301077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3118954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87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ロール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主な役割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できること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制限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申請者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案件を申請し、</a:t>
                      </a:r>
                      <a:br>
                        <a:rPr lang="en-US" altLang="ja-JP" sz="2800" dirty="0"/>
                      </a:br>
                      <a:r>
                        <a:rPr lang="ja-JP" altLang="en-US" sz="2800" dirty="0"/>
                        <a:t>進捗・予算を入力する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新規申請、下書き編集、取り戻し、再申請、自案件のタスク作成・予算実績入力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承認・却下は不可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部門管理者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自部門の案件を一次承認し、進捗を管理する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自部門の部門承認・却下、自部門タスクの作成・編集、予算実績入力、自分の案件申請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本部承認・他部門閲覧は不可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263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本部管理者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全社案件を最終承認し、</a:t>
                      </a:r>
                      <a:br>
                        <a:rPr lang="en-US" altLang="ja-JP" sz="2800" dirty="0"/>
                      </a:br>
                      <a:r>
                        <a:rPr lang="ja-JP" altLang="en-US" sz="2800" dirty="0"/>
                        <a:t>全体を俯瞰する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本部承認・却下、全部門・全案件の閲覧、進捗・予算状況の確認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案件申請、部門承認、タスク編集、予算入力は不可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01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A19A3B-466E-22A1-6477-07143BE31573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28372"/>
              </p:ext>
            </p:extLst>
          </p:nvPr>
        </p:nvGraphicFramePr>
        <p:xfrm>
          <a:off x="1028700" y="2131378"/>
          <a:ext cx="15773400" cy="667733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36042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0408920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200406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必須要件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実装した内容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状況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案件の申請・承認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下書き → 部門承認待ち → 本部承認待ち → 承認済の承認フローを実装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却下・再申請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却下案件は元案件を履歴として残し、新しい案件として再申請可能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 dirty="0"/>
                        <a:t>開発進捗管理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承認済案件にタスクを作成し、未着手・進行中・確認待ち・完了で管理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進捗の見える化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カンバン・メンバー別・一覧の</a:t>
                      </a:r>
                      <a:r>
                        <a:rPr lang="en-US" altLang="ja-JP" sz="2800" dirty="0"/>
                        <a:t>3</a:t>
                      </a:r>
                      <a:r>
                        <a:rPr lang="ja-JP" altLang="en-US" sz="2800" dirty="0"/>
                        <a:t>ビューでタスク状況を確認可能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予算管理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予算額・実績額・消費率を案件単位で管理し、消費率を色分け表示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ロール別制御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申請者・部門管理者・本部管理者で、操作範囲と閲覧範囲を分離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 dirty="0"/>
                        <a:t>実装済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35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8619-BC65-31E2-A30D-D35C3F17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6FA3F3-7DB1-1124-7B78-4754BF848570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6137A5-4FEA-576A-B30C-03B1CBB539F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0C0AA6-964B-76C3-7B81-4CD9FE73603F}"/>
              </a:ext>
            </a:extLst>
          </p:cNvPr>
          <p:cNvSpPr/>
          <p:nvPr/>
        </p:nvSpPr>
        <p:spPr>
          <a:xfrm>
            <a:off x="15534382" y="9772650"/>
            <a:ext cx="1839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/ プロダクト概要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A633C7-674D-45B4-B573-8B6EDFE8B355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技術スタック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45AD170B-12A0-B312-8186-CD6606969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016797"/>
              </p:ext>
            </p:extLst>
          </p:nvPr>
        </p:nvGraphicFramePr>
        <p:xfrm>
          <a:off x="1028700" y="2131378"/>
          <a:ext cx="16344900" cy="763851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988988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2355912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</a:tblGrid>
              <a:tr h="463777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層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採用技術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バックエンド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 8.2 + Laravel 11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認証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Laravel Breeze (Inertia + React)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権限管理 </a:t>
                      </a:r>
                      <a:endParaRPr lang="zh-TW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spatie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-permission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ユーザー複数ロール）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フロントエンド</a:t>
                      </a:r>
                      <a:endParaRPr lang="zh-TW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React 18 + TypeScript + Inertia.js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139311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スタイル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Tailwind CSS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 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コンポーネント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shadcn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/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 + </a:t>
                      </a:r>
                      <a:r>
                        <a:rPr kumimoji="1" lang="en-US" altLang="ja-JP" sz="2800" b="0" kern="1200" dirty="0" err="1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lucide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-react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グラフ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Recharts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622812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データベース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MySQL 8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XAMPP</a:t>
                      </a: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）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47827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デプロイ 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 Cloud</a:t>
                      </a:r>
                      <a:endParaRPr lang="ja-JP" altLang="en-US" sz="2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42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5">
            <a:extLst>
              <a:ext uri="{FF2B5EF4-FFF2-40B4-BE49-F238E27FC236}">
                <a16:creationId xmlns:a16="http://schemas.microsoft.com/office/drawing/2014/main" id="{641F3F3E-9C3C-AB92-2363-F0E30BAF03F0}"/>
              </a:ext>
            </a:extLst>
          </p:cNvPr>
          <p:cNvSpPr/>
          <p:nvPr/>
        </p:nvSpPr>
        <p:spPr>
          <a:xfrm>
            <a:off x="914400" y="8934237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UNDERSTANDING · 03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7300" y="2367094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3ロールの声から、 </a:t>
            </a:r>
            <a:r>
              <a:rPr lang="en-US" sz="3200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一元化に必要な条件を定義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308550" cy="2607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09675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09675" y="3430786"/>
            <a:ext cx="15049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本部管理者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32375" y="3392686"/>
            <a:ext cx="495300" cy="495300"/>
          </a:xfrm>
          <a:prstGeom prst="ellipse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94275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HQ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09675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全案件の </a:t>
            </a:r>
            <a:r>
              <a:rPr lang="en-US" sz="2250" b="1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 </a:t>
            </a:r>
            <a:r>
              <a:rPr lang="en-US" sz="2250" b="1" dirty="0" err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予算リスク</a:t>
            </a:r>
            <a:r>
              <a:rPr lang="en-US" sz="225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b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25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一覧で見たい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89650" y="3078361"/>
            <a:ext cx="5308550" cy="2607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84925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84925" y="3430786"/>
            <a:ext cx="15049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007626" y="3392686"/>
            <a:ext cx="495300" cy="495300"/>
          </a:xfrm>
          <a:prstGeom prst="ellipse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69526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DEPT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84925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84925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</a:t>
            </a:r>
            <a:r>
              <a:rPr lang="en-US" sz="225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を減らし、メンバーの状況を一目で把握したい。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064901" y="3078361"/>
            <a:ext cx="5308550" cy="25492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360176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60176" y="3430786"/>
            <a:ext cx="933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申請者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582876" y="3392686"/>
            <a:ext cx="495300" cy="495300"/>
          </a:xfrm>
          <a:prstGeom prst="ellipse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544776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USER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360176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60176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申請した案件が </a:t>
            </a:r>
            <a:r>
              <a:rPr lang="en-US" sz="225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今どの承認段階 </a:t>
            </a:r>
            <a:r>
              <a:rPr lang="en-US" sz="22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か分かると安心。</a:t>
            </a:r>
            <a:endParaRPr lang="en-US" sz="2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7249" y="5957600"/>
            <a:ext cx="16459200" cy="2890838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14400" y="8852307"/>
            <a:ext cx="164592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4875" y="5913844"/>
            <a:ext cx="164592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7364075" y="6915904"/>
            <a:ext cx="9525" cy="1945928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5899557"/>
            <a:ext cx="2017965" cy="29527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57300" y="7260143"/>
            <a:ext cx="1562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97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300144" y="6826753"/>
            <a:ext cx="1251327" cy="1444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立てた</a:t>
            </a:r>
            <a:br>
              <a:rPr lang="en-US" sz="2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6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52800" y="6194833"/>
            <a:ext cx="14020800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部署ごとに異なる Excel </a:t>
            </a:r>
            <a:r>
              <a:rPr lang="en-US" sz="3200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運用をアプリへ移行するには</a:t>
            </a:r>
            <a: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200" b="1" dirty="0" err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各部署のニーズを吸収できる多様な進捗管理機能</a:t>
            </a:r>
            <a:r>
              <a:rPr lang="en-US" sz="32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3200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が必要</a:t>
            </a:r>
            <a:br>
              <a:rPr lang="en-US" sz="32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3200" dirty="0" err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単機能の置き換えでは、結局</a:t>
            </a:r>
            <a:r>
              <a:rPr lang="en-US" altLang="ja-JP" sz="32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Excel </a:t>
            </a:r>
            <a:r>
              <a:rPr lang="en-US" altLang="ja-JP" sz="3200" dirty="0" err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に戻る</a:t>
            </a:r>
            <a:r>
              <a:rPr lang="en-US" altLang="ja-JP" sz="32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65000"/>
              </a:lnSpc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37618" y="9171730"/>
            <a:ext cx="17166978" cy="455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「管理項目」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運用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の違い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4000" b="1" u="sng" dirty="0" err="1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機能の選択肢</a:t>
            </a:r>
            <a:r>
              <a:rPr lang="en-US" sz="4000" b="1" u="sng" dirty="0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で吸収</a:t>
            </a:r>
            <a:r>
              <a:rPr lang="ja-JP" altLang="en-US" sz="4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</a:t>
            </a:r>
            <a:endParaRPr lang="en-US" sz="4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EDC2B8A-68B1-EB6C-9972-589285560430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E83F828-F16E-AC73-0BC0-788B4F8C4DDC}"/>
              </a:ext>
            </a:extLst>
          </p:cNvPr>
          <p:cNvSpPr/>
          <p:nvPr/>
        </p:nvSpPr>
        <p:spPr>
          <a:xfrm>
            <a:off x="914399" y="1146638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課題理解と</a:t>
            </a:r>
            <a:r>
              <a:rPr lang="ja-JP" altLang="en-US" sz="5400" b="1" kern="0" spc="-8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5400" dirty="0">
              <a:solidFill>
                <a:srgbClr val="E6001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754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DESIGN-FIRST · 04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329815" y="9772650"/>
            <a:ext cx="30437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課題1 工夫 / Phase 0 設計時間の投資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096518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設計優先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で、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開発品質を作る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794570"/>
            <a:ext cx="549402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5013722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753619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196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11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PHASE 0 投資時間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11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11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設計・環境構築・DB設計に集中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344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959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総時間に占める設計比率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959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959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100時間の上限のうち約3分の1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492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07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HTML モック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07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07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主要画面を実装前に画面イメージ化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525500" y="3045873"/>
            <a:ext cx="36888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画面ポリシー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525500" y="3516164"/>
            <a:ext cx="368884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 </a:t>
            </a:r>
            <a:r>
              <a:rPr lang="en-US" sz="2850" b="1" kern="0" spc="-288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</a:t>
            </a:r>
            <a:endParaRPr lang="en-US" sz="7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525500" y="4537472"/>
            <a:ext cx="36888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画面ごとの判断・前提を文書化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2525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ENTRY POINT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2525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525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 AI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が最初に読む入口。進め方・約束事・参照順・禁止事項を集約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72063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10188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SOURCE OF TRUTH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10188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10188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スコープ・DB・URL・ロール・承認・通知の事実正本。仕様変更時に必ず更新。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29725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67850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DATA MODEL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467850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er_diagram.md · v7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67850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業務 10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テーブル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+ 将来拡張用カラム。Enum と外部キー方針を明示。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387388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625513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TOKENS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625513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625513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配色・タイポ・余白・コンポーネント仕様を統一。</a:t>
            </a:r>
            <a:r>
              <a:rPr 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ロゴ由来カラーを正本化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14400" y="7408949"/>
            <a:ext cx="16459200" cy="1758553"/>
          </a:xfrm>
          <a:prstGeom prst="rect">
            <a:avLst/>
          </a:prstGeom>
          <a:solidFill>
            <a:srgbClr val="2F2E6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11413" y="7618499"/>
            <a:ext cx="17484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83646" y="7580399"/>
            <a:ext cx="174664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54093" y="7618499"/>
            <a:ext cx="95962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D0E4A1-F6BA-CF08-990E-D7F3AE46D881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53126F9-C300-9A4C-752B-8639227A5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352239" y="3463306"/>
            <a:ext cx="1493149" cy="864616"/>
          </a:xfrm>
          <a:prstGeom prst="rect">
            <a:avLst/>
          </a:prstGeom>
        </p:spPr>
      </p:pic>
      <p:sp>
        <p:nvSpPr>
          <p:cNvPr id="49" name="Text 58">
            <a:extLst>
              <a:ext uri="{FF2B5EF4-FFF2-40B4-BE49-F238E27FC236}">
                <a16:creationId xmlns:a16="http://schemas.microsoft.com/office/drawing/2014/main" id="{AE09FDFA-8DA1-3E71-6BBE-52A39AEB6A21}"/>
              </a:ext>
            </a:extLst>
          </p:cNvPr>
          <p:cNvSpPr/>
          <p:nvPr/>
        </p:nvSpPr>
        <p:spPr>
          <a:xfrm>
            <a:off x="2583754" y="7616833"/>
            <a:ext cx="15738586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設計の解像度が、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AI時代の開発品質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を決める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判断の仮定まで残せば、実装時に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へ指示する回数が減り、時間内の完成度が上がる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56">
            <a:extLst>
              <a:ext uri="{FF2B5EF4-FFF2-40B4-BE49-F238E27FC236}">
                <a16:creationId xmlns:a16="http://schemas.microsoft.com/office/drawing/2014/main" id="{B9525657-728F-125B-DF12-20845677D61D}"/>
              </a:ext>
            </a:extLst>
          </p:cNvPr>
          <p:cNvSpPr/>
          <p:nvPr/>
        </p:nvSpPr>
        <p:spPr>
          <a:xfrm>
            <a:off x="863943" y="7407758"/>
            <a:ext cx="1528750" cy="17502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57">
            <a:extLst>
              <a:ext uri="{FF2B5EF4-FFF2-40B4-BE49-F238E27FC236}">
                <a16:creationId xmlns:a16="http://schemas.microsoft.com/office/drawing/2014/main" id="{6CF364ED-47BF-B2B4-B7A3-16D18A6CF400}"/>
              </a:ext>
            </a:extLst>
          </p:cNvPr>
          <p:cNvSpPr/>
          <p:nvPr/>
        </p:nvSpPr>
        <p:spPr>
          <a:xfrm>
            <a:off x="1130643" y="8078404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Message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9F328D-DF03-7335-079A-B557507B8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192695" y="3227068"/>
            <a:ext cx="1493149" cy="864616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F6506F7-9ABF-3051-DE06-CFE99DAB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676354" y="3625452"/>
            <a:ext cx="1493149" cy="864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COLLABORATION · 05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5411" y="1975543"/>
            <a:ext cx="16130954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「判断は自分、 実装はAI」の線引きを明確化。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57474"/>
            <a:ext cx="5494020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09675" y="3392686"/>
            <a:ext cx="571500" cy="5715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私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52625" y="3421261"/>
            <a:ext cx="2294037" cy="45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HUMAN · OWNER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52625" y="3516510"/>
            <a:ext cx="2294036" cy="552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RESPONSIBILITIES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9542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優先順位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最終責任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9542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542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95425" y="58215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2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392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347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スコープ・要件・受け入れの最終判断は人が行う。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8965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917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84925" y="3392686"/>
            <a:ext cx="571500" cy="5715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4682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27875" y="3421260"/>
            <a:ext cx="2396134" cy="225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STRATEGY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27875" y="3516511"/>
            <a:ext cx="29146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Claude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92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7067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設計整理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仕様の言語化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比較検討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自動テスト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067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7067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917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9917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872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複雑な意思決定を構造化し、判断のための叩き台を作る。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064901" y="3116461"/>
            <a:ext cx="5308550" cy="458152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2074426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360176" y="3392686"/>
            <a:ext cx="571500" cy="57150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322076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⌘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103126" y="3421261"/>
            <a:ext cx="3660874" cy="27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IMPLEMENTATION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103126" y="3516511"/>
            <a:ext cx="24721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Cursor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360176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645926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</a:t>
            </a:r>
            <a:b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差分修正</a:t>
            </a:r>
            <a:br>
              <a:rPr lang="en-US" altLang="ja-JP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テスト補助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645926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645926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074426" y="6956385"/>
            <a:ext cx="5289500" cy="1046401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074426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283976" y="7090924"/>
            <a:ext cx="5029085" cy="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仕様の正本に従って手を動かす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生成コードはレビュー前提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" y="8289374"/>
            <a:ext cx="16459200" cy="1120379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14399" y="8289374"/>
            <a:ext cx="2786955" cy="112037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81099" y="8460824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自分で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、残りは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へ任せる。AI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速度と品質を補助する道具</a:t>
            </a:r>
            <a:r>
              <a:rPr lang="en-US" altLang="ja-JP" sz="2800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として運用する</a:t>
            </a:r>
            <a:r>
              <a:rPr lang="en-US" altLang="ja-JP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79602" y="8460824"/>
            <a:ext cx="4953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898702" y="8498924"/>
            <a:ext cx="27462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64957" y="8460824"/>
            <a:ext cx="2590800" cy="60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079557" y="8498924"/>
            <a:ext cx="17463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94710812-833E-F8E2-58D4-24B110C1D13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E2E800EE-B00E-D2E2-2372-68EAE7EA5E76}"/>
              </a:ext>
            </a:extLst>
          </p:cNvPr>
          <p:cNvSpPr/>
          <p:nvPr/>
        </p:nvSpPr>
        <p:spPr>
          <a:xfrm>
            <a:off x="1102995" y="1143893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3200" b="1" dirty="0" err="1">
                <a:solidFill>
                  <a:srgbClr val="2124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AI協働の役割分担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 OPERATIONS · 06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427870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毎日スケジュールを見直し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判断を記載し、実装と設計のずれをなくす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613946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157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72654" y="3326011"/>
            <a:ext cx="1173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· 設計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513748"/>
            <a:ext cx="525258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設計の正本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71575" y="4572298"/>
            <a:ext cx="5099596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011019"/>
            <a:ext cx="525258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実装前に必ず参照する仕様の事実。AI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と人の判断基準を揃える。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71575" y="4838998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76349" y="4934247"/>
            <a:ext cx="1763896" cy="24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7068" y="501128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進め方・約束事・参照順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71575" y="5438924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76349" y="5534173"/>
            <a:ext cx="4951073" cy="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7068" y="5657943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スコープ・DB・URL・権限・通知の正本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71575" y="6038850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6350" y="6134100"/>
            <a:ext cx="279692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components_spec.md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7068" y="6228550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共通部品の Props 仕様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71575" y="6638776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76350" y="6734026"/>
            <a:ext cx="250280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7068" y="685779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配色・トークン・デザインルール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37896" y="3078361"/>
            <a:ext cx="5614095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95071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L2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96150" y="3326011"/>
            <a:ext cx="1356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SCHEDULE · 日報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95071" y="3513748"/>
            <a:ext cx="525273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日次の実装・判断ログ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95071" y="4572298"/>
            <a:ext cx="5099745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95071" y="4011019"/>
            <a:ext cx="525273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 1 </a:t>
            </a: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提出済み部分は変更せず追記のみ</a:t>
            </a: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95071" y="4838998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99846" y="4934248"/>
            <a:ext cx="1190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daily_report.md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39153" y="5117009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1日の作業と判断（追記のみ）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95071" y="5438924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99846" y="5534174"/>
            <a:ext cx="19340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daily_technical_report.md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39153" y="5716935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技術観点の詳細ログ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95071" y="6038850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99846" y="6134100"/>
            <a:ext cx="1413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intern_schedule.md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39153" y="6316861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5週間の見積もり・チェックリスト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95071" y="6638776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99846" y="6734026"/>
            <a:ext cx="47797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implementation_schedule.md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39153" y="6916787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明日以降の着手順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561540" y="3078361"/>
            <a:ext cx="4811911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281871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119795" y="3326011"/>
            <a:ext cx="1493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HANDOVER · 引継ぎ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818715" y="3513748"/>
            <a:ext cx="44264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セッション間の文脈引継ぎ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818715" y="4793754"/>
            <a:ext cx="429756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818715" y="4011019"/>
            <a:ext cx="44264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セッションをまたいでも文脈を再開できるよう、要約と次アクションを残す。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2818715" y="5060454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923490" y="5155704"/>
            <a:ext cx="408816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next_chat_handover.md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862797" y="5338465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次セッション開始時の要約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818715" y="5660380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2923490" y="5755630"/>
            <a:ext cx="16899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残課題リスト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862797" y="5938391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未対応バグ・先送り判断を明示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85E44E18-CE3A-EC23-361F-B94D9DB4386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46">
            <a:extLst>
              <a:ext uri="{FF2B5EF4-FFF2-40B4-BE49-F238E27FC236}">
                <a16:creationId xmlns:a16="http://schemas.microsoft.com/office/drawing/2014/main" id="{35C6764C-8150-7A97-2638-57E281360F4D}"/>
              </a:ext>
            </a:extLst>
          </p:cNvPr>
          <p:cNvSpPr/>
          <p:nvPr/>
        </p:nvSpPr>
        <p:spPr>
          <a:xfrm>
            <a:off x="914400" y="8289374"/>
            <a:ext cx="16459200" cy="13118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47E89E1C-E621-A18D-6E36-9E758375C3DB}"/>
              </a:ext>
            </a:extLst>
          </p:cNvPr>
          <p:cNvSpPr/>
          <p:nvPr/>
        </p:nvSpPr>
        <p:spPr>
          <a:xfrm>
            <a:off x="914399" y="8289374"/>
            <a:ext cx="2786955" cy="1269717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386AB481-D0E7-201B-16E9-32316490B88E}"/>
              </a:ext>
            </a:extLst>
          </p:cNvPr>
          <p:cNvSpPr/>
          <p:nvPr/>
        </p:nvSpPr>
        <p:spPr>
          <a:xfrm>
            <a:off x="1181099" y="8647087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EC335547-D94D-A806-EB63-2796316A76C7}"/>
              </a:ext>
            </a:extLst>
          </p:cNvPr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>
              <a:defRPr/>
            </a:pP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28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28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日付、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</a:t>
            </a:r>
            <a:r>
              <a:rPr lang="en-US" altLang="ja-JP" sz="28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2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10">
            <a:extLst>
              <a:ext uri="{FF2B5EF4-FFF2-40B4-BE49-F238E27FC236}">
                <a16:creationId xmlns:a16="http://schemas.microsoft.com/office/drawing/2014/main" id="{DC6645BE-66E8-6540-FE5C-8E797A7FEE41}"/>
              </a:ext>
            </a:extLst>
          </p:cNvPr>
          <p:cNvSpPr/>
          <p:nvPr/>
        </p:nvSpPr>
        <p:spPr>
          <a:xfrm>
            <a:off x="6054452" y="8935606"/>
            <a:ext cx="10854849" cy="125900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326B62D1-B245-8353-59B1-8E8E4C01BAF4}"/>
              </a:ext>
            </a:extLst>
          </p:cNvPr>
          <p:cNvGrpSpPr/>
          <p:nvPr/>
        </p:nvGrpSpPr>
        <p:grpSpPr>
          <a:xfrm>
            <a:off x="10784869" y="9122155"/>
            <a:ext cx="5646746" cy="971550"/>
            <a:chOff x="10675294" y="8964960"/>
            <a:chExt cx="5646746" cy="971550"/>
          </a:xfrm>
        </p:grpSpPr>
        <p:sp>
          <p:nvSpPr>
            <p:cNvPr id="37" name="Shape 34"/>
            <p:cNvSpPr/>
            <p:nvPr/>
          </p:nvSpPr>
          <p:spPr>
            <a:xfrm>
              <a:off x="10675294" y="8964960"/>
              <a:ext cx="5646746" cy="9715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10875318" y="9107835"/>
              <a:ext cx="1736973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コーポレートカラー × 機能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6"/>
            <p:cNvSpPr/>
            <p:nvPr/>
          </p:nvSpPr>
          <p:spPr>
            <a:xfrm>
              <a:off x="10875318" y="9393585"/>
              <a:ext cx="2099370" cy="114300"/>
            </a:xfrm>
            <a:prstGeom prst="rect">
              <a:avLst/>
            </a:prstGeom>
            <a:solidFill>
              <a:srgbClr val="E60013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Shape 37"/>
            <p:cNvSpPr/>
            <p:nvPr/>
          </p:nvSpPr>
          <p:spPr>
            <a:xfrm>
              <a:off x="11843566" y="9393585"/>
              <a:ext cx="2099370" cy="114300"/>
            </a:xfrm>
            <a:prstGeom prst="rect">
              <a:avLst/>
            </a:prstGeom>
            <a:solidFill>
              <a:srgbClr val="14A0B4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Shape 38"/>
            <p:cNvSpPr/>
            <p:nvPr/>
          </p:nvSpPr>
          <p:spPr>
            <a:xfrm>
              <a:off x="12811814" y="9393585"/>
              <a:ext cx="2099370" cy="114300"/>
            </a:xfrm>
            <a:prstGeom prst="rect">
              <a:avLst/>
            </a:prstGeom>
            <a:solidFill>
              <a:srgbClr val="0064A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39"/>
            <p:cNvSpPr/>
            <p:nvPr/>
          </p:nvSpPr>
          <p:spPr>
            <a:xfrm>
              <a:off x="10875318" y="9612660"/>
              <a:ext cx="170304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アイコン + 色 + テキストの</a:t>
              </a:r>
              <a:endParaRPr lang="en-US" sz="11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12539216" y="9584085"/>
              <a:ext cx="718691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 点セット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1"/>
            <p:cNvSpPr/>
            <p:nvPr/>
          </p:nvSpPr>
          <p:spPr>
            <a:xfrm>
              <a:off x="13218616" y="9612660"/>
              <a:ext cx="194324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で識別し、色覚特性にも配慮。</a:t>
              </a:r>
              <a:endParaRPr lang="en-US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Shape 38">
              <a:extLst>
                <a:ext uri="{FF2B5EF4-FFF2-40B4-BE49-F238E27FC236}">
                  <a16:creationId xmlns:a16="http://schemas.microsoft.com/office/drawing/2014/main" id="{6AC18A27-0D85-75B9-2348-44C386575B96}"/>
                </a:ext>
              </a:extLst>
            </p:cNvPr>
            <p:cNvSpPr/>
            <p:nvPr/>
          </p:nvSpPr>
          <p:spPr>
            <a:xfrm>
              <a:off x="13780062" y="9393585"/>
              <a:ext cx="2099370" cy="114300"/>
            </a:xfrm>
            <a:prstGeom prst="rect">
              <a:avLst/>
            </a:prstGeom>
            <a:solidFill>
              <a:srgbClr val="002E6E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34B71D4A-8211-8881-9DF8-FF09DDD742EC}"/>
                </a:ext>
              </a:extLst>
            </p:cNvPr>
            <p:cNvSpPr/>
            <p:nvPr/>
          </p:nvSpPr>
          <p:spPr>
            <a:xfrm>
              <a:off x="14748310" y="9393585"/>
              <a:ext cx="1224000" cy="114300"/>
            </a:xfrm>
            <a:prstGeom prst="rect">
              <a:avLst/>
            </a:prstGeom>
            <a:solidFill>
              <a:srgbClr val="E5A33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18">
            <a:extLst>
              <a:ext uri="{FF2B5EF4-FFF2-40B4-BE49-F238E27FC236}">
                <a16:creationId xmlns:a16="http://schemas.microsoft.com/office/drawing/2014/main" id="{203498B1-D27E-FBBD-97E5-D910A517A521}"/>
              </a:ext>
            </a:extLst>
          </p:cNvPr>
          <p:cNvSpPr/>
          <p:nvPr/>
        </p:nvSpPr>
        <p:spPr>
          <a:xfrm>
            <a:off x="11588830" y="2896230"/>
            <a:ext cx="3096000" cy="595234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Shape 30">
            <a:extLst>
              <a:ext uri="{FF2B5EF4-FFF2-40B4-BE49-F238E27FC236}">
                <a16:creationId xmlns:a16="http://schemas.microsoft.com/office/drawing/2014/main" id="{B961B874-BD3D-43FB-7A2E-E6B3A7B8A8DB}"/>
              </a:ext>
            </a:extLst>
          </p:cNvPr>
          <p:cNvSpPr/>
          <p:nvPr/>
        </p:nvSpPr>
        <p:spPr>
          <a:xfrm>
            <a:off x="11633098" y="5445540"/>
            <a:ext cx="2933084" cy="33342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DAD121C1-A13F-74B5-FA79-D8D8CBF9868C}"/>
              </a:ext>
            </a:extLst>
          </p:cNvPr>
          <p:cNvSpPr/>
          <p:nvPr/>
        </p:nvSpPr>
        <p:spPr>
          <a:xfrm>
            <a:off x="6055336" y="5892242"/>
            <a:ext cx="5304597" cy="293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30">
            <a:extLst>
              <a:ext uri="{FF2B5EF4-FFF2-40B4-BE49-F238E27FC236}">
                <a16:creationId xmlns:a16="http://schemas.microsoft.com/office/drawing/2014/main" id="{0CF56EF4-8F16-314C-A6FD-71DA9C70F343}"/>
              </a:ext>
            </a:extLst>
          </p:cNvPr>
          <p:cNvSpPr/>
          <p:nvPr/>
        </p:nvSpPr>
        <p:spPr>
          <a:xfrm>
            <a:off x="6294279" y="7568716"/>
            <a:ext cx="3463328" cy="1175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41AB2CC1-85F6-4D52-3A06-BA6A8B4B7E0D}"/>
              </a:ext>
            </a:extLst>
          </p:cNvPr>
          <p:cNvSpPr/>
          <p:nvPr/>
        </p:nvSpPr>
        <p:spPr>
          <a:xfrm>
            <a:off x="6026308" y="2890636"/>
            <a:ext cx="5304597" cy="2863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31051FB1-BB34-726A-09E6-941E0E685450}"/>
              </a:ext>
            </a:extLst>
          </p:cNvPr>
          <p:cNvSpPr/>
          <p:nvPr/>
        </p:nvSpPr>
        <p:spPr>
          <a:xfrm>
            <a:off x="6116420" y="4648755"/>
            <a:ext cx="5081963" cy="99826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1" y="2890635"/>
            <a:ext cx="4846638" cy="637439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C1EC39D2-A755-4DC9-1E2E-82C811FA7D44}"/>
              </a:ext>
            </a:extLst>
          </p:cNvPr>
          <p:cNvSpPr/>
          <p:nvPr/>
        </p:nvSpPr>
        <p:spPr>
          <a:xfrm>
            <a:off x="1079003" y="8205820"/>
            <a:ext cx="3680566" cy="821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3592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CRAFT · 07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71441" y="2330132"/>
            <a:ext cx="2489512" cy="25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3545102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同じ画面で視点を切替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現在地と次アクションを可視化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38424"/>
            <a:ext cx="5494020" cy="1125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475" y="3090661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 / APPROVAL STEPPER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79003" y="5352914"/>
            <a:ext cx="4565958" cy="273952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77232" y="5162413"/>
            <a:ext cx="65655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62653" y="9008752"/>
            <a:ext cx="6565538" cy="460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 </a:t>
            </a:r>
            <a:r>
              <a:rPr lang="en-US" sz="16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 → blue → indigo </a:t>
            </a:r>
            <a:br>
              <a:rPr lang="en-US" sz="1600" b="1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グラデーションを進行表現に転用</a:t>
            </a: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色覚特性に配慮してアイコン+テキストも併用</a:t>
            </a:r>
            <a:r>
              <a:rPr lang="en-US" sz="16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3919FC-E5C0-D7E3-A176-91CDBFF6ED2B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2EFA5C7-BD2C-CEBF-999B-D26D3A23224E}"/>
              </a:ext>
            </a:extLst>
          </p:cNvPr>
          <p:cNvSpPr/>
          <p:nvPr/>
        </p:nvSpPr>
        <p:spPr>
          <a:xfrm rot="20207916">
            <a:off x="5927459" y="8767247"/>
            <a:ext cx="1093387" cy="556941"/>
          </a:xfrm>
          <a:prstGeom prst="rightArrow">
            <a:avLst>
              <a:gd name="adj1" fmla="val 69505"/>
              <a:gd name="adj2" fmla="val 59069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621AAFDD-6B96-4B1C-EDEB-4C115EB9B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4" b="7919"/>
          <a:stretch>
            <a:fillRect/>
          </a:stretch>
        </p:blipFill>
        <p:spPr>
          <a:xfrm>
            <a:off x="1209763" y="5427781"/>
            <a:ext cx="4258118" cy="2492919"/>
          </a:xfrm>
          <a:prstGeom prst="rect">
            <a:avLst/>
          </a:prstGeom>
        </p:spPr>
      </p:pic>
      <p:sp>
        <p:nvSpPr>
          <p:cNvPr id="52" name="Text 8">
            <a:extLst>
              <a:ext uri="{FF2B5EF4-FFF2-40B4-BE49-F238E27FC236}">
                <a16:creationId xmlns:a16="http://schemas.microsoft.com/office/drawing/2014/main" id="{C163DD23-0995-0CD6-65CF-B6F29A366599}"/>
              </a:ext>
            </a:extLst>
          </p:cNvPr>
          <p:cNvSpPr/>
          <p:nvPr/>
        </p:nvSpPr>
        <p:spPr>
          <a:xfrm>
            <a:off x="1177232" y="3286756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38475FC5-9881-F480-EF14-DC6356459E6B}"/>
              </a:ext>
            </a:extLst>
          </p:cNvPr>
          <p:cNvSpPr/>
          <p:nvPr/>
        </p:nvSpPr>
        <p:spPr>
          <a:xfrm>
            <a:off x="1177232" y="3605842"/>
            <a:ext cx="5419511" cy="128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申請→部門承認→本部承認→承認済の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ノードで「いまどの段階か」を一目で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大型版・ミニ版で展開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853C2779-06CD-898B-03BE-DCD9B67A5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810" y="8336612"/>
            <a:ext cx="2491346" cy="690914"/>
          </a:xfrm>
          <a:prstGeom prst="rect">
            <a:avLst/>
          </a:prstGeom>
        </p:spPr>
      </p:pic>
      <p:sp>
        <p:nvSpPr>
          <p:cNvPr id="61" name="Text 11">
            <a:extLst>
              <a:ext uri="{FF2B5EF4-FFF2-40B4-BE49-F238E27FC236}">
                <a16:creationId xmlns:a16="http://schemas.microsoft.com/office/drawing/2014/main" id="{4B677FFE-71BF-AB47-2824-D5934849F1E8}"/>
              </a:ext>
            </a:extLst>
          </p:cNvPr>
          <p:cNvSpPr/>
          <p:nvPr/>
        </p:nvSpPr>
        <p:spPr>
          <a:xfrm>
            <a:off x="6245383" y="3090661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 / DETAIL TABS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A4DD4A5B-76A2-BB6E-D9A5-BA09B1974238}"/>
              </a:ext>
            </a:extLst>
          </p:cNvPr>
          <p:cNvSpPr/>
          <p:nvPr/>
        </p:nvSpPr>
        <p:spPr>
          <a:xfrm>
            <a:off x="6245383" y="3300211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案件詳細タブ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22254CB-D473-2B57-640C-8B4AD1E9487A}"/>
              </a:ext>
            </a:extLst>
          </p:cNvPr>
          <p:cNvSpPr/>
          <p:nvPr/>
        </p:nvSpPr>
        <p:spPr>
          <a:xfrm>
            <a:off x="6245382" y="3619297"/>
            <a:ext cx="5214486" cy="56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 / 開発 / 予算 / 履歴を 1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画面でタブ切替</a:t>
            </a:r>
            <a:endParaRPr lang="en-US" sz="2000" dirty="0">
              <a:solidFill>
                <a:srgbClr val="3A3E55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役割で見る視点を切り替えるだけで導線を短く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9" name="図 68">
            <a:extLst>
              <a:ext uri="{FF2B5EF4-FFF2-40B4-BE49-F238E27FC236}">
                <a16:creationId xmlns:a16="http://schemas.microsoft.com/office/drawing/2014/main" id="{3CC79EB2-2915-BA83-6FEC-9500303D2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83" y="4756977"/>
            <a:ext cx="4953000" cy="762000"/>
          </a:xfrm>
          <a:prstGeom prst="rect">
            <a:avLst/>
          </a:prstGeom>
        </p:spPr>
      </p:pic>
      <p:sp>
        <p:nvSpPr>
          <p:cNvPr id="71" name="Text 15">
            <a:extLst>
              <a:ext uri="{FF2B5EF4-FFF2-40B4-BE49-F238E27FC236}">
                <a16:creationId xmlns:a16="http://schemas.microsoft.com/office/drawing/2014/main" id="{3817F203-21BA-FF54-F114-6217DE50C858}"/>
              </a:ext>
            </a:extLst>
          </p:cNvPr>
          <p:cNvSpPr/>
          <p:nvPr/>
        </p:nvSpPr>
        <p:spPr>
          <a:xfrm>
            <a:off x="6253782" y="6074173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 / BUDGET BAR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1CD4D91-630D-54A8-AD4E-B182307D2689}"/>
              </a:ext>
            </a:extLst>
          </p:cNvPr>
          <p:cNvSpPr/>
          <p:nvPr/>
        </p:nvSpPr>
        <p:spPr>
          <a:xfrm>
            <a:off x="6253782" y="6283723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予算消化バー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FE1EB722-331B-C157-B259-02DA62B0F970}"/>
              </a:ext>
            </a:extLst>
          </p:cNvPr>
          <p:cNvSpPr/>
          <p:nvPr/>
        </p:nvSpPr>
        <p:spPr>
          <a:xfrm>
            <a:off x="6253782" y="6602810"/>
            <a:ext cx="5106151" cy="499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 70% / 100% 超で警告色がリアルタイム算出。DB には率を持たず派生で表現。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607EFD3F-2CB1-CF41-477B-E3D0C5E6C3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0629"/>
          <a:stretch>
            <a:fillRect/>
          </a:stretch>
        </p:blipFill>
        <p:spPr>
          <a:xfrm>
            <a:off x="6404397" y="7702066"/>
            <a:ext cx="2961323" cy="1013715"/>
          </a:xfrm>
          <a:prstGeom prst="rect">
            <a:avLst/>
          </a:prstGeom>
        </p:spPr>
      </p:pic>
      <p:sp>
        <p:nvSpPr>
          <p:cNvPr id="78" name="Text 19">
            <a:extLst>
              <a:ext uri="{FF2B5EF4-FFF2-40B4-BE49-F238E27FC236}">
                <a16:creationId xmlns:a16="http://schemas.microsoft.com/office/drawing/2014/main" id="{E4685841-AA4F-D0B7-F0C8-1652B87659A1}"/>
              </a:ext>
            </a:extLst>
          </p:cNvPr>
          <p:cNvSpPr/>
          <p:nvPr/>
        </p:nvSpPr>
        <p:spPr>
          <a:xfrm>
            <a:off x="11807906" y="3096256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 / SIDEBAR · NAV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59C7F73C-2324-224B-A79C-754D7FB2B7D0}"/>
              </a:ext>
            </a:extLst>
          </p:cNvPr>
          <p:cNvSpPr/>
          <p:nvPr/>
        </p:nvSpPr>
        <p:spPr>
          <a:xfrm>
            <a:off x="11807906" y="3305806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サイドバー導線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FAD4AEC2-D2CD-C1A0-6EFF-DAF61738EF3E}"/>
              </a:ext>
            </a:extLst>
          </p:cNvPr>
          <p:cNvSpPr/>
          <p:nvPr/>
        </p:nvSpPr>
        <p:spPr>
          <a:xfrm>
            <a:off x="11807905" y="3624893"/>
            <a:ext cx="2651597" cy="77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 / 開発管理 / 予算管理を 3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セクションで分離し導線を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直観化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4" name="図 83">
            <a:extLst>
              <a:ext uri="{FF2B5EF4-FFF2-40B4-BE49-F238E27FC236}">
                <a16:creationId xmlns:a16="http://schemas.microsoft.com/office/drawing/2014/main" id="{283E496A-951F-2B0E-9206-1A74FD3C9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7905" y="5676286"/>
            <a:ext cx="1613124" cy="2940232"/>
          </a:xfrm>
          <a:prstGeom prst="rect">
            <a:avLst/>
          </a:prstGeom>
        </p:spPr>
      </p:pic>
      <p:sp>
        <p:nvSpPr>
          <p:cNvPr id="87" name="Shape 8">
            <a:extLst>
              <a:ext uri="{FF2B5EF4-FFF2-40B4-BE49-F238E27FC236}">
                <a16:creationId xmlns:a16="http://schemas.microsoft.com/office/drawing/2014/main" id="{FE2E3E13-E656-D7D5-D5B9-E6E230C68ABC}"/>
              </a:ext>
            </a:extLst>
          </p:cNvPr>
          <p:cNvSpPr/>
          <p:nvPr/>
        </p:nvSpPr>
        <p:spPr>
          <a:xfrm>
            <a:off x="11711531" y="5716055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14A0B4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0" name="Shape 8">
            <a:extLst>
              <a:ext uri="{FF2B5EF4-FFF2-40B4-BE49-F238E27FC236}">
                <a16:creationId xmlns:a16="http://schemas.microsoft.com/office/drawing/2014/main" id="{FF5DE912-A6E4-8164-64C1-1A34CC0553E0}"/>
              </a:ext>
            </a:extLst>
          </p:cNvPr>
          <p:cNvSpPr/>
          <p:nvPr/>
        </p:nvSpPr>
        <p:spPr>
          <a:xfrm>
            <a:off x="13530566" y="5816917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14A0B4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3" name="Shape 8">
            <a:extLst>
              <a:ext uri="{FF2B5EF4-FFF2-40B4-BE49-F238E27FC236}">
                <a16:creationId xmlns:a16="http://schemas.microsoft.com/office/drawing/2014/main" id="{3310894E-A10D-D69B-6375-5D4AE78BCF09}"/>
              </a:ext>
            </a:extLst>
          </p:cNvPr>
          <p:cNvSpPr/>
          <p:nvPr/>
        </p:nvSpPr>
        <p:spPr>
          <a:xfrm>
            <a:off x="11711531" y="6781590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64A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3625ED86-912D-6A47-435A-4643CD27C00F}"/>
              </a:ext>
            </a:extLst>
          </p:cNvPr>
          <p:cNvSpPr/>
          <p:nvPr/>
        </p:nvSpPr>
        <p:spPr>
          <a:xfrm>
            <a:off x="13530566" y="6882452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64A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開発</a:t>
            </a:r>
          </a:p>
        </p:txBody>
      </p:sp>
      <p:sp>
        <p:nvSpPr>
          <p:cNvPr id="95" name="Shape 8">
            <a:extLst>
              <a:ext uri="{FF2B5EF4-FFF2-40B4-BE49-F238E27FC236}">
                <a16:creationId xmlns:a16="http://schemas.microsoft.com/office/drawing/2014/main" id="{AB1BB7F0-F736-9D3B-E4EA-F7D618B80DF7}"/>
              </a:ext>
            </a:extLst>
          </p:cNvPr>
          <p:cNvSpPr/>
          <p:nvPr/>
        </p:nvSpPr>
        <p:spPr>
          <a:xfrm>
            <a:off x="11711531" y="7819838"/>
            <a:ext cx="1709498" cy="877936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2E6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83A048C-DB94-6BDD-6A14-A1F5BBD15913}"/>
              </a:ext>
            </a:extLst>
          </p:cNvPr>
          <p:cNvSpPr/>
          <p:nvPr/>
        </p:nvSpPr>
        <p:spPr>
          <a:xfrm>
            <a:off x="13530566" y="7920700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2E6E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 dirty="0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444A7299-7956-99F2-9619-A649A2224698}"/>
              </a:ext>
            </a:extLst>
          </p:cNvPr>
          <p:cNvSpPr/>
          <p:nvPr/>
        </p:nvSpPr>
        <p:spPr>
          <a:xfrm>
            <a:off x="11737990" y="5511267"/>
            <a:ext cx="18000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9" name="Shape 26">
            <a:extLst>
              <a:ext uri="{FF2B5EF4-FFF2-40B4-BE49-F238E27FC236}">
                <a16:creationId xmlns:a16="http://schemas.microsoft.com/office/drawing/2014/main" id="{73641F41-2CE0-6DA8-EBA5-E52E993003DE}"/>
              </a:ext>
            </a:extLst>
          </p:cNvPr>
          <p:cNvSpPr/>
          <p:nvPr/>
        </p:nvSpPr>
        <p:spPr>
          <a:xfrm>
            <a:off x="14966202" y="2965262"/>
            <a:ext cx="3096000" cy="586189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CB79C38F-1848-1369-0899-DF90511B3D26}"/>
              </a:ext>
            </a:extLst>
          </p:cNvPr>
          <p:cNvSpPr/>
          <p:nvPr/>
        </p:nvSpPr>
        <p:spPr>
          <a:xfrm>
            <a:off x="15250575" y="3148959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06 / TOOLTIPS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EC29459C-F883-FED8-B4E2-665A6954C9E0}"/>
              </a:ext>
            </a:extLst>
          </p:cNvPr>
          <p:cNvSpPr/>
          <p:nvPr/>
        </p:nvSpPr>
        <p:spPr>
          <a:xfrm>
            <a:off x="15250575" y="3358509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文脈ツールチップ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5FDF515B-7F35-3F4B-5727-BA09D914B26F}"/>
              </a:ext>
            </a:extLst>
          </p:cNvPr>
          <p:cNvSpPr/>
          <p:nvPr/>
        </p:nvSpPr>
        <p:spPr>
          <a:xfrm>
            <a:off x="15185278" y="3693926"/>
            <a:ext cx="2678179" cy="47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ロール・状態によって操作の意味が変わる箇所に、要約だけ表示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説明文を画面に詰めない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3" name="図 102">
            <a:extLst>
              <a:ext uri="{FF2B5EF4-FFF2-40B4-BE49-F238E27FC236}">
                <a16:creationId xmlns:a16="http://schemas.microsoft.com/office/drawing/2014/main" id="{535E95DD-12B0-BA4D-DF31-7B1ADFF777D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393" t="2098" r="31985" b="44475"/>
          <a:stretch>
            <a:fillRect/>
          </a:stretch>
        </p:blipFill>
        <p:spPr>
          <a:xfrm>
            <a:off x="15362550" y="6215344"/>
            <a:ext cx="2500907" cy="1184787"/>
          </a:xfrm>
          <a:prstGeom prst="rect">
            <a:avLst/>
          </a:prstGeom>
        </p:spPr>
      </p:pic>
      <p:sp>
        <p:nvSpPr>
          <p:cNvPr id="104" name="楕円 103">
            <a:extLst>
              <a:ext uri="{FF2B5EF4-FFF2-40B4-BE49-F238E27FC236}">
                <a16:creationId xmlns:a16="http://schemas.microsoft.com/office/drawing/2014/main" id="{9A44B114-6BCD-AAB0-9213-CF0D5B8F960A}"/>
              </a:ext>
            </a:extLst>
          </p:cNvPr>
          <p:cNvSpPr/>
          <p:nvPr/>
        </p:nvSpPr>
        <p:spPr>
          <a:xfrm>
            <a:off x="15929485" y="6331178"/>
            <a:ext cx="457200" cy="407050"/>
          </a:xfrm>
          <a:prstGeom prst="ellipse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133B8617-F1F3-D120-20E0-1019E9267E6C}"/>
              </a:ext>
            </a:extLst>
          </p:cNvPr>
          <p:cNvSpPr/>
          <p:nvPr/>
        </p:nvSpPr>
        <p:spPr>
          <a:xfrm>
            <a:off x="16081885" y="6781590"/>
            <a:ext cx="1781572" cy="643778"/>
          </a:xfrm>
          <a:prstGeom prst="roundRect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06" name="矢印: 左カーブ 105">
            <a:extLst>
              <a:ext uri="{FF2B5EF4-FFF2-40B4-BE49-F238E27FC236}">
                <a16:creationId xmlns:a16="http://schemas.microsoft.com/office/drawing/2014/main" id="{154C75E6-2DD6-B097-3A87-CF0F2EE10F24}"/>
              </a:ext>
            </a:extLst>
          </p:cNvPr>
          <p:cNvSpPr/>
          <p:nvPr/>
        </p:nvSpPr>
        <p:spPr>
          <a:xfrm rot="19341267">
            <a:off x="16483018" y="6207983"/>
            <a:ext cx="278445" cy="645148"/>
          </a:xfrm>
          <a:prstGeom prst="curvedLeftArrow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4A0B4"/>
              </a:solidFill>
            </a:endParaRPr>
          </a:p>
        </p:txBody>
      </p:sp>
      <p:sp>
        <p:nvSpPr>
          <p:cNvPr id="107" name="Text 2">
            <a:extLst>
              <a:ext uri="{FF2B5EF4-FFF2-40B4-BE49-F238E27FC236}">
                <a16:creationId xmlns:a16="http://schemas.microsoft.com/office/drawing/2014/main" id="{5B6D5BE4-7A15-407B-B3FE-BE52CDB657ED}"/>
              </a:ext>
            </a:extLst>
          </p:cNvPr>
          <p:cNvSpPr/>
          <p:nvPr/>
        </p:nvSpPr>
        <p:spPr>
          <a:xfrm>
            <a:off x="4140862" y="455425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ja-JP" altLang="en-US" sz="320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3E9471CD-FBEA-9CA2-EDFF-22B22D134F71}"/>
              </a:ext>
            </a:extLst>
          </p:cNvPr>
          <p:cNvSpPr/>
          <p:nvPr/>
        </p:nvSpPr>
        <p:spPr>
          <a:xfrm>
            <a:off x="3248196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DBEE6452-599B-ABFD-BBF2-B5EA073AF61F}"/>
              </a:ext>
            </a:extLst>
          </p:cNvPr>
          <p:cNvSpPr/>
          <p:nvPr/>
        </p:nvSpPr>
        <p:spPr>
          <a:xfrm>
            <a:off x="8128277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8E335B5C-83A2-8A8F-288C-A2ED65422087}"/>
              </a:ext>
            </a:extLst>
          </p:cNvPr>
          <p:cNvSpPr/>
          <p:nvPr/>
        </p:nvSpPr>
        <p:spPr>
          <a:xfrm>
            <a:off x="13689034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978CAC8F-DEB6-AA67-7A9E-267FAA091886}"/>
              </a:ext>
            </a:extLst>
          </p:cNvPr>
          <p:cNvSpPr/>
          <p:nvPr/>
        </p:nvSpPr>
        <p:spPr>
          <a:xfrm>
            <a:off x="17344715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FF927762-C2A4-5B9D-3631-C6E26249DD92}"/>
              </a:ext>
            </a:extLst>
          </p:cNvPr>
          <p:cNvSpPr/>
          <p:nvPr/>
        </p:nvSpPr>
        <p:spPr>
          <a:xfrm>
            <a:off x="8128277" y="6051588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9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1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APPROVAL FLOW · 08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434" y="1204277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3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申請・承認フローの作り込み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717" y="1818431"/>
            <a:ext cx="15663333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必須要件を超えて</a:t>
            </a:r>
            <a: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監査・再申請・自己承認防止</a:t>
            </a:r>
            <a:r>
              <a:rPr lang="en-US" sz="66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66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まで設計</a:t>
            </a:r>
            <a:endParaRPr lang="en-US" sz="6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2787648"/>
            <a:ext cx="549402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967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502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監査証跡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5025" y="4724795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誰が・いつ・どのレベルで判断したかを後から再現できるよう、申請ごとの判断履歴を保持する。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3925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3452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987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却下と再申請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9875" y="4724795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却下案件は元案件を引き継いだまま再申請できる。何回目の改訂かも追跡できる構造。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0967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0502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自己承認防止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05025" y="6724747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部門管理者が自ら申請者になった場合、部門承認をスキップして本部承認へ直接渡す。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3925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3452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</a:t>
            </a:r>
            <a:endParaRPr lang="en-US" sz="4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2987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現在地の可視化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29875" y="6724747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承認ステップを大型版・ミニ版で表示。申請者の「いま自分の案件はどこ？」という不安を減らす。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14400" y="8071344"/>
            <a:ext cx="16459200" cy="109527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8071344"/>
            <a:ext cx="1297186" cy="1095276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81100" y="8514985"/>
            <a:ext cx="1030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kern="0" spc="66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WHY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211586" y="8280894"/>
            <a:ext cx="34469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58135" y="8242794"/>
            <a:ext cx="25908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501196" y="8350446"/>
            <a:ext cx="15275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8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承認は「通れば終わり」ではなく、誰がいつどう判断したかを後から説明できる状態に保つ。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374B01B-DD78-B64C-ED5F-2D6BD271259E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TASK VIEWS · 10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123950"/>
            <a:ext cx="13334035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開発進捗管理は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Backlog風のわかりやすさを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独自進化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515719"/>
            <a:ext cx="164592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4" y="3525244"/>
            <a:ext cx="2365713" cy="7810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3475" y="3677644"/>
            <a:ext cx="193297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 値運用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38350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0841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1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0841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未着手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41194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13685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2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13685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進行中（%）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444037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516529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3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16529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確認待ち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219372" y="3677644"/>
            <a:ext cx="34608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4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219372" y="3849094"/>
            <a:ext cx="34608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完了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53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848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194435" y="5315932"/>
            <a:ext cx="861865" cy="32504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80160" y="5344506"/>
            <a:ext cx="9454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1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213643" y="5258782"/>
            <a:ext cx="28300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カンバン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84885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848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94435" y="8154323"/>
            <a:ext cx="506832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自分の手持ち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タスクの流れを把握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期限超過と完了予定を一目で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5315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5410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750635" y="5315932"/>
            <a:ext cx="861865" cy="325040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836360" y="5344506"/>
            <a:ext cx="7359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2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769843" y="5258781"/>
            <a:ext cx="3125986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メンバー別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541085" y="5725508"/>
            <a:ext cx="5327600" cy="2330948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410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750635" y="8154323"/>
            <a:ext cx="506832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誰が何を抱え 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誰が忙しいかを一望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負荷バ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ー＋確認待ち件数で偏りを発見。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12087761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12097286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12306836" y="5315932"/>
            <a:ext cx="861865" cy="32504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12392561" y="5344506"/>
            <a:ext cx="776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3</a:t>
            </a:r>
            <a:endParaRPr 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13326043" y="5258781"/>
            <a:ext cx="2309426" cy="38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12097286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12097286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47564" y="5715982"/>
            <a:ext cx="5327600" cy="2340474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12306836" y="8154323"/>
            <a:ext cx="5068328" cy="548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期限・優先度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でソートして運用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表形式の網羅性で取りこぼしを防ぐ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D7D5689-6E39-5A88-06CC-94FF137BB9E4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7E72086A-43AA-542B-5139-CADC3A402352}"/>
              </a:ext>
            </a:extLst>
          </p:cNvPr>
          <p:cNvSpPr/>
          <p:nvPr/>
        </p:nvSpPr>
        <p:spPr>
          <a:xfrm>
            <a:off x="1315627" y="302518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ステータスの４値運用</a:t>
            </a:r>
            <a:endParaRPr lang="en-US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39EAD66B-E263-78AC-C87A-CAA8E02C546C}"/>
              </a:ext>
            </a:extLst>
          </p:cNvPr>
          <p:cNvSpPr/>
          <p:nvPr/>
        </p:nvSpPr>
        <p:spPr>
          <a:xfrm>
            <a:off x="1280158" y="4623296"/>
            <a:ext cx="8963378" cy="19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３ビュートグル切り替え　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部署ごとの管理の違いを吸収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endParaRPr lang="en-US" sz="28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1DE65B11-D9D6-E595-29BA-8FC96F0175D1}"/>
              </a:ext>
            </a:extLst>
          </p:cNvPr>
          <p:cNvSpPr/>
          <p:nvPr/>
        </p:nvSpPr>
        <p:spPr>
          <a:xfrm>
            <a:off x="58767" y="2755002"/>
            <a:ext cx="1083269" cy="1093913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済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3731D86F-04CF-4CBC-FE04-86667F597825}"/>
              </a:ext>
            </a:extLst>
          </p:cNvPr>
          <p:cNvSpPr/>
          <p:nvPr/>
        </p:nvSpPr>
        <p:spPr>
          <a:xfrm>
            <a:off x="19532" y="4342033"/>
            <a:ext cx="1083269" cy="1093913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済</a:t>
            </a: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D190A4AF-7C88-E954-33D2-0AE0E90729FB}"/>
              </a:ext>
            </a:extLst>
          </p:cNvPr>
          <p:cNvSpPr/>
          <p:nvPr/>
        </p:nvSpPr>
        <p:spPr>
          <a:xfrm rot="20550121">
            <a:off x="105660" y="9175976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rcRect t="2" b="16835"/>
          <a:stretch>
            <a:fillRect/>
          </a:stretch>
        </p:blipFill>
        <p:spPr>
          <a:xfrm>
            <a:off x="6550610" y="5744559"/>
            <a:ext cx="5327600" cy="2333564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DD187CA7-E4F3-84AA-4255-59CCE18DC79B}"/>
              </a:ext>
            </a:extLst>
          </p:cNvPr>
          <p:cNvSpPr/>
          <p:nvPr/>
        </p:nvSpPr>
        <p:spPr>
          <a:xfrm>
            <a:off x="1493518" y="9627681"/>
            <a:ext cx="13173404" cy="271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バーンダウンチャート 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/ 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ガントチャート</a:t>
            </a:r>
            <a:r>
              <a:rPr lang="en-US" altLang="ja-JP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/Wiki</a:t>
            </a:r>
            <a:r>
              <a:rPr lang="ja-JP" altLang="en-US" sz="2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機能</a:t>
            </a: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DE961C3D-DE8B-8823-6989-644EB3477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67" y="5721636"/>
            <a:ext cx="5332192" cy="24121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AUTOMATION · 09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078373" y="9772650"/>
            <a:ext cx="22952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課題2 / 運用性を上げる自動化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1145012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Excel文化からの脱却は、 </a:t>
            </a:r>
            <a:b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転記・連絡・監査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の</a:t>
            </a:r>
            <a:r>
              <a:rPr lang="en-US" sz="5400" b="1" kern="0" spc="-8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自動化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が決め手。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履歴自動記録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進捗・担当・期限などの変更を保存し、監査証跡としても利用可能。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3925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9642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通知拡張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9642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担当 / 期限 / 完了報告 / 確認OK </a:t>
            </a: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をアプリ内通知で共有。連絡漏れ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防止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7157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予算実績ログ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7157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actual_amount の before / after・更新者・日時を構造化して保持。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3925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7F48646-C4EB-FE88-CA5D-436DFF349DAC}"/>
              </a:ext>
            </a:extLst>
          </p:cNvPr>
          <p:cNvGrpSpPr/>
          <p:nvPr/>
        </p:nvGrpSpPr>
        <p:grpSpPr>
          <a:xfrm>
            <a:off x="1773458" y="3556456"/>
            <a:ext cx="11980565" cy="2407889"/>
            <a:chOff x="1773458" y="3556456"/>
            <a:chExt cx="11980565" cy="2407889"/>
          </a:xfrm>
        </p:grpSpPr>
        <p:sp>
          <p:nvSpPr>
            <p:cNvPr id="9" name="Shape 7"/>
            <p:cNvSpPr/>
            <p:nvPr/>
          </p:nvSpPr>
          <p:spPr>
            <a:xfrm>
              <a:off x="177345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7823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1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284087" y="3604080"/>
              <a:ext cx="178322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HISTORY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09830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020308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0608937" y="3604080"/>
              <a:ext cx="2918109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NOTIFICATION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77345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87823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3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284087" y="5640496"/>
              <a:ext cx="246415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BUDGET LOG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009830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20308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4</a:t>
              </a:r>
              <a:endParaRPr 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0608937" y="5640496"/>
              <a:ext cx="314508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 dirty="0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DERIVED VALUE</a:t>
              </a:r>
              <a:endParaRPr lang="en-US" sz="9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6" name="Text 34"/>
          <p:cNvSpPr/>
          <p:nvPr/>
        </p:nvSpPr>
        <p:spPr>
          <a:xfrm>
            <a:off x="949642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警告色のリアルタイム算出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9642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消費率は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７０</a:t>
            </a:r>
            <a:r>
              <a:rPr 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超でピックアップ表示しているが、</a:t>
            </a:r>
            <a:br>
              <a:rPr lang="en-US" altLang="ja-JP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７０％超、１００％超で通知の発出、メール発信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03ADDD1D-B2B1-1522-62D8-4EC9FEDE2DBA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4400" y="7629227"/>
            <a:ext cx="164592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23925" y="7638752"/>
            <a:ext cx="2286000" cy="12954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918400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2636401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71575" y="7848302"/>
            <a:ext cx="1866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判断基準の</a:t>
            </a:r>
            <a:br>
              <a:rPr lang="en-US" altLang="ja-JP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</a:br>
            <a:r>
              <a:rPr lang="ja-JP" altLang="en-US" sz="2000" b="1" kern="0" spc="180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３層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71575" y="8057852"/>
            <a:ext cx="1866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438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MUST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438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438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課題1 の完成度を担保する機能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156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+ MVP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156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課題２　</a:t>
            </a: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+α</a:t>
            </a:r>
            <a:r>
              <a:rPr lang="ja-JP" alt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156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効果が大きい課題2 の一部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2874526" y="7848302"/>
            <a:ext cx="43887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→ NEXT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874526" y="8057852"/>
            <a:ext cx="43887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後回し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2874526" y="8419802"/>
            <a:ext cx="4388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次スプリント / 拡張テーブル設計のみ準備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8"/>
          <p:cNvSpPr/>
          <p:nvPr/>
        </p:nvSpPr>
        <p:spPr>
          <a:xfrm>
            <a:off x="1024695" y="9078506"/>
            <a:ext cx="16320329" cy="92031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9"/>
          <p:cNvSpPr/>
          <p:nvPr/>
        </p:nvSpPr>
        <p:spPr>
          <a:xfrm>
            <a:off x="914399" y="9078505"/>
            <a:ext cx="2295525" cy="9203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Text 40"/>
          <p:cNvSpPr/>
          <p:nvPr/>
        </p:nvSpPr>
        <p:spPr>
          <a:xfrm>
            <a:off x="1328696" y="9395787"/>
            <a:ext cx="12086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54" dirty="0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選定基準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Text 41"/>
          <p:cNvSpPr/>
          <p:nvPr/>
        </p:nvSpPr>
        <p:spPr>
          <a:xfrm>
            <a:off x="3896982" y="9279684"/>
            <a:ext cx="8197834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×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コスト</a:t>
            </a:r>
            <a:r>
              <a:rPr lang="ja-JP" altLang="en-US" sz="3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× </a:t>
            </a:r>
            <a:r>
              <a:rPr lang="ja-JP" altLang="en-US" sz="32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 dirty="0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リスク</a:t>
            </a:r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42"/>
          <p:cNvSpPr/>
          <p:nvPr/>
        </p:nvSpPr>
        <p:spPr>
          <a:xfrm>
            <a:off x="14749334" y="9990775"/>
            <a:ext cx="2826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Text 43"/>
          <p:cNvSpPr/>
          <p:nvPr/>
        </p:nvSpPr>
        <p:spPr>
          <a:xfrm>
            <a:off x="3396258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45"/>
          <p:cNvSpPr/>
          <p:nvPr/>
        </p:nvSpPr>
        <p:spPr>
          <a:xfrm>
            <a:off x="4688532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46"/>
          <p:cNvSpPr/>
          <p:nvPr/>
        </p:nvSpPr>
        <p:spPr>
          <a:xfrm>
            <a:off x="11816862" y="9570196"/>
            <a:ext cx="544644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24" dirty="0">
                <a:solidFill>
                  <a:srgbClr val="E9E8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100時間の上限内で、もっとも痛みを減らす自動化を優先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662A602-BC77-7A51-D47A-30E7ECE37F32}"/>
              </a:ext>
            </a:extLst>
          </p:cNvPr>
          <p:cNvSpPr/>
          <p:nvPr/>
        </p:nvSpPr>
        <p:spPr>
          <a:xfrm>
            <a:off x="680665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C3B49FD9-A5DF-91E4-CC8C-BBDB98D5D64A}"/>
              </a:ext>
            </a:extLst>
          </p:cNvPr>
          <p:cNvSpPr/>
          <p:nvPr/>
        </p:nvSpPr>
        <p:spPr>
          <a:xfrm>
            <a:off x="9211397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CC6785F-CD30-2300-CF71-D78264D76095}"/>
              </a:ext>
            </a:extLst>
          </p:cNvPr>
          <p:cNvSpPr/>
          <p:nvPr/>
        </p:nvSpPr>
        <p:spPr>
          <a:xfrm>
            <a:off x="680665" y="5162744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872AF92E-DD50-5501-82FF-1FCE8C0F1F39}"/>
              </a:ext>
            </a:extLst>
          </p:cNvPr>
          <p:cNvSpPr/>
          <p:nvPr/>
        </p:nvSpPr>
        <p:spPr>
          <a:xfrm rot="20550121">
            <a:off x="8943202" y="4893132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2605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ROADMAP · 11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807843"/>
            <a:ext cx="1567243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管理範囲を広げ、予算の粒度を細かくする方向で</a:t>
            </a:r>
            <a:br>
              <a:rPr lang="en-US" altLang="ja-JP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拡張予定</a:t>
            </a:r>
          </a:p>
        </p:txBody>
      </p:sp>
      <p:sp>
        <p:nvSpPr>
          <p:cNvPr id="7" name="Text 5"/>
          <p:cNvSpPr/>
          <p:nvPr/>
        </p:nvSpPr>
        <p:spPr>
          <a:xfrm>
            <a:off x="923924" y="8926777"/>
            <a:ext cx="16703675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ja-JP" sz="28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</a:t>
            </a:r>
            <a:r>
              <a:rPr lang="ja-JP" altLang="en-US" sz="28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時間の限界を認識し、 拡張に備えて現行テーブルを肥大化させず、追加テーブルで拡張できる設計方針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E24FABAB-DB54-90B8-9814-4611BB38A23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85BD41B-E52F-BAF8-5DC7-28892F070FAC}"/>
              </a:ext>
            </a:extLst>
          </p:cNvPr>
          <p:cNvSpPr/>
          <p:nvPr/>
        </p:nvSpPr>
        <p:spPr>
          <a:xfrm>
            <a:off x="8044058" y="362129"/>
            <a:ext cx="10577981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F02DC648-B874-8A76-6E2D-739357E63BA1}"/>
              </a:ext>
            </a:extLst>
          </p:cNvPr>
          <p:cNvSpPr/>
          <p:nvPr/>
        </p:nvSpPr>
        <p:spPr>
          <a:xfrm>
            <a:off x="923925" y="1141093"/>
            <a:ext cx="51491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今後の拡張予定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1626962-107D-58A3-1314-D019038591BF}"/>
              </a:ext>
            </a:extLst>
          </p:cNvPr>
          <p:cNvGrpSpPr/>
          <p:nvPr/>
        </p:nvGrpSpPr>
        <p:grpSpPr>
          <a:xfrm>
            <a:off x="914400" y="3880365"/>
            <a:ext cx="16459200" cy="5143621"/>
            <a:chOff x="914400" y="3880365"/>
            <a:chExt cx="16459200" cy="5143621"/>
          </a:xfrm>
        </p:grpSpPr>
        <p:sp>
          <p:nvSpPr>
            <p:cNvPr id="8" name="Shape 6"/>
            <p:cNvSpPr/>
            <p:nvPr/>
          </p:nvSpPr>
          <p:spPr>
            <a:xfrm>
              <a:off x="914400" y="3880365"/>
              <a:ext cx="16459200" cy="51436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923925" y="3889891"/>
              <a:ext cx="16440150" cy="428625"/>
            </a:xfrm>
            <a:prstGeom prst="rect">
              <a:avLst/>
            </a:prstGeom>
            <a:solidFill>
              <a:srgbClr val="2F2E6E"/>
            </a:solidFill>
            <a:ln/>
          </p:spPr>
          <p:txBody>
            <a:bodyPr>
              <a:noAutofit/>
            </a:bodyPr>
            <a:lstStyle/>
            <a:p>
              <a:endParaRPr lang="ja-JP" altLang="en-US" sz="5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923925" y="43089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095375" y="4023241"/>
              <a:ext cx="400050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762125" y="4023241"/>
              <a:ext cx="4239333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機能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210895" y="4023241"/>
              <a:ext cx="6322432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実装内容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2682091" y="4023241"/>
              <a:ext cx="4656137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価値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923925" y="497574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057275" y="44709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E60013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1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762125" y="4470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ロール別アカウント管理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210895" y="4470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本部で部門・ユーザーを動的に追加できる管理画面。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2510641" y="43185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691616" y="4470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権限境界の運用化。組織変更に追従。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923925" y="56424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57275" y="513766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C686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2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762125" y="513766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予算実績の追加方式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210895" y="513766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budget_actuals テーブル / 費目別集計を追加。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2510641" y="498526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2691616" y="513766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履歴と分析に耐える構造へ。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923925" y="630924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1057275" y="58044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762125" y="58044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アラート通知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210895" y="58044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消費率 86% / 100% 超過、期限滞留を自動検知。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12510641" y="56520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12691616" y="58044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早期に対策できる。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923925" y="69759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57275" y="647116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4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762125" y="647116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見積書エクスポート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6210895" y="647116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案件・予算情報を PDF / Excel に出力。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12510641" y="631876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12691616" y="647116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既存業務との接続 / 提出物に流用。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923925" y="7642788"/>
              <a:ext cx="16440150" cy="9431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1057275" y="71379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5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762125" y="7137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セキュリティ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6210895" y="7137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URL 直打ちの閲覧・編集制限を Policy で厳格化。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12510641" y="69855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12691616" y="7137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権限外操作の遮断。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1057275" y="7806599"/>
              <a:ext cx="400050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6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1762125" y="7806599"/>
              <a:ext cx="4239333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タスク管理の可視化強化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6210895" y="7806599"/>
              <a:ext cx="632243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バーンダウン / ガント / S-02ダッシュボードの発展。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12510641" y="7655519"/>
              <a:ext cx="9525" cy="650718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12691616" y="7806599"/>
              <a:ext cx="464661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進捗の傾向と先読みが可能に。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Shape 37">
              <a:extLst>
                <a:ext uri="{FF2B5EF4-FFF2-40B4-BE49-F238E27FC236}">
                  <a16:creationId xmlns:a16="http://schemas.microsoft.com/office/drawing/2014/main" id="{7CEFBF71-CC17-D054-5581-4DF1306C5E02}"/>
                </a:ext>
              </a:extLst>
            </p:cNvPr>
            <p:cNvSpPr/>
            <p:nvPr/>
          </p:nvSpPr>
          <p:spPr>
            <a:xfrm>
              <a:off x="923925" y="8316950"/>
              <a:ext cx="16440150" cy="9431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2" name="Text 43">
              <a:extLst>
                <a:ext uri="{FF2B5EF4-FFF2-40B4-BE49-F238E27FC236}">
                  <a16:creationId xmlns:a16="http://schemas.microsoft.com/office/drawing/2014/main" id="{10B653C8-3D4F-BF1F-9BED-1B44EE3C3D29}"/>
                </a:ext>
              </a:extLst>
            </p:cNvPr>
            <p:cNvSpPr/>
            <p:nvPr/>
          </p:nvSpPr>
          <p:spPr>
            <a:xfrm>
              <a:off x="1057275" y="8480761"/>
              <a:ext cx="400050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altLang="ja-JP" sz="3200" b="1" dirty="0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7</a:t>
              </a:r>
              <a:endParaRPr lang="en-US" sz="3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Text 44">
              <a:extLst>
                <a:ext uri="{FF2B5EF4-FFF2-40B4-BE49-F238E27FC236}">
                  <a16:creationId xmlns:a16="http://schemas.microsoft.com/office/drawing/2014/main" id="{B75BF3BF-363B-FA44-C65C-2CAF5AD74921}"/>
                </a:ext>
              </a:extLst>
            </p:cNvPr>
            <p:cNvSpPr/>
            <p:nvPr/>
          </p:nvSpPr>
          <p:spPr>
            <a:xfrm>
              <a:off x="1762125" y="8480761"/>
              <a:ext cx="4239333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altLang="ja-JP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PC</a:t>
              </a:r>
              <a:r>
                <a:rPr lang="ja-JP" altLang="en-US" sz="24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・タブレット対応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5" name="Text 45">
              <a:extLst>
                <a:ext uri="{FF2B5EF4-FFF2-40B4-BE49-F238E27FC236}">
                  <a16:creationId xmlns:a16="http://schemas.microsoft.com/office/drawing/2014/main" id="{E5747D76-0D6E-25EB-8517-9927BC7FAEE7}"/>
                </a:ext>
              </a:extLst>
            </p:cNvPr>
            <p:cNvSpPr/>
            <p:nvPr/>
          </p:nvSpPr>
          <p:spPr>
            <a:xfrm>
              <a:off x="6210895" y="8480761"/>
              <a:ext cx="632243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ja-JP" alt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ハンバーガーメニュー</a:t>
              </a:r>
              <a:r>
                <a:rPr lang="en-US" altLang="ja-JP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/</a:t>
              </a:r>
              <a:r>
                <a:rPr lang="ja-JP" altLang="en-US" sz="22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レスポンシブ対応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6" name="Shape 46">
              <a:extLst>
                <a:ext uri="{FF2B5EF4-FFF2-40B4-BE49-F238E27FC236}">
                  <a16:creationId xmlns:a16="http://schemas.microsoft.com/office/drawing/2014/main" id="{CC0BBA72-64AE-FD32-A5D8-6E7B465A9203}"/>
                </a:ext>
              </a:extLst>
            </p:cNvPr>
            <p:cNvSpPr/>
            <p:nvPr/>
          </p:nvSpPr>
          <p:spPr>
            <a:xfrm>
              <a:off x="12510641" y="8329681"/>
              <a:ext cx="9525" cy="650718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Text 47">
              <a:extLst>
                <a:ext uri="{FF2B5EF4-FFF2-40B4-BE49-F238E27FC236}">
                  <a16:creationId xmlns:a16="http://schemas.microsoft.com/office/drawing/2014/main" id="{8D54DDBE-4E48-E045-A5DD-2321F6C1D2B9}"/>
                </a:ext>
              </a:extLst>
            </p:cNvPr>
            <p:cNvSpPr/>
            <p:nvPr/>
          </p:nvSpPr>
          <p:spPr>
            <a:xfrm>
              <a:off x="12691616" y="8480761"/>
              <a:ext cx="464661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ja-JP" altLang="en-US" sz="22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利便性向上</a:t>
              </a:r>
              <a:endParaRPr lang="en-US" sz="2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4" name="矢印: 右 3">
            <a:extLst>
              <a:ext uri="{FF2B5EF4-FFF2-40B4-BE49-F238E27FC236}">
                <a16:creationId xmlns:a16="http://schemas.microsoft.com/office/drawing/2014/main" id="{CC6E02D8-74D8-43B1-FA43-A5862FCE03A8}"/>
              </a:ext>
            </a:extLst>
          </p:cNvPr>
          <p:cNvSpPr/>
          <p:nvPr/>
        </p:nvSpPr>
        <p:spPr>
          <a:xfrm rot="20550121">
            <a:off x="58291" y="3403778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F63FD9F-8DF1-19D1-A8C5-AA407D8E6AB8}"/>
              </a:ext>
            </a:extLst>
          </p:cNvPr>
          <p:cNvGrpSpPr/>
          <p:nvPr/>
        </p:nvGrpSpPr>
        <p:grpSpPr>
          <a:xfrm>
            <a:off x="914399" y="6809530"/>
            <a:ext cx="16668751" cy="2869435"/>
            <a:chOff x="704849" y="9208203"/>
            <a:chExt cx="16668751" cy="2869435"/>
          </a:xfrm>
        </p:grpSpPr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F37D8EB0-B711-102B-DAF3-FFD0236A165F}"/>
                </a:ext>
              </a:extLst>
            </p:cNvPr>
            <p:cNvSpPr/>
            <p:nvPr/>
          </p:nvSpPr>
          <p:spPr>
            <a:xfrm>
              <a:off x="704849" y="9208203"/>
              <a:ext cx="16668751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914400" y="9534840"/>
              <a:ext cx="8124825" cy="2371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209675" y="9601516"/>
              <a:ext cx="776030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★ うまくいったこと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209675" y="10001566"/>
              <a:ext cx="7760303" cy="3351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ja-JP" altLang="en-US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生活リズムを変えずにインターンに参加できた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209675" y="10393877"/>
              <a:ext cx="7286143" cy="58846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0000"/>
                </a:lnSpc>
                <a:buNone/>
              </a:pPr>
              <a:r>
                <a:rPr lang="ja-JP" altLang="en-US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いつも午前は、家事育児、就労移行支援事業所で１３時から１５時に訓練をし、その後家事、一通り終わって夜に自習というサイクル　同じサイクルでペースを守ってインターン参加し、就労のイメージを持てた</a:t>
              </a:r>
              <a:endParaRPr lang="en-US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9248775" y="9534840"/>
              <a:ext cx="8124825" cy="2371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9544050" y="9572941"/>
              <a:ext cx="3093719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 dirty="0">
                  <a:solidFill>
                    <a:srgbClr val="C686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! 想定外だったこと</a:t>
              </a:r>
              <a:endParaRPr lang="en-US" sz="2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544050" y="10001566"/>
              <a:ext cx="7760303" cy="3351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altLang="ja-JP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GW</a:t>
              </a:r>
              <a:r>
                <a:rPr lang="ja-JP" altLang="en-US" sz="2000" b="1" dirty="0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後に休み疲れ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544050" y="10393877"/>
              <a:ext cx="7760303" cy="112186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70000"/>
                </a:lnSpc>
                <a:buNone/>
              </a:pP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おおむね安定して就労できたが、</a:t>
              </a:r>
              <a: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GW</a:t>
              </a: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には長期休みで遠出をし、</a:t>
              </a:r>
              <a:b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休み明けに風邪気味になった。スケジュールに余裕を持っていたことと、</a:t>
              </a:r>
              <a:br>
                <a:rPr lang="en-US" altLang="ja-JP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ja-JP" altLang="en-US" sz="2000" dirty="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合計時間管理なので、他の日で調整できた</a:t>
              </a:r>
              <a:endParaRPr lang="en-US" sz="2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REFLECTION · 12</a:t>
            </a:r>
            <a:endParaRPr 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225296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ja-JP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PoC</a:t>
            </a:r>
            <a:r>
              <a:rPr lang="ja-JP" altLang="en-US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開発で学んだ</a:t>
            </a:r>
            <a:r>
              <a:rPr lang="en-US" altLang="ja-JP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6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つのこと</a:t>
            </a:r>
            <a:endParaRPr lang="en-US" sz="6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23950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19225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01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19225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ja-JP" altLang="en-US" sz="28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作る前に、使う人を理解する</a:t>
            </a:r>
            <a:endParaRPr lang="en-US" sz="2800" b="1" dirty="0">
              <a:solidFill>
                <a:srgbClr val="E6001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19225" y="4554736"/>
            <a:ext cx="4898783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ロールの違いを整理することで、必要な画面・権限・導線が明確になった。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80150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75425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02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75425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スコープを切る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75425" y="4554736"/>
            <a:ext cx="4898783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100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時間内で必須機能を優先し、追加機能は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MVP / NEXT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に分けた。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2236351" y="2668786"/>
            <a:ext cx="5346650" cy="33556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531626" y="2945011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95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LESSON 03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2531626" y="3964186"/>
            <a:ext cx="4898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引継ぎを設計する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531626" y="4554736"/>
            <a:ext cx="4898783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仕様書・</a:t>
            </a:r>
            <a:r>
              <a:rPr lang="en-US" altLang="ja-JP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ER</a:t>
            </a:r>
            <a:r>
              <a:rPr lang="ja-JP" altLang="en-US" sz="20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図・マニュアル・日報を残すことで、設計判断を説明できるようになった。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B53D176F-DE01-1C63-35F5-3A18F82EF77E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感想</a:t>
            </a:r>
            <a:endParaRPr lang="en-US" sz="32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8BAEBFB-5A7B-5C6B-A352-FF666E97A4A4}"/>
              </a:ext>
            </a:extLst>
          </p:cNvPr>
          <p:cNvSpPr/>
          <p:nvPr/>
        </p:nvSpPr>
        <p:spPr>
          <a:xfrm>
            <a:off x="1419225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業務理解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F8043214-3332-7657-1285-06AA87930CA4}"/>
              </a:ext>
            </a:extLst>
          </p:cNvPr>
          <p:cNvSpPr/>
          <p:nvPr/>
        </p:nvSpPr>
        <p:spPr>
          <a:xfrm>
            <a:off x="6975425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優先順位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1EC145BE-3D10-759F-3E0F-AE7B26D6CE3D}"/>
              </a:ext>
            </a:extLst>
          </p:cNvPr>
          <p:cNvSpPr/>
          <p:nvPr/>
        </p:nvSpPr>
        <p:spPr>
          <a:xfrm>
            <a:off x="12531626" y="3368754"/>
            <a:ext cx="48987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 kern="0" spc="195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説明責任</a:t>
            </a:r>
            <a:endParaRPr 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1E96E8B9-22D6-D7C0-C58C-45DE3264D90D}"/>
              </a:ext>
            </a:extLst>
          </p:cNvPr>
          <p:cNvSpPr/>
          <p:nvPr/>
        </p:nvSpPr>
        <p:spPr>
          <a:xfrm>
            <a:off x="1145088" y="661229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 dirty="0"/>
              <a:t>体調管理の感想</a:t>
            </a:r>
            <a:endParaRPr lang="en-US" sz="2000" b="1" dirty="0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E468163-38C0-B600-FA95-9FB545AF0E0E}"/>
              </a:ext>
            </a:extLst>
          </p:cNvPr>
          <p:cNvGrpSpPr/>
          <p:nvPr/>
        </p:nvGrpSpPr>
        <p:grpSpPr>
          <a:xfrm>
            <a:off x="914399" y="10388561"/>
            <a:ext cx="16668751" cy="3049016"/>
            <a:chOff x="914399" y="10388561"/>
            <a:chExt cx="16668751" cy="3049016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804F5BF-E7BA-3893-E938-6D60E1562234}"/>
                </a:ext>
              </a:extLst>
            </p:cNvPr>
            <p:cNvGrpSpPr/>
            <p:nvPr/>
          </p:nvGrpSpPr>
          <p:grpSpPr>
            <a:xfrm>
              <a:off x="914399" y="10568142"/>
              <a:ext cx="16668751" cy="2869435"/>
              <a:chOff x="704849" y="9208203"/>
              <a:chExt cx="16668751" cy="2869435"/>
            </a:xfrm>
          </p:grpSpPr>
          <p:sp>
            <p:nvSpPr>
              <p:cNvPr id="20" name="Shape 6">
                <a:extLst>
                  <a:ext uri="{FF2B5EF4-FFF2-40B4-BE49-F238E27FC236}">
                    <a16:creationId xmlns:a16="http://schemas.microsoft.com/office/drawing/2014/main" id="{005F3220-8DFB-C89B-61E0-C10987F81D2A}"/>
                  </a:ext>
                </a:extLst>
              </p:cNvPr>
              <p:cNvSpPr/>
              <p:nvPr/>
            </p:nvSpPr>
            <p:spPr>
              <a:xfrm>
                <a:off x="704849" y="9208203"/>
                <a:ext cx="16668751" cy="286943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1" name="Shape 6">
                <a:extLst>
                  <a:ext uri="{FF2B5EF4-FFF2-40B4-BE49-F238E27FC236}">
                    <a16:creationId xmlns:a16="http://schemas.microsoft.com/office/drawing/2014/main" id="{52DEB602-8BCF-41D9-EAE0-CD3A0C402665}"/>
                  </a:ext>
                </a:extLst>
              </p:cNvPr>
              <p:cNvSpPr/>
              <p:nvPr/>
            </p:nvSpPr>
            <p:spPr>
              <a:xfrm>
                <a:off x="914400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6" name="Text 7">
                <a:extLst>
                  <a:ext uri="{FF2B5EF4-FFF2-40B4-BE49-F238E27FC236}">
                    <a16:creationId xmlns:a16="http://schemas.microsoft.com/office/drawing/2014/main" id="{DD6A0BD5-8FFE-7B41-BFB2-FA045E5E2F6E}"/>
                  </a:ext>
                </a:extLst>
              </p:cNvPr>
              <p:cNvSpPr/>
              <p:nvPr/>
            </p:nvSpPr>
            <p:spPr>
              <a:xfrm>
                <a:off x="1209675" y="9601516"/>
                <a:ext cx="776030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 dirty="0">
                    <a:solidFill>
                      <a:srgbClr val="14A0B4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★ うまくいったこと</a:t>
                </a:r>
                <a:endParaRPr lang="en-US" sz="24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7" name="Text 8">
                <a:extLst>
                  <a:ext uri="{FF2B5EF4-FFF2-40B4-BE49-F238E27FC236}">
                    <a16:creationId xmlns:a16="http://schemas.microsoft.com/office/drawing/2014/main" id="{851D1B50-D58B-C250-38E2-411EE731B678}"/>
                  </a:ext>
                </a:extLst>
              </p:cNvPr>
              <p:cNvSpPr/>
              <p:nvPr/>
            </p:nvSpPr>
            <p:spPr>
              <a:xfrm>
                <a:off x="1209675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設計段階で画面イメージを作れた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4D63C1B9-2E4B-DE00-1EBC-A03E9D476427}"/>
                  </a:ext>
                </a:extLst>
              </p:cNvPr>
              <p:cNvSpPr/>
              <p:nvPr/>
            </p:nvSpPr>
            <p:spPr>
              <a:xfrm>
                <a:off x="1209675" y="10393877"/>
                <a:ext cx="7286143" cy="58846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を使った設計は初めてだったが、実装前にモックを並べたことで</a:t>
                </a: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、</a:t>
                </a:r>
                <a:b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への指示も具体的に行えた</a:t>
                </a: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「何を作るか」の合意形成が速かった。</a:t>
                </a:r>
                <a:endParaRPr lang="en-US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3" name="Shape 10">
                <a:extLst>
                  <a:ext uri="{FF2B5EF4-FFF2-40B4-BE49-F238E27FC236}">
                    <a16:creationId xmlns:a16="http://schemas.microsoft.com/office/drawing/2014/main" id="{C7328355-CDE6-37A5-6149-2DDD0C7B28A6}"/>
                  </a:ext>
                </a:extLst>
              </p:cNvPr>
              <p:cNvSpPr/>
              <p:nvPr/>
            </p:nvSpPr>
            <p:spPr>
              <a:xfrm>
                <a:off x="9248775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5" name="Text 11">
                <a:extLst>
                  <a:ext uri="{FF2B5EF4-FFF2-40B4-BE49-F238E27FC236}">
                    <a16:creationId xmlns:a16="http://schemas.microsoft.com/office/drawing/2014/main" id="{BD4BAD9E-1150-0E2C-89C5-70179B2985BA}"/>
                  </a:ext>
                </a:extLst>
              </p:cNvPr>
              <p:cNvSpPr/>
              <p:nvPr/>
            </p:nvSpPr>
            <p:spPr>
              <a:xfrm>
                <a:off x="9544050" y="9572941"/>
                <a:ext cx="3093719" cy="4286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 dirty="0">
                    <a:solidFill>
                      <a:srgbClr val="C686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! 想定外だったこと</a:t>
                </a:r>
                <a:endParaRPr lang="en-US" sz="24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6" name="Text 12">
                <a:extLst>
                  <a:ext uri="{FF2B5EF4-FFF2-40B4-BE49-F238E27FC236}">
                    <a16:creationId xmlns:a16="http://schemas.microsoft.com/office/drawing/2014/main" id="{4ED200B7-381F-FFE0-4D1D-455A0B5D7469}"/>
                  </a:ext>
                </a:extLst>
              </p:cNvPr>
              <p:cNvSpPr/>
              <p:nvPr/>
            </p:nvSpPr>
            <p:spPr>
              <a:xfrm>
                <a:off x="9544050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 dirty="0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モック作成のトークン消費が大きい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7" name="Text 13">
                <a:extLst>
                  <a:ext uri="{FF2B5EF4-FFF2-40B4-BE49-F238E27FC236}">
                    <a16:creationId xmlns:a16="http://schemas.microsoft.com/office/drawing/2014/main" id="{25E9B68B-DB11-EF5A-8A66-E5FF7CFC859D}"/>
                  </a:ext>
                </a:extLst>
              </p:cNvPr>
              <p:cNvSpPr/>
              <p:nvPr/>
            </p:nvSpPr>
            <p:spPr>
              <a:xfrm>
                <a:off x="9544050" y="10393877"/>
                <a:ext cx="7760303" cy="112186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sz="2000" dirty="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画面数を絞り、同じデザインを流用するなど、途中で運用ルールを調整した</a:t>
                </a:r>
                <a: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sz="2000" dirty="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のコストも設計対象になることを学んだ。</a:t>
                </a:r>
                <a:endParaRPr lang="en-US" sz="2000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33F6F017-6A3E-3803-9889-D04DFC604E30}"/>
                </a:ext>
              </a:extLst>
            </p:cNvPr>
            <p:cNvSpPr/>
            <p:nvPr/>
          </p:nvSpPr>
          <p:spPr>
            <a:xfrm>
              <a:off x="1145088" y="10388561"/>
              <a:ext cx="353187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2000" b="1" dirty="0"/>
                <a:t>AI</a:t>
              </a:r>
              <a:r>
                <a:rPr lang="ja-JP" altLang="en-US" sz="2000" b="1" dirty="0"/>
                <a:t>開発の感想</a:t>
              </a:r>
              <a:endParaRPr lang="en-US" sz="2000" b="1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36">
            <a:extLst>
              <a:ext uri="{FF2B5EF4-FFF2-40B4-BE49-F238E27FC236}">
                <a16:creationId xmlns:a16="http://schemas.microsoft.com/office/drawing/2014/main" id="{1BC8D57C-9888-0BC8-6005-618F3FFBC68B}"/>
              </a:ext>
            </a:extLst>
          </p:cNvPr>
          <p:cNvSpPr/>
          <p:nvPr/>
        </p:nvSpPr>
        <p:spPr>
          <a:xfrm>
            <a:off x="11637336" y="1210271"/>
            <a:ext cx="5856946" cy="3281362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E8916F68-77E6-2EDB-FE6E-6B49947D1DA7}"/>
              </a:ext>
            </a:extLst>
          </p:cNvPr>
          <p:cNvSpPr/>
          <p:nvPr/>
        </p:nvSpPr>
        <p:spPr>
          <a:xfrm>
            <a:off x="11826240" y="1819573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ADA2D452-7CAF-4593-D382-8678AF0F5D08}"/>
              </a:ext>
            </a:extLst>
          </p:cNvPr>
          <p:cNvSpPr/>
          <p:nvPr/>
        </p:nvSpPr>
        <p:spPr>
          <a:xfrm>
            <a:off x="14679311" y="1819573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F6304B97-D449-A573-CA50-7D6A7835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73" r="13281"/>
          <a:stretch>
            <a:fillRect/>
          </a:stretch>
        </p:blipFill>
        <p:spPr>
          <a:xfrm>
            <a:off x="12145255" y="2710756"/>
            <a:ext cx="2196465" cy="13553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POLICY · 00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43590" y="1116930"/>
            <a:ext cx="3775587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ja-JP" altLang="en-US" b="1" kern="0" spc="230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プレゼン資料用プロンプト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635448"/>
            <a:ext cx="107918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デザイン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方針を</a:t>
            </a:r>
            <a:r>
              <a:rPr 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dirty="0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決め</a:t>
            </a:r>
            <a:r>
              <a:rPr lang="ja-JP" altLang="en-US" sz="5400" b="1" kern="0" spc="-8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る→確認→作成</a:t>
            </a:r>
            <a:endParaRPr lang="en-US" sz="5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735461"/>
            <a:ext cx="1463040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JPTロゴから</a:t>
            </a:r>
            <a:r>
              <a:rPr lang="en-US" sz="240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cyan→blue→indigo</a:t>
            </a: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のグラデーションと</a:t>
            </a:r>
            <a:r>
              <a:rPr lang="en-US" sz="2400" b="1" dirty="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amber </a:t>
            </a:r>
            <a:r>
              <a:rPr lang="en-US" sz="24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を抽出</a:t>
            </a: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400" dirty="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CTA・最重要アクションだけに</a:t>
            </a: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4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red</a:t>
            </a:r>
            <a:r>
              <a:rPr lang="ja-JP" altLang="en-US" sz="24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あ</a:t>
            </a:r>
            <a:r>
              <a:rPr lang="en-US" sz="2400" b="1" dirty="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#E60013</a:t>
            </a:r>
            <a:r>
              <a:rPr lang="en-US" sz="2400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を割り当てる。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8639" y="2786956"/>
            <a:ext cx="1390352" cy="139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43983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カラートークン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46821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57275" y="47869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3525" y="48583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jpt-indigo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5280" y="48666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#2F2E6E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53298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57275" y="54346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33525" y="55060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jpt-blue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875280" y="55143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#0064A0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59775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57275" y="60823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533525" y="61537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jpt-cyan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5280" y="61620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#14A0B4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4400" y="66252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57275" y="67300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33525" y="68014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jpt-amber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875280" y="68097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#E5A330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14400" y="72729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57275" y="73777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533525" y="74491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★CTA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5280" y="74574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#E60013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14400" y="79206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57275" y="80254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FAF8F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33525" y="80968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paper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75280" y="81051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#FAF8F3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14400" y="85683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057275" y="86731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5182A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533525" y="87445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ink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875280" y="87528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#15182A</a:t>
            </a:r>
            <a:endParaRPr 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876800" y="4243983"/>
            <a:ext cx="128717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4つの原則</a:t>
            </a:r>
            <a:endParaRPr lang="en-US" sz="16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876800" y="4682133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76800" y="558462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876800" y="468213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876800" y="4682133"/>
            <a:ext cx="38100" cy="912019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7364075" y="4682133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24450" y="4863108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829300" y="4863108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ブランドは構造で表現する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829300" y="5177433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ロゴの「点を糸で繋ぐ」モチーフを、承認フローや「分断→一元化」の表現に転用。色は塗りより線・罫線で語る。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876800" y="5784652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876800" y="6687145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76800" y="578465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876800" y="5784652"/>
            <a:ext cx="38100" cy="912019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17364075" y="5784652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124450" y="5965627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829300" y="5965627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余白と大型数字で密度を制御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829300" y="6279952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1920×1080 / 8カラム / 余白80pxを基準。情報量の多いスライドでも、見出し・数字・本文の3階層で読み順を作る。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4876800" y="6887170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4876800" y="7789664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876800" y="6887170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876800" y="6887170"/>
            <a:ext cx="38100" cy="9120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17364075" y="6887170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124450" y="7068145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1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829300" y="7068145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赤は最重要アクションだけ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5829300" y="7382470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はリスク・CTA・最重要キーワードに限定。多用しない。通常のアクセントは amber / cyan で取る。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4876800" y="7989689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4876800" y="889218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876800" y="7989689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4876800" y="7989689"/>
            <a:ext cx="38100" cy="9120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7364075" y="7989689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5124450" y="8170664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</a:t>
            </a:r>
            <a:endParaRPr lang="en-US" sz="2100" dirty="0">
              <a:solidFill>
                <a:srgbClr val="E5A33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5829300" y="8170664"/>
            <a:ext cx="116649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装飾より情報設計</a:t>
            </a:r>
            <a:endParaRPr lang="en-US" sz="15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5829300" y="8484989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 dirty="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絵文字・無闇なグラデ・AI生成風アイコンを避ける。タイポ階層・罫線・カードで構造を見せ、提出物としての信頼感を担保。</a:t>
            </a:r>
            <a:endParaRPr lang="en-US" sz="1125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0F6652B5-3167-15DC-7F70-F024688EFAA1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5A33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altLang="ja-JP" sz="2400" dirty="0">
                <a:solidFill>
                  <a:schemeClr val="bg1"/>
                </a:solidFill>
              </a:rPr>
              <a:t>Appendix </a:t>
            </a:r>
            <a:r>
              <a:rPr lang="ja-JP" altLang="en-US" sz="2400" dirty="0">
                <a:solidFill>
                  <a:schemeClr val="bg1"/>
                </a:solidFill>
              </a:rPr>
              <a:t>附録</a:t>
            </a:r>
            <a:endParaRPr lang="en-US" sz="24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D7DC3961-5E1A-0AC9-B87A-8264212F4838}"/>
              </a:ext>
            </a:extLst>
          </p:cNvPr>
          <p:cNvSpPr/>
          <p:nvPr/>
        </p:nvSpPr>
        <p:spPr>
          <a:xfrm>
            <a:off x="12046315" y="1886396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日揮ホールディングス</a:t>
            </a:r>
            <a:r>
              <a:rPr lang="en-US" altLang="ja-JP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2F7B0E80-CEA0-CED4-A0C6-8AC772ED887E}"/>
              </a:ext>
            </a:extLst>
          </p:cNvPr>
          <p:cNvSpPr/>
          <p:nvPr/>
        </p:nvSpPr>
        <p:spPr>
          <a:xfrm>
            <a:off x="14815637" y="1886396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日揮パラレルテクノロジーズ　</a:t>
            </a:r>
            <a:r>
              <a:rPr lang="en-US" altLang="ja-JP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 dirty="0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0A58E751-D028-0667-128A-CEEEDE4E7638}"/>
              </a:ext>
            </a:extLst>
          </p:cNvPr>
          <p:cNvSpPr/>
          <p:nvPr/>
        </p:nvSpPr>
        <p:spPr>
          <a:xfrm>
            <a:off x="11910243" y="1276946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 dirty="0"/>
              <a:t>参考</a:t>
            </a:r>
            <a:endParaRPr lang="en-US" sz="2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2261</Words>
  <Application>Microsoft Office PowerPoint</Application>
  <PresentationFormat>ユーザー設定</PresentationFormat>
  <Paragraphs>494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rise190</cp:lastModifiedBy>
  <cp:revision>70</cp:revision>
  <cp:lastPrinted>2026-05-15T10:07:47Z</cp:lastPrinted>
  <dcterms:created xsi:type="dcterms:W3CDTF">2026-05-14T06:26:20Z</dcterms:created>
  <dcterms:modified xsi:type="dcterms:W3CDTF">2026-05-15T10:38:55Z</dcterms:modified>
</cp:coreProperties>
</file>