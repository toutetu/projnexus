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8" r:id="rId3"/>
    <p:sldId id="257" r:id="rId4"/>
    <p:sldId id="258" r:id="rId5"/>
    <p:sldId id="259" r:id="rId6"/>
    <p:sldId id="264" r:id="rId7"/>
    <p:sldId id="267" r:id="rId8"/>
    <p:sldId id="261" r:id="rId9"/>
    <p:sldId id="260" r:id="rId10"/>
    <p:sldId id="262" r:id="rId11"/>
    <p:sldId id="263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B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106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EB32F-EF5A-2916-5A6C-15D55D97E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07E803-6F65-C731-395F-C1FF1EC7C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D1355-E499-C51F-572E-1FB91BDA4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AD6FC-C861-914B-356A-DD35A38A7C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718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59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799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645919" y="51536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069080" y="-100336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73152" y="2993922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1676399" y="4171436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60960" y="4930388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-42024" y="6756273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777240" y="594360"/>
            <a:ext cx="3291840" cy="0"/>
          </a:xfrm>
          <a:prstGeom prst="line">
            <a:avLst/>
          </a:prstGeom>
          <a:noFill/>
          <a:ln w="1651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1325880" y="594360"/>
            <a:ext cx="1097280" cy="0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1920240" y="594360"/>
            <a:ext cx="1371600" cy="0"/>
          </a:xfrm>
          <a:prstGeom prst="line">
            <a:avLst/>
          </a:prstGeom>
          <a:noFill/>
          <a:ln w="1651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2743200" y="594360"/>
            <a:ext cx="1280160" cy="0"/>
          </a:xfrm>
          <a:prstGeom prst="line">
            <a:avLst/>
          </a:prstGeom>
          <a:noFill/>
          <a:ln w="1651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749808" y="8229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0" b="1" dirty="0" err="1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ProjNexus</a:t>
            </a:r>
            <a:endParaRPr lang="en-US" sz="4100" dirty="0"/>
          </a:p>
        </p:txBody>
      </p:sp>
      <p:sp>
        <p:nvSpPr>
          <p:cNvPr id="49" name="Text 47"/>
          <p:cNvSpPr/>
          <p:nvPr/>
        </p:nvSpPr>
        <p:spPr>
          <a:xfrm>
            <a:off x="3756660" y="109188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7F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開発管理プロセス一元化アプリケーション PoC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5759" y="2823724"/>
            <a:ext cx="8077201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5F6B7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申請システム・部門別Excel・予算管理Excelに分断された業務を</a:t>
            </a:r>
            <a:r>
              <a:rPr lang="en-US" sz="2400" dirty="0">
                <a:solidFill>
                  <a:srgbClr val="5F6B7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、</a:t>
            </a:r>
            <a:br>
              <a:rPr lang="en-US" sz="2400" dirty="0">
                <a:solidFill>
                  <a:srgbClr val="5F6B7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</a:br>
            <a:r>
              <a:rPr lang="en-US" sz="2400" dirty="0">
                <a:solidFill>
                  <a:srgbClr val="5F6B7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申請・開発・予算の3本柱で</a:t>
            </a:r>
            <a:r>
              <a:rPr lang="en-US" sz="2400" b="1" dirty="0">
                <a:solidFill>
                  <a:srgbClr val="5F6B7A"/>
                </a:solidFill>
                <a:highlight>
                  <a:srgbClr val="FFFF00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一気通貫</a:t>
            </a:r>
            <a:r>
              <a:rPr lang="en-US" sz="2400" dirty="0">
                <a:solidFill>
                  <a:srgbClr val="5F6B7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に繋ぐ。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45">
            <a:extLst>
              <a:ext uri="{FF2B5EF4-FFF2-40B4-BE49-F238E27FC236}">
                <a16:creationId xmlns:a16="http://schemas.microsoft.com/office/drawing/2014/main" id="{C11593C6-2FD6-EEA4-A75E-A8B8F856116B}"/>
              </a:ext>
            </a:extLst>
          </p:cNvPr>
          <p:cNvSpPr/>
          <p:nvPr/>
        </p:nvSpPr>
        <p:spPr>
          <a:xfrm>
            <a:off x="749808" y="4122"/>
            <a:ext cx="4215384" cy="55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b="1"/>
              <a:t>プレゼンテーション</a:t>
            </a:r>
            <a:endParaRPr lang="en-US" b="1" dirty="0"/>
          </a:p>
        </p:txBody>
      </p:sp>
      <p:sp>
        <p:nvSpPr>
          <p:cNvPr id="156" name="Text 41">
            <a:extLst>
              <a:ext uri="{FF2B5EF4-FFF2-40B4-BE49-F238E27FC236}">
                <a16:creationId xmlns:a16="http://schemas.microsoft.com/office/drawing/2014/main" id="{9446E0AD-6DCE-EA24-2FB0-D5C77A7B1EA0}"/>
              </a:ext>
            </a:extLst>
          </p:cNvPr>
          <p:cNvSpPr/>
          <p:nvPr/>
        </p:nvSpPr>
        <p:spPr>
          <a:xfrm>
            <a:off x="761999" y="7002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600" dirty="0"/>
              <a:t>アプリ名：</a:t>
            </a:r>
            <a:endParaRPr lang="en-US" sz="1600" dirty="0"/>
          </a:p>
        </p:txBody>
      </p:sp>
      <p:sp>
        <p:nvSpPr>
          <p:cNvPr id="183" name="テキスト ボックス 182">
            <a:extLst>
              <a:ext uri="{FF2B5EF4-FFF2-40B4-BE49-F238E27FC236}">
                <a16:creationId xmlns:a16="http://schemas.microsoft.com/office/drawing/2014/main" id="{AA548DDF-9FE5-5B27-E8ED-11A80799AAC8}"/>
              </a:ext>
            </a:extLst>
          </p:cNvPr>
          <p:cNvSpPr txBox="1"/>
          <p:nvPr/>
        </p:nvSpPr>
        <p:spPr>
          <a:xfrm>
            <a:off x="8582381" y="137551"/>
            <a:ext cx="3530996" cy="206133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##</a:t>
            </a:r>
            <a:r>
              <a:rPr lang="ja-JP" altLang="en-US" sz="1100" b="0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ja-JP" altLang="en-US" sz="11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プロジェクト名の由来</a:t>
            </a:r>
            <a:endParaRPr lang="ja-JP" alt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ja-JP" alt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altLang="ja-JP" sz="1100" b="1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ProjNexus</a:t>
            </a: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ja-JP" alt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altLang="ja-JP" sz="1100" b="1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Project</a:t>
            </a: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ja-JP" alt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（案件管理）</a:t>
            </a:r>
            <a:r>
              <a:rPr lang="en-US" altLang="ja-JP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altLang="ja-JP" sz="1100" b="1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Nexus</a:t>
            </a: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ja-JP" alt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（接続点・中枢）</a:t>
            </a:r>
          </a:p>
          <a:p>
            <a:pPr>
              <a:lnSpc>
                <a:spcPts val="1425"/>
              </a:lnSpc>
              <a:buNone/>
            </a:pPr>
            <a:endParaRPr lang="ja-JP" alt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ja-JP" altLang="en-US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altLang="ja-JP" sz="1100" b="1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Nexus</a:t>
            </a:r>
            <a:r>
              <a:rPr lang="ja-JP" altLang="en-US" sz="1100" b="1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（ネクサス）</a:t>
            </a: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ja-JP" altLang="en-US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 とは「すべてが繋がる中心点」を意味します。</a:t>
            </a:r>
            <a:endParaRPr lang="ja-JP" alt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ja-JP" altLang="en-US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 申請者・部門管理者・本部管理者</a:t>
            </a:r>
            <a:r>
              <a:rPr lang="en-US" altLang="ja-JP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——</a:t>
            </a:r>
            <a:r>
              <a:rPr lang="ja-JP" altLang="en-US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それぞれの視点を</a:t>
            </a: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ja-JP" altLang="en-US" sz="1100" b="1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ひとつの軸に繋ぎ</a:t>
            </a: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ja-JP" altLang="en-US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、プロジェクトを目標へと導く。</a:t>
            </a:r>
            <a:endParaRPr lang="ja-JP" alt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ja-JP" altLang="en-US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 それが </a:t>
            </a: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altLang="ja-JP" sz="1100" b="1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ProjNexus</a:t>
            </a: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ja-JP" altLang="en-US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 のコンセプトです。</a:t>
            </a:r>
            <a:endParaRPr lang="ja-JP" alt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0C2BB-694E-FAC8-04F7-8EE01A9E0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145797-325C-0208-D46E-396529A8844A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7B415D3-7D8D-6231-2EB5-4CB202D9017B}"/>
              </a:ext>
            </a:extLst>
          </p:cNvPr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2C60052-A70A-9B73-1E83-4FAB95B9848B}"/>
              </a:ext>
            </a:extLst>
          </p:cNvPr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1745962-F52C-E9F7-10D6-ECE30A855D64}"/>
              </a:ext>
            </a:extLst>
          </p:cNvPr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73A99A0-43BC-3B6D-6180-4506CCB5E127}"/>
              </a:ext>
            </a:extLst>
          </p:cNvPr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C747E3C-FC65-0BB5-3851-74F4D79F89C0}"/>
              </a:ext>
            </a:extLst>
          </p:cNvPr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7DF8B0E-248D-D7A6-3A1E-95D536990972}"/>
              </a:ext>
            </a:extLst>
          </p:cNvPr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ED38C49-2687-F137-4A4F-0631BE9CFF6F}"/>
              </a:ext>
            </a:extLst>
          </p:cNvPr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39BDD1C-D03C-C44B-DBB8-7DBAE173B985}"/>
              </a:ext>
            </a:extLst>
          </p:cNvPr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5B96A192-F45C-0CD6-2B4E-65EF28FE4586}"/>
              </a:ext>
            </a:extLst>
          </p:cNvPr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4F2410D-9AB8-CE33-10EA-6A1B0C608B1E}"/>
              </a:ext>
            </a:extLst>
          </p:cNvPr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43A4F37-05EF-8834-8329-F859A5BFC706}"/>
              </a:ext>
            </a:extLst>
          </p:cNvPr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458A4EAA-1768-5513-48CA-DE73B990DFF3}"/>
              </a:ext>
            </a:extLst>
          </p:cNvPr>
          <p:cNvSpPr/>
          <p:nvPr/>
        </p:nvSpPr>
        <p:spPr>
          <a:xfrm>
            <a:off x="60960" y="4930388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D7465C82-F9FD-83AE-96FE-AA5A52DC1E06}"/>
              </a:ext>
            </a:extLst>
          </p:cNvPr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7D184FA8-C29A-4D5E-6898-E98F9F4EDABB}"/>
              </a:ext>
            </a:extLst>
          </p:cNvPr>
          <p:cNvSpPr/>
          <p:nvPr/>
        </p:nvSpPr>
        <p:spPr>
          <a:xfrm>
            <a:off x="-42024" y="6756273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F6D4DAFB-DFF0-A0BB-BAE2-01A5B9137840}"/>
              </a:ext>
            </a:extLst>
          </p:cNvPr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C6BEA6E7-6BE3-E082-A717-C031C46F3567}"/>
              </a:ext>
            </a:extLst>
          </p:cNvPr>
          <p:cNvSpPr/>
          <p:nvPr/>
        </p:nvSpPr>
        <p:spPr>
          <a:xfrm>
            <a:off x="749808" y="8229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0" b="1" dirty="0" err="1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ProjNexus</a:t>
            </a:r>
            <a:endParaRPr lang="en-US" sz="41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114FAAEC-05A1-42EF-B16E-F484901A66C6}"/>
              </a:ext>
            </a:extLst>
          </p:cNvPr>
          <p:cNvSpPr/>
          <p:nvPr/>
        </p:nvSpPr>
        <p:spPr>
          <a:xfrm>
            <a:off x="3756660" y="109188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7F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開発管理プロセス一元化アプリケーション PoC</a:t>
            </a:r>
            <a:endParaRPr lang="en-US" sz="16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4129FEC5-FFA9-3A09-8955-F0C1C335420A}"/>
              </a:ext>
            </a:extLst>
          </p:cNvPr>
          <p:cNvSpPr/>
          <p:nvPr/>
        </p:nvSpPr>
        <p:spPr>
          <a:xfrm>
            <a:off x="685759" y="1645560"/>
            <a:ext cx="8077201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5F6B7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申請システム・部門別Excel・予算管理Excelに分断された業務を</a:t>
            </a:r>
            <a:r>
              <a:rPr lang="en-US" sz="2400" dirty="0">
                <a:solidFill>
                  <a:srgbClr val="5F6B7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、</a:t>
            </a:r>
            <a:br>
              <a:rPr lang="en-US" sz="2400" dirty="0">
                <a:solidFill>
                  <a:srgbClr val="5F6B7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</a:br>
            <a:r>
              <a:rPr lang="en-US" sz="2400" dirty="0">
                <a:solidFill>
                  <a:srgbClr val="5F6B7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申請・開発・予算の3本柱で</a:t>
            </a:r>
            <a:r>
              <a:rPr lang="en-US" sz="2400" b="1" dirty="0">
                <a:solidFill>
                  <a:srgbClr val="5F6B7A"/>
                </a:solidFill>
                <a:highlight>
                  <a:srgbClr val="FFFF00"/>
                </a:highlight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一気通貫</a:t>
            </a:r>
            <a:r>
              <a:rPr lang="en-US" sz="2400" dirty="0">
                <a:solidFill>
                  <a:srgbClr val="5F6B7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に繋ぐ。</a:t>
            </a:r>
            <a:endParaRPr 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9" name="図 58">
            <a:extLst>
              <a:ext uri="{FF2B5EF4-FFF2-40B4-BE49-F238E27FC236}">
                <a16:creationId xmlns:a16="http://schemas.microsoft.com/office/drawing/2014/main" id="{41D97757-A197-BA0E-00F4-CE1BC741B9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8778" r="84755" b="32246"/>
          <a:stretch>
            <a:fillRect/>
          </a:stretch>
        </p:blipFill>
        <p:spPr>
          <a:xfrm>
            <a:off x="7620001" y="3429000"/>
            <a:ext cx="1955645" cy="3581744"/>
          </a:xfrm>
          <a:prstGeom prst="rect">
            <a:avLst/>
          </a:prstGeom>
        </p:spPr>
      </p:pic>
      <p:sp>
        <p:nvSpPr>
          <p:cNvPr id="87" name="Shape 5">
            <a:extLst>
              <a:ext uri="{FF2B5EF4-FFF2-40B4-BE49-F238E27FC236}">
                <a16:creationId xmlns:a16="http://schemas.microsoft.com/office/drawing/2014/main" id="{2B8DE23C-FE9B-51F6-72CA-7B14751F8F8F}"/>
              </a:ext>
            </a:extLst>
          </p:cNvPr>
          <p:cNvSpPr/>
          <p:nvPr/>
        </p:nvSpPr>
        <p:spPr>
          <a:xfrm>
            <a:off x="950137" y="2949678"/>
            <a:ext cx="1827303" cy="561620"/>
          </a:xfrm>
          <a:prstGeom prst="roundRect">
            <a:avLst>
              <a:gd name="adj" fmla="val 25000"/>
            </a:avLst>
          </a:prstGeom>
          <a:solidFill>
            <a:srgbClr val="FFF1F2"/>
          </a:solidFill>
          <a:ln w="12700">
            <a:solidFill>
              <a:srgbClr val="FFF1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8" name="Text 6">
            <a:extLst>
              <a:ext uri="{FF2B5EF4-FFF2-40B4-BE49-F238E27FC236}">
                <a16:creationId xmlns:a16="http://schemas.microsoft.com/office/drawing/2014/main" id="{9EE86572-DE17-4949-74EC-E982CD9A8BE9}"/>
              </a:ext>
            </a:extLst>
          </p:cNvPr>
          <p:cNvSpPr/>
          <p:nvPr/>
        </p:nvSpPr>
        <p:spPr>
          <a:xfrm>
            <a:off x="638145" y="3200648"/>
            <a:ext cx="2013323" cy="1107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0013"/>
                </a:solidFill>
              </a:rPr>
              <a:t>Before:</a:t>
            </a:r>
            <a:br>
              <a:rPr lang="en-US" sz="1600" b="1" dirty="0">
                <a:solidFill>
                  <a:srgbClr val="E60013"/>
                </a:solidFill>
              </a:rPr>
            </a:br>
            <a:r>
              <a:rPr lang="en-US" sz="1600" b="1" dirty="0">
                <a:solidFill>
                  <a:srgbClr val="E60013"/>
                </a:solidFill>
              </a:rPr>
              <a:t> 3ツール分断</a:t>
            </a:r>
            <a:endParaRPr lang="en-US" sz="1600" dirty="0"/>
          </a:p>
        </p:txBody>
      </p:sp>
      <p:sp>
        <p:nvSpPr>
          <p:cNvPr id="89" name="Shape 7">
            <a:extLst>
              <a:ext uri="{FF2B5EF4-FFF2-40B4-BE49-F238E27FC236}">
                <a16:creationId xmlns:a16="http://schemas.microsoft.com/office/drawing/2014/main" id="{743E2A0E-682A-1F4C-F37D-1872D34D774C}"/>
              </a:ext>
            </a:extLst>
          </p:cNvPr>
          <p:cNvSpPr/>
          <p:nvPr/>
        </p:nvSpPr>
        <p:spPr>
          <a:xfrm>
            <a:off x="4151084" y="2774958"/>
            <a:ext cx="2033614" cy="603750"/>
          </a:xfrm>
          <a:prstGeom prst="roundRect">
            <a:avLst>
              <a:gd name="adj" fmla="val 25000"/>
            </a:avLst>
          </a:prstGeom>
          <a:solidFill>
            <a:srgbClr val="EAF6FF"/>
          </a:solidFill>
          <a:ln w="12700">
            <a:solidFill>
              <a:srgbClr val="EAF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0" name="Text 8">
            <a:extLst>
              <a:ext uri="{FF2B5EF4-FFF2-40B4-BE49-F238E27FC236}">
                <a16:creationId xmlns:a16="http://schemas.microsoft.com/office/drawing/2014/main" id="{FB6D6087-8A56-A828-DA53-BAD5AF0585E6}"/>
              </a:ext>
            </a:extLst>
          </p:cNvPr>
          <p:cNvSpPr/>
          <p:nvPr/>
        </p:nvSpPr>
        <p:spPr>
          <a:xfrm>
            <a:off x="4224235" y="2766309"/>
            <a:ext cx="1783069" cy="5623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6EBE"/>
                </a:solidFill>
              </a:rPr>
              <a:t>After:</a:t>
            </a:r>
            <a:br>
              <a:rPr lang="en-US" sz="1600" b="1" dirty="0">
                <a:solidFill>
                  <a:srgbClr val="106EBE"/>
                </a:solidFill>
              </a:rPr>
            </a:br>
            <a:r>
              <a:rPr lang="en-US" sz="1600" b="1" dirty="0">
                <a:solidFill>
                  <a:srgbClr val="106EBE"/>
                </a:solidFill>
              </a:rPr>
              <a:t> 3本柱で一気通貫</a:t>
            </a:r>
            <a:endParaRPr lang="en-US" sz="1600" dirty="0"/>
          </a:p>
        </p:txBody>
      </p:sp>
      <p:sp>
        <p:nvSpPr>
          <p:cNvPr id="91" name="Shape 9">
            <a:extLst>
              <a:ext uri="{FF2B5EF4-FFF2-40B4-BE49-F238E27FC236}">
                <a16:creationId xmlns:a16="http://schemas.microsoft.com/office/drawing/2014/main" id="{28C2CB4D-E38D-12A1-57DB-C2118F5CB9EC}"/>
              </a:ext>
            </a:extLst>
          </p:cNvPr>
          <p:cNvSpPr/>
          <p:nvPr/>
        </p:nvSpPr>
        <p:spPr>
          <a:xfrm>
            <a:off x="1307300" y="3680708"/>
            <a:ext cx="1252728" cy="475488"/>
          </a:xfrm>
          <a:prstGeom prst="roundRect">
            <a:avLst>
              <a:gd name="adj" fmla="val 15385"/>
            </a:avLst>
          </a:prstGeom>
          <a:solidFill>
            <a:srgbClr val="FFF7F7"/>
          </a:solidFill>
          <a:ln w="12700">
            <a:solidFill>
              <a:srgbClr val="E60013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2" name="Text 10">
            <a:extLst>
              <a:ext uri="{FF2B5EF4-FFF2-40B4-BE49-F238E27FC236}">
                <a16:creationId xmlns:a16="http://schemas.microsoft.com/office/drawing/2014/main" id="{E998D258-93AC-D7D7-E07C-7DA85DA42B08}"/>
              </a:ext>
            </a:extLst>
          </p:cNvPr>
          <p:cNvSpPr/>
          <p:nvPr/>
        </p:nvSpPr>
        <p:spPr>
          <a:xfrm>
            <a:off x="1442511" y="3808724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60013"/>
                </a:solidFill>
              </a:rPr>
              <a:t>申請システム</a:t>
            </a:r>
            <a:endParaRPr lang="en-US" sz="1200" dirty="0"/>
          </a:p>
        </p:txBody>
      </p:sp>
      <p:sp>
        <p:nvSpPr>
          <p:cNvPr id="93" name="Text 11">
            <a:extLst>
              <a:ext uri="{FF2B5EF4-FFF2-40B4-BE49-F238E27FC236}">
                <a16:creationId xmlns:a16="http://schemas.microsoft.com/office/drawing/2014/main" id="{8A560DA3-6031-668D-2DBC-4DCB80F373C7}"/>
              </a:ext>
            </a:extLst>
          </p:cNvPr>
          <p:cNvSpPr/>
          <p:nvPr/>
        </p:nvSpPr>
        <p:spPr>
          <a:xfrm>
            <a:off x="1471892" y="4003158"/>
            <a:ext cx="1545336" cy="111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12429"/>
                </a:solidFill>
              </a:rPr>
              <a:t>承認状況</a:t>
            </a:r>
            <a:endParaRPr lang="en-US" sz="1200" dirty="0"/>
          </a:p>
        </p:txBody>
      </p:sp>
      <p:sp>
        <p:nvSpPr>
          <p:cNvPr id="94" name="Shape 12">
            <a:extLst>
              <a:ext uri="{FF2B5EF4-FFF2-40B4-BE49-F238E27FC236}">
                <a16:creationId xmlns:a16="http://schemas.microsoft.com/office/drawing/2014/main" id="{0C7CB981-80E1-28C1-9B41-571FF0E054E7}"/>
              </a:ext>
            </a:extLst>
          </p:cNvPr>
          <p:cNvSpPr/>
          <p:nvPr/>
        </p:nvSpPr>
        <p:spPr>
          <a:xfrm>
            <a:off x="1977862" y="4401313"/>
            <a:ext cx="1330049" cy="475488"/>
          </a:xfrm>
          <a:prstGeom prst="roundRect">
            <a:avLst>
              <a:gd name="adj" fmla="val 15385"/>
            </a:avLst>
          </a:prstGeom>
          <a:solidFill>
            <a:srgbClr val="FFF7F7"/>
          </a:solidFill>
          <a:ln w="12700">
            <a:solidFill>
              <a:srgbClr val="E60013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5" name="Text 13">
            <a:extLst>
              <a:ext uri="{FF2B5EF4-FFF2-40B4-BE49-F238E27FC236}">
                <a16:creationId xmlns:a16="http://schemas.microsoft.com/office/drawing/2014/main" id="{EA876C6C-BDF1-CA3B-4E74-CF47A2EA6D6A}"/>
              </a:ext>
            </a:extLst>
          </p:cNvPr>
          <p:cNvSpPr/>
          <p:nvPr/>
        </p:nvSpPr>
        <p:spPr>
          <a:xfrm>
            <a:off x="2142454" y="4529329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60013"/>
                </a:solidFill>
              </a:rPr>
              <a:t>部門別 Excel</a:t>
            </a:r>
            <a:endParaRPr lang="en-US" sz="1200" dirty="0"/>
          </a:p>
        </p:txBody>
      </p:sp>
      <p:sp>
        <p:nvSpPr>
          <p:cNvPr id="96" name="Text 14">
            <a:extLst>
              <a:ext uri="{FF2B5EF4-FFF2-40B4-BE49-F238E27FC236}">
                <a16:creationId xmlns:a16="http://schemas.microsoft.com/office/drawing/2014/main" id="{35CF9E41-A3BF-4449-6320-51A7F3777F57}"/>
              </a:ext>
            </a:extLst>
          </p:cNvPr>
          <p:cNvSpPr/>
          <p:nvPr/>
        </p:nvSpPr>
        <p:spPr>
          <a:xfrm>
            <a:off x="2173225" y="4756157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12429"/>
                </a:solidFill>
              </a:rPr>
              <a:t>進捗管理</a:t>
            </a:r>
            <a:endParaRPr lang="en-US" sz="920" dirty="0"/>
          </a:p>
        </p:txBody>
      </p:sp>
      <p:sp>
        <p:nvSpPr>
          <p:cNvPr id="97" name="Shape 15">
            <a:extLst>
              <a:ext uri="{FF2B5EF4-FFF2-40B4-BE49-F238E27FC236}">
                <a16:creationId xmlns:a16="http://schemas.microsoft.com/office/drawing/2014/main" id="{4E265CEA-2DFC-7EB8-D579-61E126166BD3}"/>
              </a:ext>
            </a:extLst>
          </p:cNvPr>
          <p:cNvSpPr/>
          <p:nvPr/>
        </p:nvSpPr>
        <p:spPr>
          <a:xfrm>
            <a:off x="853441" y="5209527"/>
            <a:ext cx="1362749" cy="475488"/>
          </a:xfrm>
          <a:prstGeom prst="roundRect">
            <a:avLst>
              <a:gd name="adj" fmla="val 15385"/>
            </a:avLst>
          </a:prstGeom>
          <a:solidFill>
            <a:srgbClr val="FFF7F7"/>
          </a:solidFill>
          <a:ln w="12700">
            <a:solidFill>
              <a:srgbClr val="E60013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8" name="Text 16">
            <a:extLst>
              <a:ext uri="{FF2B5EF4-FFF2-40B4-BE49-F238E27FC236}">
                <a16:creationId xmlns:a16="http://schemas.microsoft.com/office/drawing/2014/main" id="{B6D318F8-53AA-B326-1EA4-3B50657B6119}"/>
              </a:ext>
            </a:extLst>
          </p:cNvPr>
          <p:cNvSpPr/>
          <p:nvPr/>
        </p:nvSpPr>
        <p:spPr>
          <a:xfrm>
            <a:off x="1018033" y="5337543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60013"/>
                </a:solidFill>
              </a:rPr>
              <a:t>予算管理 Excel</a:t>
            </a:r>
            <a:endParaRPr lang="en-US" sz="1200" dirty="0"/>
          </a:p>
        </p:txBody>
      </p:sp>
      <p:sp>
        <p:nvSpPr>
          <p:cNvPr id="99" name="Text 17">
            <a:extLst>
              <a:ext uri="{FF2B5EF4-FFF2-40B4-BE49-F238E27FC236}">
                <a16:creationId xmlns:a16="http://schemas.microsoft.com/office/drawing/2014/main" id="{38DF711F-9D19-1232-4B40-BBE675CB6174}"/>
              </a:ext>
            </a:extLst>
          </p:cNvPr>
          <p:cNvSpPr/>
          <p:nvPr/>
        </p:nvSpPr>
        <p:spPr>
          <a:xfrm>
            <a:off x="1089153" y="5522960"/>
            <a:ext cx="1545336" cy="237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12429"/>
                </a:solidFill>
              </a:rPr>
              <a:t>予算・実績</a:t>
            </a:r>
            <a:endParaRPr lang="en-US" sz="920" dirty="0"/>
          </a:p>
        </p:txBody>
      </p:sp>
      <p:sp>
        <p:nvSpPr>
          <p:cNvPr id="100" name="Shape 18">
            <a:extLst>
              <a:ext uri="{FF2B5EF4-FFF2-40B4-BE49-F238E27FC236}">
                <a16:creationId xmlns:a16="http://schemas.microsoft.com/office/drawing/2014/main" id="{8310378E-7596-7D8C-C57F-B566E038EAAE}"/>
              </a:ext>
            </a:extLst>
          </p:cNvPr>
          <p:cNvSpPr/>
          <p:nvPr/>
        </p:nvSpPr>
        <p:spPr>
          <a:xfrm>
            <a:off x="3446996" y="4046468"/>
            <a:ext cx="420624" cy="658368"/>
          </a:xfrm>
          <a:prstGeom prst="chevron">
            <a:avLst/>
          </a:prstGeom>
          <a:solidFill>
            <a:srgbClr val="EDB100"/>
          </a:solidFill>
          <a:ln w="12700">
            <a:solidFill>
              <a:srgbClr val="EDB1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1" name="Shape 19">
            <a:extLst>
              <a:ext uri="{FF2B5EF4-FFF2-40B4-BE49-F238E27FC236}">
                <a16:creationId xmlns:a16="http://schemas.microsoft.com/office/drawing/2014/main" id="{093972DF-5067-49CE-A85B-558AE38FF2E7}"/>
              </a:ext>
            </a:extLst>
          </p:cNvPr>
          <p:cNvSpPr/>
          <p:nvPr/>
        </p:nvSpPr>
        <p:spPr>
          <a:xfrm>
            <a:off x="4141940" y="3511299"/>
            <a:ext cx="5337050" cy="1069928"/>
          </a:xfrm>
          <a:prstGeom prst="roundRect">
            <a:avLst>
              <a:gd name="adj" fmla="val 15385"/>
            </a:avLst>
          </a:prstGeom>
          <a:noFill/>
          <a:ln w="12700">
            <a:solidFill>
              <a:srgbClr val="01CF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noFill/>
            </a:endParaRPr>
          </a:p>
        </p:txBody>
      </p:sp>
      <p:sp>
        <p:nvSpPr>
          <p:cNvPr id="102" name="Text 20">
            <a:extLst>
              <a:ext uri="{FF2B5EF4-FFF2-40B4-BE49-F238E27FC236}">
                <a16:creationId xmlns:a16="http://schemas.microsoft.com/office/drawing/2014/main" id="{86CD1CFE-7E50-CE43-9AAF-2899FED71A89}"/>
              </a:ext>
            </a:extLst>
          </p:cNvPr>
          <p:cNvSpPr/>
          <p:nvPr/>
        </p:nvSpPr>
        <p:spPr>
          <a:xfrm>
            <a:off x="4306532" y="3808724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1CFFF"/>
                </a:solidFill>
              </a:rPr>
              <a:t>申請・承認</a:t>
            </a:r>
            <a:endParaRPr lang="en-US" sz="1200" dirty="0"/>
          </a:p>
        </p:txBody>
      </p:sp>
      <p:sp>
        <p:nvSpPr>
          <p:cNvPr id="103" name="Text 21">
            <a:extLst>
              <a:ext uri="{FF2B5EF4-FFF2-40B4-BE49-F238E27FC236}">
                <a16:creationId xmlns:a16="http://schemas.microsoft.com/office/drawing/2014/main" id="{406D7790-283E-7DB7-A843-43ACF1EBB0EA}"/>
              </a:ext>
            </a:extLst>
          </p:cNvPr>
          <p:cNvSpPr/>
          <p:nvPr/>
        </p:nvSpPr>
        <p:spPr>
          <a:xfrm>
            <a:off x="4377442" y="4016626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12429"/>
                </a:solidFill>
              </a:rPr>
              <a:t>承認ステッパー / 監査証跡</a:t>
            </a:r>
            <a:endParaRPr lang="en-US" sz="920" dirty="0"/>
          </a:p>
        </p:txBody>
      </p:sp>
      <p:sp>
        <p:nvSpPr>
          <p:cNvPr id="104" name="Shape 22">
            <a:extLst>
              <a:ext uri="{FF2B5EF4-FFF2-40B4-BE49-F238E27FC236}">
                <a16:creationId xmlns:a16="http://schemas.microsoft.com/office/drawing/2014/main" id="{C739FD59-D8E8-57B1-D03C-7C8BB3ABD957}"/>
              </a:ext>
            </a:extLst>
          </p:cNvPr>
          <p:cNvSpPr/>
          <p:nvPr/>
        </p:nvSpPr>
        <p:spPr>
          <a:xfrm>
            <a:off x="4141940" y="4742688"/>
            <a:ext cx="5261142" cy="854706"/>
          </a:xfrm>
          <a:prstGeom prst="roundRect">
            <a:avLst>
              <a:gd name="adj" fmla="val 15385"/>
            </a:avLst>
          </a:prstGeom>
          <a:noFill/>
          <a:ln w="12700">
            <a:solidFill>
              <a:srgbClr val="106EB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noFill/>
            </a:endParaRPr>
          </a:p>
        </p:txBody>
      </p:sp>
      <p:sp>
        <p:nvSpPr>
          <p:cNvPr id="105" name="Text 23">
            <a:extLst>
              <a:ext uri="{FF2B5EF4-FFF2-40B4-BE49-F238E27FC236}">
                <a16:creationId xmlns:a16="http://schemas.microsoft.com/office/drawing/2014/main" id="{4AB05D1C-2145-8034-86ED-95E56BA0BCBD}"/>
              </a:ext>
            </a:extLst>
          </p:cNvPr>
          <p:cNvSpPr/>
          <p:nvPr/>
        </p:nvSpPr>
        <p:spPr>
          <a:xfrm>
            <a:off x="4306532" y="5060713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06EBE"/>
                </a:solidFill>
              </a:rPr>
              <a:t>開発管理</a:t>
            </a:r>
            <a:endParaRPr lang="en-US" sz="1200" dirty="0"/>
          </a:p>
        </p:txBody>
      </p:sp>
      <p:sp>
        <p:nvSpPr>
          <p:cNvPr id="106" name="Text 24">
            <a:extLst>
              <a:ext uri="{FF2B5EF4-FFF2-40B4-BE49-F238E27FC236}">
                <a16:creationId xmlns:a16="http://schemas.microsoft.com/office/drawing/2014/main" id="{ACA7BE5E-4D7A-B5B1-115C-96E45E15A25F}"/>
              </a:ext>
            </a:extLst>
          </p:cNvPr>
          <p:cNvSpPr/>
          <p:nvPr/>
        </p:nvSpPr>
        <p:spPr>
          <a:xfrm>
            <a:off x="4325112" y="5266959"/>
            <a:ext cx="1911096" cy="148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12429"/>
                </a:solidFill>
              </a:rPr>
              <a:t>タスク / 4値運用 / 履歴</a:t>
            </a:r>
            <a:endParaRPr lang="en-US" sz="920" dirty="0"/>
          </a:p>
        </p:txBody>
      </p:sp>
      <p:sp>
        <p:nvSpPr>
          <p:cNvPr id="107" name="Shape 25">
            <a:extLst>
              <a:ext uri="{FF2B5EF4-FFF2-40B4-BE49-F238E27FC236}">
                <a16:creationId xmlns:a16="http://schemas.microsoft.com/office/drawing/2014/main" id="{E73EAB68-FC8C-166E-83DB-605C9C3AA059}"/>
              </a:ext>
            </a:extLst>
          </p:cNvPr>
          <p:cNvSpPr/>
          <p:nvPr/>
        </p:nvSpPr>
        <p:spPr>
          <a:xfrm>
            <a:off x="4099915" y="5803624"/>
            <a:ext cx="5348883" cy="961871"/>
          </a:xfrm>
          <a:prstGeom prst="roundRect">
            <a:avLst>
              <a:gd name="adj" fmla="val 15385"/>
            </a:avLst>
          </a:prstGeom>
          <a:noFill/>
          <a:ln w="12700">
            <a:solidFill>
              <a:srgbClr val="16A34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ja-JP" altLang="en-US" dirty="0">
              <a:noFill/>
            </a:endParaRPr>
          </a:p>
        </p:txBody>
      </p:sp>
      <p:sp>
        <p:nvSpPr>
          <p:cNvPr id="108" name="Text 26">
            <a:extLst>
              <a:ext uri="{FF2B5EF4-FFF2-40B4-BE49-F238E27FC236}">
                <a16:creationId xmlns:a16="http://schemas.microsoft.com/office/drawing/2014/main" id="{C067BDF8-3E00-E357-6386-4CFA3F39EFEC}"/>
              </a:ext>
            </a:extLst>
          </p:cNvPr>
          <p:cNvSpPr/>
          <p:nvPr/>
        </p:nvSpPr>
        <p:spPr>
          <a:xfrm>
            <a:off x="4264508" y="6047861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予算管理</a:t>
            </a:r>
            <a:endParaRPr lang="en-US" sz="1200" dirty="0"/>
          </a:p>
        </p:txBody>
      </p:sp>
      <p:sp>
        <p:nvSpPr>
          <p:cNvPr id="109" name="Text 27">
            <a:extLst>
              <a:ext uri="{FF2B5EF4-FFF2-40B4-BE49-F238E27FC236}">
                <a16:creationId xmlns:a16="http://schemas.microsoft.com/office/drawing/2014/main" id="{ED031A18-31A3-4513-CB44-09706DAA66AB}"/>
              </a:ext>
            </a:extLst>
          </p:cNvPr>
          <p:cNvSpPr/>
          <p:nvPr/>
        </p:nvSpPr>
        <p:spPr>
          <a:xfrm>
            <a:off x="4264508" y="6358756"/>
            <a:ext cx="1911096" cy="1530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12429"/>
                </a:solidFill>
              </a:rPr>
              <a:t>予算・実績 / 消費率</a:t>
            </a:r>
            <a:endParaRPr lang="en-US" sz="920" dirty="0"/>
          </a:p>
        </p:txBody>
      </p:sp>
      <p:sp>
        <p:nvSpPr>
          <p:cNvPr id="183" name="テキスト ボックス 182">
            <a:extLst>
              <a:ext uri="{FF2B5EF4-FFF2-40B4-BE49-F238E27FC236}">
                <a16:creationId xmlns:a16="http://schemas.microsoft.com/office/drawing/2014/main" id="{6B7A8052-9E04-3104-6DD3-B72D1C4BD110}"/>
              </a:ext>
            </a:extLst>
          </p:cNvPr>
          <p:cNvSpPr txBox="1"/>
          <p:nvPr/>
        </p:nvSpPr>
        <p:spPr>
          <a:xfrm>
            <a:off x="8582381" y="137551"/>
            <a:ext cx="3530996" cy="206133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##</a:t>
            </a:r>
            <a:r>
              <a:rPr lang="ja-JP" altLang="en-US" sz="1100" b="0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ja-JP" altLang="en-US" sz="11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プロジェクト名の由来</a:t>
            </a:r>
            <a:endParaRPr lang="ja-JP" alt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ja-JP" alt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altLang="ja-JP" sz="1100" b="1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ProjNexus</a:t>
            </a: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ja-JP" alt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altLang="ja-JP" sz="1100" b="1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Project</a:t>
            </a: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ja-JP" alt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（案件管理）</a:t>
            </a:r>
            <a:r>
              <a:rPr lang="en-US" altLang="ja-JP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altLang="ja-JP" sz="1100" b="1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Nexus</a:t>
            </a: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ja-JP" alt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（接続点・中枢）</a:t>
            </a:r>
          </a:p>
          <a:p>
            <a:pPr>
              <a:lnSpc>
                <a:spcPts val="1425"/>
              </a:lnSpc>
              <a:buNone/>
            </a:pPr>
            <a:endParaRPr lang="ja-JP" alt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ja-JP" altLang="en-US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altLang="ja-JP" sz="1100" b="1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Nexus</a:t>
            </a:r>
            <a:r>
              <a:rPr lang="ja-JP" altLang="en-US" sz="1100" b="1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（ネクサス）</a:t>
            </a: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ja-JP" altLang="en-US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 とは「すべてが繋がる中心点」を意味します。</a:t>
            </a:r>
            <a:endParaRPr lang="ja-JP" alt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ja-JP" altLang="en-US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 申請者・部門管理者・本部管理者</a:t>
            </a:r>
            <a:r>
              <a:rPr lang="en-US" altLang="ja-JP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——</a:t>
            </a:r>
            <a:r>
              <a:rPr lang="ja-JP" altLang="en-US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それぞれの視点を</a:t>
            </a: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ja-JP" altLang="en-US" sz="1100" b="1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ひとつの軸に繋ぎ</a:t>
            </a: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ja-JP" altLang="en-US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、プロジェクトを目標へと導く。</a:t>
            </a:r>
            <a:endParaRPr lang="ja-JP" alt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1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ja-JP" altLang="en-US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 それが </a:t>
            </a: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altLang="ja-JP" sz="1100" b="1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ProjNexus</a:t>
            </a:r>
            <a:r>
              <a:rPr lang="ja-JP" altLang="en-US" sz="1100" b="1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ja-JP" altLang="en-US" sz="11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 のコンセプトです。</a:t>
            </a:r>
            <a:endParaRPr lang="ja-JP" alt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905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55">
            <a:extLst>
              <a:ext uri="{FF2B5EF4-FFF2-40B4-BE49-F238E27FC236}">
                <a16:creationId xmlns:a16="http://schemas.microsoft.com/office/drawing/2014/main" id="{58B706D4-FDCD-E362-5519-D4913842D640}"/>
              </a:ext>
            </a:extLst>
          </p:cNvPr>
          <p:cNvSpPr/>
          <p:nvPr/>
        </p:nvSpPr>
        <p:spPr>
          <a:xfrm>
            <a:off x="6111239" y="1276629"/>
            <a:ext cx="5556309" cy="45859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E4E9EF"/>
            </a:solidFill>
            <a:prstDash val="solid"/>
          </a:ln>
          <a:effectLst>
            <a:outerShdw blurRad="38100" dist="50800" dir="2700000" algn="bl" rotWithShape="0">
              <a:srgbClr val="D5DEE8">
                <a:alpha val="20000"/>
              </a:srgbClr>
            </a:outerShdw>
          </a:effectLst>
        </p:spPr>
        <p:txBody>
          <a:bodyPr/>
          <a:lstStyle/>
          <a:p>
            <a:endParaRPr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DB1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11132519" y="-227559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0868628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11910349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15392" y="9144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0" y="1932426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36576" y="27432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-152248" y="4771161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341942" y="56285"/>
            <a:ext cx="1609344" cy="384050"/>
          </a:xfrm>
          <a:prstGeom prst="roundRect">
            <a:avLst/>
          </a:prstGeom>
          <a:solidFill>
            <a:srgbClr val="FFFF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課題1 工夫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6645351" y="5604765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Design-first development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85216" y="4114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工夫1:</a:t>
            </a:r>
            <a:r>
              <a:rPr lang="ja-JP" altLang="en-US" sz="2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設計</a:t>
            </a:r>
            <a:r>
              <a:rPr lang="en-US" sz="2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</a:t>
            </a:r>
            <a:r>
              <a:rPr lang="ja-JP" altLang="en-US" sz="2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総時間の</a:t>
            </a:r>
            <a:r>
              <a:rPr lang="en-US" sz="2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31%を投資</a:t>
            </a:r>
            <a:r>
              <a:rPr lang="ja-JP" altLang="en-US" sz="2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し、</a:t>
            </a:r>
            <a:r>
              <a:rPr lang="en-US" sz="2400" b="1" dirty="0" err="1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設計の解像度を先に上げた</a:t>
            </a:r>
            <a:endParaRPr lang="en-US" sz="2400" dirty="0"/>
          </a:p>
        </p:txBody>
      </p:sp>
      <p:sp>
        <p:nvSpPr>
          <p:cNvPr id="49" name="Shape 47"/>
          <p:cNvSpPr/>
          <p:nvPr/>
        </p:nvSpPr>
        <p:spPr>
          <a:xfrm>
            <a:off x="6595058" y="1703857"/>
            <a:ext cx="763525" cy="417528"/>
          </a:xfrm>
          <a:prstGeom prst="roundRect">
            <a:avLst>
              <a:gd name="adj" fmla="val 23529"/>
            </a:avLst>
          </a:prstGeom>
          <a:solidFill>
            <a:srgbClr val="FFF1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6581343" y="1896617"/>
            <a:ext cx="777241" cy="1828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E60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ER図</a:t>
            </a: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6655970" y="3624011"/>
            <a:ext cx="1058004" cy="648739"/>
          </a:xfrm>
          <a:prstGeom prst="roundRect">
            <a:avLst>
              <a:gd name="adj" fmla="val 23529"/>
            </a:avLst>
          </a:prstGeom>
          <a:solidFill>
            <a:srgbClr val="EAF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6701690" y="3939083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7F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HTMLモック</a:t>
            </a: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8918931" y="1703632"/>
            <a:ext cx="1100815" cy="475488"/>
          </a:xfrm>
          <a:prstGeom prst="roundRect">
            <a:avLst>
              <a:gd name="adj" fmla="val 23529"/>
            </a:avLst>
          </a:prstGeom>
          <a:solidFill>
            <a:srgbClr val="F3EC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8992997" y="1908634"/>
            <a:ext cx="856794" cy="118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6D28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AI.md</a:t>
            </a: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9047175" y="3624011"/>
            <a:ext cx="2520138" cy="612456"/>
          </a:xfrm>
          <a:prstGeom prst="roundRect">
            <a:avLst>
              <a:gd name="adj" fmla="val 23529"/>
            </a:avLst>
          </a:prstGeom>
          <a:solidFill>
            <a:srgbClr val="E8F8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4"/>
          <p:cNvSpPr/>
          <p:nvPr/>
        </p:nvSpPr>
        <p:spPr>
          <a:xfrm>
            <a:off x="9145456" y="3911601"/>
            <a:ext cx="2132144" cy="15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698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system_spec.md</a:t>
            </a: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367780" y="1357653"/>
            <a:ext cx="5556309" cy="45859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E4E9EF"/>
            </a:solidFill>
            <a:prstDash val="solid"/>
          </a:ln>
          <a:effectLst>
            <a:outerShdw blurRad="38100" dist="50800" dir="2700000" algn="bl" rotWithShape="0">
              <a:srgbClr val="D5DEE8">
                <a:alpha val="20000"/>
              </a:srgbClr>
            </a:outerShdw>
          </a:effectLst>
        </p:spPr>
        <p:txBody>
          <a:bodyPr/>
          <a:lstStyle/>
          <a:p>
            <a:endParaRPr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15" name="図 114">
            <a:extLst>
              <a:ext uri="{FF2B5EF4-FFF2-40B4-BE49-F238E27FC236}">
                <a16:creationId xmlns:a16="http://schemas.microsoft.com/office/drawing/2014/main" id="{47D437CB-F145-6F24-46C2-FD41B60D7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40917"/>
            <a:ext cx="4131265" cy="3874007"/>
          </a:xfrm>
          <a:prstGeom prst="rect">
            <a:avLst/>
          </a:prstGeom>
        </p:spPr>
      </p:pic>
      <p:sp>
        <p:nvSpPr>
          <p:cNvPr id="110" name="Text 41">
            <a:extLst>
              <a:ext uri="{FF2B5EF4-FFF2-40B4-BE49-F238E27FC236}">
                <a16:creationId xmlns:a16="http://schemas.microsoft.com/office/drawing/2014/main" id="{5AB573C9-0DE6-C4E8-D4B7-8CFFBAE9A575}"/>
              </a:ext>
            </a:extLst>
          </p:cNvPr>
          <p:cNvSpPr/>
          <p:nvPr/>
        </p:nvSpPr>
        <p:spPr>
          <a:xfrm>
            <a:off x="3535115" y="2975795"/>
            <a:ext cx="893165" cy="334333"/>
          </a:xfrm>
          <a:prstGeom prst="round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 dirty="0">
                <a:solidFill>
                  <a:srgbClr val="FF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11" name="Text 41">
            <a:extLst>
              <a:ext uri="{FF2B5EF4-FFF2-40B4-BE49-F238E27FC236}">
                <a16:creationId xmlns:a16="http://schemas.microsoft.com/office/drawing/2014/main" id="{A4CB76D6-1BC7-8B6A-3F3E-75E324AF85C0}"/>
              </a:ext>
            </a:extLst>
          </p:cNvPr>
          <p:cNvSpPr/>
          <p:nvPr/>
        </p:nvSpPr>
        <p:spPr>
          <a:xfrm>
            <a:off x="1938528" y="3944974"/>
            <a:ext cx="1795759" cy="326514"/>
          </a:xfrm>
          <a:prstGeom prst="round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 dirty="0">
                <a:solidFill>
                  <a:srgbClr val="FF0000"/>
                </a:solidFill>
              </a:rPr>
              <a:t>実装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13" name="Text 41">
            <a:extLst>
              <a:ext uri="{FF2B5EF4-FFF2-40B4-BE49-F238E27FC236}">
                <a16:creationId xmlns:a16="http://schemas.microsoft.com/office/drawing/2014/main" id="{3AF9619D-5D01-EEE6-9437-544CF8A909BD}"/>
              </a:ext>
            </a:extLst>
          </p:cNvPr>
          <p:cNvSpPr/>
          <p:nvPr/>
        </p:nvSpPr>
        <p:spPr>
          <a:xfrm>
            <a:off x="1997847" y="2481073"/>
            <a:ext cx="963588" cy="262127"/>
          </a:xfrm>
          <a:prstGeom prst="round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 dirty="0">
                <a:solidFill>
                  <a:srgbClr val="FF0000"/>
                </a:solidFill>
              </a:rPr>
              <a:t>資料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4429172" y="1761175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60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</a:t>
            </a:r>
            <a:r>
              <a:rPr lang="ja-JP" altLang="en-US" sz="6000" b="1" dirty="0">
                <a:solidFill>
                  <a:srgbClr val="E60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％</a:t>
            </a:r>
            <a:endParaRPr lang="en-US" sz="6000" dirty="0"/>
          </a:p>
        </p:txBody>
      </p:sp>
      <p:sp>
        <p:nvSpPr>
          <p:cNvPr id="116" name="Text 45">
            <a:extLst>
              <a:ext uri="{FF2B5EF4-FFF2-40B4-BE49-F238E27FC236}">
                <a16:creationId xmlns:a16="http://schemas.microsoft.com/office/drawing/2014/main" id="{F3041B6F-7E95-776F-3509-65B0DF52F65F}"/>
              </a:ext>
            </a:extLst>
          </p:cNvPr>
          <p:cNvSpPr/>
          <p:nvPr/>
        </p:nvSpPr>
        <p:spPr>
          <a:xfrm>
            <a:off x="556779" y="1375182"/>
            <a:ext cx="1908148" cy="55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b="1" dirty="0"/>
              <a:t>作業時間の内訳</a:t>
            </a:r>
            <a:endParaRPr lang="en-US" b="1" dirty="0"/>
          </a:p>
        </p:txBody>
      </p:sp>
      <p:sp>
        <p:nvSpPr>
          <p:cNvPr id="89" name="Text 87"/>
          <p:cNvSpPr/>
          <p:nvPr/>
        </p:nvSpPr>
        <p:spPr>
          <a:xfrm>
            <a:off x="4008733" y="3383281"/>
            <a:ext cx="72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31h</a:t>
            </a:r>
          </a:p>
        </p:txBody>
      </p:sp>
      <p:sp>
        <p:nvSpPr>
          <p:cNvPr id="117" name="Text 87">
            <a:extLst>
              <a:ext uri="{FF2B5EF4-FFF2-40B4-BE49-F238E27FC236}">
                <a16:creationId xmlns:a16="http://schemas.microsoft.com/office/drawing/2014/main" id="{14A63FDB-7A52-B9E2-5BD5-092FCCEDC9F3}"/>
              </a:ext>
            </a:extLst>
          </p:cNvPr>
          <p:cNvSpPr/>
          <p:nvPr/>
        </p:nvSpPr>
        <p:spPr>
          <a:xfrm>
            <a:off x="2229914" y="2752344"/>
            <a:ext cx="72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25h</a:t>
            </a:r>
          </a:p>
        </p:txBody>
      </p:sp>
      <p:sp>
        <p:nvSpPr>
          <p:cNvPr id="118" name="Text 87">
            <a:extLst>
              <a:ext uri="{FF2B5EF4-FFF2-40B4-BE49-F238E27FC236}">
                <a16:creationId xmlns:a16="http://schemas.microsoft.com/office/drawing/2014/main" id="{EEEEDF11-4C7C-8D43-F8FE-44BF475E4224}"/>
              </a:ext>
            </a:extLst>
          </p:cNvPr>
          <p:cNvSpPr/>
          <p:nvPr/>
        </p:nvSpPr>
        <p:spPr>
          <a:xfrm>
            <a:off x="3063241" y="4296943"/>
            <a:ext cx="72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31h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9" name="Text 87">
            <a:extLst>
              <a:ext uri="{FF2B5EF4-FFF2-40B4-BE49-F238E27FC236}">
                <a16:creationId xmlns:a16="http://schemas.microsoft.com/office/drawing/2014/main" id="{E1B5A62F-04D6-699F-800D-0BB6B1F07807}"/>
              </a:ext>
            </a:extLst>
          </p:cNvPr>
          <p:cNvSpPr/>
          <p:nvPr/>
        </p:nvSpPr>
        <p:spPr>
          <a:xfrm>
            <a:off x="4109144" y="4763541"/>
            <a:ext cx="72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21" name="図 120">
            <a:extLst>
              <a:ext uri="{FF2B5EF4-FFF2-40B4-BE49-F238E27FC236}">
                <a16:creationId xmlns:a16="http://schemas.microsoft.com/office/drawing/2014/main" id="{75D5DE93-BE88-CDEE-E1C9-BC5261672A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3348"/>
          <a:stretch>
            <a:fillRect/>
          </a:stretch>
        </p:blipFill>
        <p:spPr>
          <a:xfrm>
            <a:off x="8931351" y="2289585"/>
            <a:ext cx="2614779" cy="1215276"/>
          </a:xfrm>
          <a:prstGeom prst="rect">
            <a:avLst/>
          </a:prstGeom>
        </p:spPr>
      </p:pic>
      <p:pic>
        <p:nvPicPr>
          <p:cNvPr id="123" name="図 122">
            <a:extLst>
              <a:ext uri="{FF2B5EF4-FFF2-40B4-BE49-F238E27FC236}">
                <a16:creationId xmlns:a16="http://schemas.microsoft.com/office/drawing/2014/main" id="{8183AE9C-460C-3004-8FE3-31B3ACD270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1353"/>
          <a:stretch>
            <a:fillRect/>
          </a:stretch>
        </p:blipFill>
        <p:spPr>
          <a:xfrm>
            <a:off x="6637388" y="4474770"/>
            <a:ext cx="2165542" cy="1253969"/>
          </a:xfrm>
          <a:prstGeom prst="rect">
            <a:avLst/>
          </a:prstGeom>
        </p:spPr>
      </p:pic>
      <p:pic>
        <p:nvPicPr>
          <p:cNvPr id="125" name="図 124">
            <a:extLst>
              <a:ext uri="{FF2B5EF4-FFF2-40B4-BE49-F238E27FC236}">
                <a16:creationId xmlns:a16="http://schemas.microsoft.com/office/drawing/2014/main" id="{3BA6A625-5339-9542-03B7-E3009127DCC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1111" b="44579"/>
          <a:stretch>
            <a:fillRect/>
          </a:stretch>
        </p:blipFill>
        <p:spPr>
          <a:xfrm>
            <a:off x="6687539" y="2184485"/>
            <a:ext cx="1722604" cy="1372301"/>
          </a:xfrm>
          <a:prstGeom prst="rect">
            <a:avLst/>
          </a:prstGeom>
        </p:spPr>
      </p:pic>
      <p:sp>
        <p:nvSpPr>
          <p:cNvPr id="130" name="Text 45">
            <a:extLst>
              <a:ext uri="{FF2B5EF4-FFF2-40B4-BE49-F238E27FC236}">
                <a16:creationId xmlns:a16="http://schemas.microsoft.com/office/drawing/2014/main" id="{5E2772B8-7709-7495-711D-925E75396EBD}"/>
              </a:ext>
            </a:extLst>
          </p:cNvPr>
          <p:cNvSpPr/>
          <p:nvPr/>
        </p:nvSpPr>
        <p:spPr>
          <a:xfrm>
            <a:off x="6230897" y="1192556"/>
            <a:ext cx="2717169" cy="55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b="1" dirty="0"/>
              <a:t>設計時に作った資料</a:t>
            </a:r>
            <a:endParaRPr lang="en-US" b="1" dirty="0"/>
          </a:p>
        </p:txBody>
      </p:sp>
      <p:sp>
        <p:nvSpPr>
          <p:cNvPr id="133" name="Shape 53">
            <a:extLst>
              <a:ext uri="{FF2B5EF4-FFF2-40B4-BE49-F238E27FC236}">
                <a16:creationId xmlns:a16="http://schemas.microsoft.com/office/drawing/2014/main" id="{ED1B9341-BDFE-5AD9-BAA2-FAE37ACF0A13}"/>
              </a:ext>
            </a:extLst>
          </p:cNvPr>
          <p:cNvSpPr/>
          <p:nvPr/>
        </p:nvSpPr>
        <p:spPr>
          <a:xfrm>
            <a:off x="9015579" y="4428013"/>
            <a:ext cx="2520138" cy="622702"/>
          </a:xfrm>
          <a:prstGeom prst="roundRect">
            <a:avLst>
              <a:gd name="adj" fmla="val 23529"/>
            </a:avLst>
          </a:prstGeom>
          <a:solidFill>
            <a:srgbClr val="E8F8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4" name="Text 54">
            <a:extLst>
              <a:ext uri="{FF2B5EF4-FFF2-40B4-BE49-F238E27FC236}">
                <a16:creationId xmlns:a16="http://schemas.microsoft.com/office/drawing/2014/main" id="{62E5574A-7155-0515-2EB8-50A583FFC0FF}"/>
              </a:ext>
            </a:extLst>
          </p:cNvPr>
          <p:cNvSpPr/>
          <p:nvPr/>
        </p:nvSpPr>
        <p:spPr>
          <a:xfrm>
            <a:off x="9113860" y="4715604"/>
            <a:ext cx="2026580" cy="791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698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Color_guide.me</a:t>
            </a:r>
            <a:endParaRPr lang="en-US" dirty="0"/>
          </a:p>
        </p:txBody>
      </p:sp>
      <p:sp>
        <p:nvSpPr>
          <p:cNvPr id="135" name="Shape 53">
            <a:extLst>
              <a:ext uri="{FF2B5EF4-FFF2-40B4-BE49-F238E27FC236}">
                <a16:creationId xmlns:a16="http://schemas.microsoft.com/office/drawing/2014/main" id="{1DF24E12-836D-6C0E-3E27-34CDA628800C}"/>
              </a:ext>
            </a:extLst>
          </p:cNvPr>
          <p:cNvSpPr/>
          <p:nvPr/>
        </p:nvSpPr>
        <p:spPr>
          <a:xfrm>
            <a:off x="9015579" y="5190517"/>
            <a:ext cx="2520138" cy="622702"/>
          </a:xfrm>
          <a:prstGeom prst="roundRect">
            <a:avLst>
              <a:gd name="adj" fmla="val 23529"/>
            </a:avLst>
          </a:prstGeom>
          <a:solidFill>
            <a:srgbClr val="E8F8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6" name="Text 54">
            <a:extLst>
              <a:ext uri="{FF2B5EF4-FFF2-40B4-BE49-F238E27FC236}">
                <a16:creationId xmlns:a16="http://schemas.microsoft.com/office/drawing/2014/main" id="{B34A02B8-1748-3010-737D-71AC63C65894}"/>
              </a:ext>
            </a:extLst>
          </p:cNvPr>
          <p:cNvSpPr/>
          <p:nvPr/>
        </p:nvSpPr>
        <p:spPr>
          <a:xfrm>
            <a:off x="9045280" y="5486400"/>
            <a:ext cx="2296630" cy="708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dirty="0">
                <a:solidFill>
                  <a:srgbClr val="1698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design_system.md</a:t>
            </a:r>
            <a:endParaRPr lang="en-US" dirty="0"/>
          </a:p>
        </p:txBody>
      </p:sp>
      <p:sp>
        <p:nvSpPr>
          <p:cNvPr id="137" name="Text 46">
            <a:extLst>
              <a:ext uri="{FF2B5EF4-FFF2-40B4-BE49-F238E27FC236}">
                <a16:creationId xmlns:a16="http://schemas.microsoft.com/office/drawing/2014/main" id="{B4B732FF-D6F9-09E3-0980-E2FCDC387243}"/>
              </a:ext>
            </a:extLst>
          </p:cNvPr>
          <p:cNvSpPr/>
          <p:nvPr/>
        </p:nvSpPr>
        <p:spPr>
          <a:xfrm>
            <a:off x="633055" y="6016754"/>
            <a:ext cx="10680815" cy="80522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ja-JP" altLang="en-US" sz="3200" dirty="0">
                <a:solidFill>
                  <a:srgbClr val="11182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→設計の意図、判断の仮定も残す</a:t>
            </a:r>
            <a:br>
              <a:rPr lang="en-US" altLang="ja-JP" sz="3200" dirty="0">
                <a:solidFill>
                  <a:srgbClr val="11182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</a:br>
            <a:r>
              <a:rPr lang="ja-JP" altLang="en-US" sz="3200" dirty="0">
                <a:solidFill>
                  <a:srgbClr val="11182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→実装時に</a:t>
            </a:r>
            <a:r>
              <a:rPr lang="en-US" altLang="ja-JP" sz="3200" dirty="0">
                <a:solidFill>
                  <a:srgbClr val="11182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AI</a:t>
            </a:r>
            <a:r>
              <a:rPr lang="ja-JP" altLang="en-US" sz="3200" dirty="0">
                <a:solidFill>
                  <a:srgbClr val="11182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へ指示する回数を減らし、実装時間短縮へ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DB1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130724" y="-17362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11838972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585216" y="4114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工夫2: </a:t>
            </a:r>
            <a:r>
              <a:rPr lang="ja-JP" altLang="en-US" sz="2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いろいろな</a:t>
            </a:r>
            <a:r>
              <a:rPr lang="en-US" sz="2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</a:t>
            </a:r>
            <a:r>
              <a:rPr lang="ja-JP" altLang="en-US" sz="2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との役割分担を決めた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713232" y="16002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4E9EF"/>
            </a:solidFill>
            <a:prstDash val="solid"/>
          </a:ln>
          <a:effectLst>
            <a:outerShdw blurRad="38100" dist="50800" dir="2700000" algn="bl" rotWithShape="0">
              <a:srgbClr val="D5DEE8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49"/>
          <p:cNvSpPr/>
          <p:nvPr/>
        </p:nvSpPr>
        <p:spPr>
          <a:xfrm>
            <a:off x="4389120" y="16002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4E9EF"/>
            </a:solidFill>
            <a:prstDash val="solid"/>
          </a:ln>
          <a:effectLst>
            <a:outerShdw blurRad="38100" dist="50800" dir="2700000" algn="bl" rotWithShape="0">
              <a:srgbClr val="D5DEE8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8065008" y="16002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4E9EF"/>
            </a:solidFill>
            <a:prstDash val="solid"/>
          </a:ln>
          <a:effectLst>
            <a:outerShdw blurRad="38100" dist="50800" dir="2700000" algn="bl" rotWithShape="0">
              <a:srgbClr val="D5DEE8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7" name="Text 41">
            <a:extLst>
              <a:ext uri="{FF2B5EF4-FFF2-40B4-BE49-F238E27FC236}">
                <a16:creationId xmlns:a16="http://schemas.microsoft.com/office/drawing/2014/main" id="{64BB40DC-74B9-572E-A88A-6A29912B3954}"/>
              </a:ext>
            </a:extLst>
          </p:cNvPr>
          <p:cNvSpPr/>
          <p:nvPr/>
        </p:nvSpPr>
        <p:spPr>
          <a:xfrm>
            <a:off x="341942" y="56285"/>
            <a:ext cx="1609344" cy="384050"/>
          </a:xfrm>
          <a:prstGeom prst="roundRect">
            <a:avLst/>
          </a:prstGeom>
          <a:solidFill>
            <a:srgbClr val="FFFF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課題1 工夫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89" name="Shape 3">
            <a:extLst>
              <a:ext uri="{FF2B5EF4-FFF2-40B4-BE49-F238E27FC236}">
                <a16:creationId xmlns:a16="http://schemas.microsoft.com/office/drawing/2014/main" id="{C569AF64-07C8-3ECC-A47C-1445794F3DDB}"/>
              </a:ext>
            </a:extLst>
          </p:cNvPr>
          <p:cNvSpPr/>
          <p:nvPr/>
        </p:nvSpPr>
        <p:spPr>
          <a:xfrm>
            <a:off x="1810512" y="1765486"/>
            <a:ext cx="1143000" cy="1143000"/>
          </a:xfrm>
          <a:prstGeom prst="arc">
            <a:avLst>
              <a:gd name="adj1" fmla="val 16200000"/>
              <a:gd name="adj2" fmla="val 1639789"/>
            </a:avLst>
          </a:prstGeom>
          <a:solidFill>
            <a:srgbClr val="E60013"/>
          </a:solidFill>
          <a:ln w="12700">
            <a:solidFill>
              <a:srgbClr val="E60013"/>
            </a:solidFill>
            <a:prstDash val="solid"/>
          </a:ln>
        </p:spPr>
        <p:txBody>
          <a:bodyPr/>
          <a:lstStyle/>
          <a:p>
            <a:endParaRPr lang="ja-JP" altLang="en-US" dirty="0">
              <a:highlight>
                <a:srgbClr val="FFFF00"/>
              </a:highlight>
            </a:endParaRPr>
          </a:p>
        </p:txBody>
      </p:sp>
      <p:sp>
        <p:nvSpPr>
          <p:cNvPr id="90" name="Text 4">
            <a:extLst>
              <a:ext uri="{FF2B5EF4-FFF2-40B4-BE49-F238E27FC236}">
                <a16:creationId xmlns:a16="http://schemas.microsoft.com/office/drawing/2014/main" id="{A2F3A678-6EBC-7C08-A497-F455D00EA306}"/>
              </a:ext>
            </a:extLst>
          </p:cNvPr>
          <p:cNvSpPr/>
          <p:nvPr/>
        </p:nvSpPr>
        <p:spPr>
          <a:xfrm>
            <a:off x="713232" y="311879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0013"/>
                </a:solidFill>
              </a:rPr>
              <a:t>自分</a:t>
            </a:r>
            <a:endParaRPr lang="en-US" sz="1600" dirty="0"/>
          </a:p>
        </p:txBody>
      </p:sp>
      <p:sp>
        <p:nvSpPr>
          <p:cNvPr id="91" name="Text 5">
            <a:extLst>
              <a:ext uri="{FF2B5EF4-FFF2-40B4-BE49-F238E27FC236}">
                <a16:creationId xmlns:a16="http://schemas.microsoft.com/office/drawing/2014/main" id="{8C902267-1892-C130-F48A-EAFC86B611A6}"/>
              </a:ext>
            </a:extLst>
          </p:cNvPr>
          <p:cNvSpPr/>
          <p:nvPr/>
        </p:nvSpPr>
        <p:spPr>
          <a:xfrm>
            <a:off x="896112" y="354856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429"/>
                </a:solidFill>
              </a:rPr>
              <a:t>判断 / </a:t>
            </a:r>
            <a:r>
              <a:rPr lang="en-US" sz="1600" dirty="0" err="1">
                <a:solidFill>
                  <a:srgbClr val="212429"/>
                </a:solidFill>
              </a:rPr>
              <a:t>優先順位</a:t>
            </a:r>
            <a:r>
              <a:rPr lang="en-US" sz="1600" dirty="0">
                <a:solidFill>
                  <a:srgbClr val="212429"/>
                </a:solidFill>
              </a:rPr>
              <a:t> /</a:t>
            </a:r>
            <a:r>
              <a:rPr lang="ja-JP" altLang="en-US" sz="1600" dirty="0">
                <a:solidFill>
                  <a:srgbClr val="212429"/>
                </a:solidFill>
              </a:rPr>
              <a:t>テスト</a:t>
            </a:r>
            <a:r>
              <a:rPr lang="en-US" altLang="ja-JP" sz="1600" dirty="0">
                <a:solidFill>
                  <a:srgbClr val="212429"/>
                </a:solidFill>
              </a:rPr>
              <a:t>/</a:t>
            </a:r>
            <a:br>
              <a:rPr lang="en-US" altLang="ja-JP" sz="1600" dirty="0">
                <a:solidFill>
                  <a:srgbClr val="212429"/>
                </a:solidFill>
              </a:rPr>
            </a:br>
            <a:r>
              <a:rPr lang="en-US" sz="1600" dirty="0">
                <a:solidFill>
                  <a:srgbClr val="212429"/>
                </a:solidFill>
              </a:rPr>
              <a:t> 最終責任</a:t>
            </a:r>
            <a:endParaRPr lang="en-US" sz="1600" dirty="0"/>
          </a:p>
        </p:txBody>
      </p:sp>
      <p:sp>
        <p:nvSpPr>
          <p:cNvPr id="92" name="Shape 6">
            <a:extLst>
              <a:ext uri="{FF2B5EF4-FFF2-40B4-BE49-F238E27FC236}">
                <a16:creationId xmlns:a16="http://schemas.microsoft.com/office/drawing/2014/main" id="{1CD12215-8635-19E3-F7A4-723FB8AA5CC0}"/>
              </a:ext>
            </a:extLst>
          </p:cNvPr>
          <p:cNvSpPr/>
          <p:nvPr/>
        </p:nvSpPr>
        <p:spPr>
          <a:xfrm>
            <a:off x="5541264" y="1765486"/>
            <a:ext cx="1143000" cy="1143000"/>
          </a:xfrm>
          <a:prstGeom prst="arc">
            <a:avLst>
              <a:gd name="adj1" fmla="val 1484843"/>
              <a:gd name="adj2" fmla="val 9451508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3" name="Text 7">
            <a:extLst>
              <a:ext uri="{FF2B5EF4-FFF2-40B4-BE49-F238E27FC236}">
                <a16:creationId xmlns:a16="http://schemas.microsoft.com/office/drawing/2014/main" id="{84493E8B-8AAD-BAF5-3395-6E1C508A3DCE}"/>
              </a:ext>
            </a:extLst>
          </p:cNvPr>
          <p:cNvSpPr/>
          <p:nvPr/>
        </p:nvSpPr>
        <p:spPr>
          <a:xfrm>
            <a:off x="4443984" y="311879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28D9"/>
                </a:solidFill>
              </a:rPr>
              <a:t>Claude</a:t>
            </a:r>
            <a:endParaRPr lang="en-US" sz="1600" dirty="0"/>
          </a:p>
        </p:txBody>
      </p:sp>
      <p:sp>
        <p:nvSpPr>
          <p:cNvPr id="94" name="Text 8">
            <a:extLst>
              <a:ext uri="{FF2B5EF4-FFF2-40B4-BE49-F238E27FC236}">
                <a16:creationId xmlns:a16="http://schemas.microsoft.com/office/drawing/2014/main" id="{F752E7A2-F31E-E0C4-18EA-C62369E1C1A1}"/>
              </a:ext>
            </a:extLst>
          </p:cNvPr>
          <p:cNvSpPr/>
          <p:nvPr/>
        </p:nvSpPr>
        <p:spPr>
          <a:xfrm>
            <a:off x="4626864" y="354856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429"/>
                </a:solidFill>
              </a:rPr>
              <a:t>設計整理 / </a:t>
            </a:r>
            <a:r>
              <a:rPr lang="en-US" sz="1600" dirty="0" err="1">
                <a:solidFill>
                  <a:srgbClr val="212429"/>
                </a:solidFill>
              </a:rPr>
              <a:t>仕様の言語化</a:t>
            </a:r>
            <a:r>
              <a:rPr lang="en-US" sz="1600" dirty="0">
                <a:solidFill>
                  <a:srgbClr val="212429"/>
                </a:solidFill>
              </a:rPr>
              <a:t> </a:t>
            </a:r>
            <a:br>
              <a:rPr lang="en-US" sz="1600" dirty="0">
                <a:solidFill>
                  <a:srgbClr val="212429"/>
                </a:solidFill>
              </a:rPr>
            </a:br>
            <a:r>
              <a:rPr lang="en-US" sz="1600" dirty="0">
                <a:solidFill>
                  <a:srgbClr val="212429"/>
                </a:solidFill>
              </a:rPr>
              <a:t>/ 比較検討</a:t>
            </a:r>
            <a:endParaRPr lang="en-US" sz="1600" dirty="0"/>
          </a:p>
        </p:txBody>
      </p:sp>
      <p:sp>
        <p:nvSpPr>
          <p:cNvPr id="95" name="Shape 9">
            <a:extLst>
              <a:ext uri="{FF2B5EF4-FFF2-40B4-BE49-F238E27FC236}">
                <a16:creationId xmlns:a16="http://schemas.microsoft.com/office/drawing/2014/main" id="{F74B6BD9-5F9D-C1BF-060D-DB658FDCFD31}"/>
              </a:ext>
            </a:extLst>
          </p:cNvPr>
          <p:cNvSpPr/>
          <p:nvPr/>
        </p:nvSpPr>
        <p:spPr>
          <a:xfrm>
            <a:off x="9272016" y="1765486"/>
            <a:ext cx="1143000" cy="1143000"/>
          </a:xfrm>
          <a:prstGeom prst="arc">
            <a:avLst>
              <a:gd name="adj1" fmla="val 8719644"/>
              <a:gd name="adj2" fmla="val 16295015"/>
            </a:avLst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6" name="Text 10">
            <a:extLst>
              <a:ext uri="{FF2B5EF4-FFF2-40B4-BE49-F238E27FC236}">
                <a16:creationId xmlns:a16="http://schemas.microsoft.com/office/drawing/2014/main" id="{7D24F2AF-6901-81F4-E3AE-ACB1E3B29364}"/>
              </a:ext>
            </a:extLst>
          </p:cNvPr>
          <p:cNvSpPr/>
          <p:nvPr/>
        </p:nvSpPr>
        <p:spPr>
          <a:xfrm>
            <a:off x="8174736" y="311879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6EBE"/>
                </a:solidFill>
              </a:rPr>
              <a:t>Cursor</a:t>
            </a:r>
            <a:endParaRPr lang="en-US" sz="1600" dirty="0"/>
          </a:p>
        </p:txBody>
      </p:sp>
      <p:sp>
        <p:nvSpPr>
          <p:cNvPr id="97" name="Text 11">
            <a:extLst>
              <a:ext uri="{FF2B5EF4-FFF2-40B4-BE49-F238E27FC236}">
                <a16:creationId xmlns:a16="http://schemas.microsoft.com/office/drawing/2014/main" id="{15AECDDC-D1A2-E9EF-9016-CFEF04A30EFE}"/>
              </a:ext>
            </a:extLst>
          </p:cNvPr>
          <p:cNvSpPr/>
          <p:nvPr/>
        </p:nvSpPr>
        <p:spPr>
          <a:xfrm>
            <a:off x="8357616" y="354856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429"/>
                </a:solidFill>
              </a:rPr>
              <a:t>実装 / 差分修正 / テスト補助</a:t>
            </a:r>
            <a:endParaRPr lang="en-US" sz="1600" dirty="0"/>
          </a:p>
        </p:txBody>
      </p:sp>
      <p:sp>
        <p:nvSpPr>
          <p:cNvPr id="98" name="Shape 12">
            <a:extLst>
              <a:ext uri="{FF2B5EF4-FFF2-40B4-BE49-F238E27FC236}">
                <a16:creationId xmlns:a16="http://schemas.microsoft.com/office/drawing/2014/main" id="{A0A6BD7B-8D75-88A1-3292-8774CEA8BF4E}"/>
              </a:ext>
            </a:extLst>
          </p:cNvPr>
          <p:cNvSpPr/>
          <p:nvPr/>
        </p:nvSpPr>
        <p:spPr>
          <a:xfrm>
            <a:off x="2697480" y="2341558"/>
            <a:ext cx="2377440" cy="0"/>
          </a:xfrm>
          <a:prstGeom prst="line">
            <a:avLst/>
          </a:prstGeom>
          <a:noFill/>
          <a:ln w="19050">
            <a:solidFill>
              <a:srgbClr val="DEE2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9" name="Shape 13">
            <a:extLst>
              <a:ext uri="{FF2B5EF4-FFF2-40B4-BE49-F238E27FC236}">
                <a16:creationId xmlns:a16="http://schemas.microsoft.com/office/drawing/2014/main" id="{A9B0150F-B6DC-226C-817A-ABED8C3FBADD}"/>
              </a:ext>
            </a:extLst>
          </p:cNvPr>
          <p:cNvSpPr/>
          <p:nvPr/>
        </p:nvSpPr>
        <p:spPr>
          <a:xfrm>
            <a:off x="6446520" y="2341558"/>
            <a:ext cx="2377440" cy="0"/>
          </a:xfrm>
          <a:prstGeom prst="line">
            <a:avLst/>
          </a:prstGeom>
          <a:noFill/>
          <a:ln w="19050">
            <a:solidFill>
              <a:srgbClr val="DEE2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0" name="Text 46">
            <a:extLst>
              <a:ext uri="{FF2B5EF4-FFF2-40B4-BE49-F238E27FC236}">
                <a16:creationId xmlns:a16="http://schemas.microsoft.com/office/drawing/2014/main" id="{E22A2F27-045A-A6D3-9D37-9F61341A8829}"/>
              </a:ext>
            </a:extLst>
          </p:cNvPr>
          <p:cNvSpPr/>
          <p:nvPr/>
        </p:nvSpPr>
        <p:spPr>
          <a:xfrm>
            <a:off x="1650597" y="4516442"/>
            <a:ext cx="8608972" cy="12541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ja-JP" altLang="en-US" sz="3600" dirty="0">
                <a:solidFill>
                  <a:srgbClr val="11182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→自分がすることを決めて、残りは</a:t>
            </a:r>
            <a:r>
              <a:rPr lang="en-US" altLang="ja-JP" sz="3600" dirty="0">
                <a:solidFill>
                  <a:srgbClr val="11182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AI</a:t>
            </a:r>
            <a:r>
              <a:rPr lang="ja-JP" altLang="en-US" sz="3600" dirty="0">
                <a:solidFill>
                  <a:srgbClr val="11182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へ任せることで、</a:t>
            </a:r>
            <a:br>
              <a:rPr lang="en-US" altLang="ja-JP" sz="3600" dirty="0">
                <a:solidFill>
                  <a:srgbClr val="11182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</a:br>
            <a:r>
              <a:rPr lang="ja-JP" altLang="en-US" sz="3600" dirty="0">
                <a:solidFill>
                  <a:srgbClr val="111827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　 時間内の完成度を高めた</a:t>
            </a:r>
            <a:endParaRPr lang="en-US" sz="3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DB1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7879079" y="226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6345250" y="3160974"/>
            <a:ext cx="5105400" cy="690627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r>
              <a:rPr lang="ja-JP" altLang="en-US" dirty="0"/>
              <a:t>進捗を短く確認するための要約版 チェック形式</a:t>
            </a:r>
          </a:p>
          <a:p>
            <a:r>
              <a:rPr lang="ja-JP" altLang="en-US" b="1" dirty="0"/>
              <a:t>**明日以降の作業あ目線**</a:t>
            </a:r>
            <a:r>
              <a:rPr lang="ja-JP" altLang="en-US" dirty="0"/>
              <a:t> と運用ルールの要約</a:t>
            </a:r>
          </a:p>
        </p:txBody>
      </p:sp>
      <p:sp>
        <p:nvSpPr>
          <p:cNvPr id="37" name="Shape 3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0" y="5196104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0" y="5653304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585216" y="411479"/>
            <a:ext cx="10844784" cy="1042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工夫3: </a:t>
            </a:r>
            <a:r>
              <a:rPr lang="ja-JP" altLang="en-US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毎日　スケジュールを見直し</a:t>
            </a:r>
            <a:br>
              <a:rPr lang="en-US" altLang="ja-JP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</a:br>
            <a:r>
              <a:rPr lang="ja-JP" altLang="en-US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　　</a:t>
            </a:r>
            <a:r>
              <a:rPr lang="en-US" sz="3200" b="1" dirty="0" err="1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日次ドキュメントで、実装と判断を同期した</a:t>
            </a:r>
            <a:endParaRPr lang="en-US" sz="3200" dirty="0"/>
          </a:p>
        </p:txBody>
      </p:sp>
      <p:sp>
        <p:nvSpPr>
          <p:cNvPr id="46" name="Shape 44"/>
          <p:cNvSpPr/>
          <p:nvPr/>
        </p:nvSpPr>
        <p:spPr>
          <a:xfrm rot="5400000">
            <a:off x="908664" y="1532323"/>
            <a:ext cx="1042415" cy="1318758"/>
          </a:xfrm>
          <a:prstGeom prst="homePlate">
            <a:avLst>
              <a:gd name="adj" fmla="val 37575"/>
            </a:avLst>
          </a:prstGeom>
          <a:solidFill>
            <a:srgbClr val="E6001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47" name="Text 45"/>
          <p:cNvSpPr/>
          <p:nvPr/>
        </p:nvSpPr>
        <p:spPr>
          <a:xfrm>
            <a:off x="950976" y="1938989"/>
            <a:ext cx="960120" cy="483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</a:t>
            </a: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2331720" y="20598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20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AI.md</a:t>
            </a:r>
            <a:br>
              <a:rPr lang="en-US" altLang="ja-JP" sz="20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</a:br>
            <a:r>
              <a:rPr lang="en-US" sz="20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system_spec.md / components_spec.md / design_system.md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8000999" y="284735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変えてよい仕様と、変えてはいけない事実を分ける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Shape 48"/>
          <p:cNvSpPr/>
          <p:nvPr/>
        </p:nvSpPr>
        <p:spPr>
          <a:xfrm rot="5400000">
            <a:off x="844988" y="2703440"/>
            <a:ext cx="1205622" cy="1371600"/>
          </a:xfrm>
          <a:prstGeom prst="chevron">
            <a:avLst>
              <a:gd name="adj" fmla="val 24161"/>
            </a:avLst>
          </a:prstGeom>
          <a:solidFill>
            <a:srgbClr val="0B7FC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51" name="Text 49"/>
          <p:cNvSpPr/>
          <p:nvPr/>
        </p:nvSpPr>
        <p:spPr>
          <a:xfrm>
            <a:off x="950976" y="3100045"/>
            <a:ext cx="960120" cy="712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スケジュール</a:t>
            </a: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462285" y="45262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daily_report.md / daily_technical_report.md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6363538" y="4672585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作業・判断・残課題を1日単位で閉じる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Shape 52"/>
          <p:cNvSpPr/>
          <p:nvPr/>
        </p:nvSpPr>
        <p:spPr>
          <a:xfrm rot="5400000">
            <a:off x="824987" y="4025985"/>
            <a:ext cx="1254116" cy="1363106"/>
          </a:xfrm>
          <a:prstGeom prst="chevron">
            <a:avLst>
              <a:gd name="adj" fmla="val 22996"/>
            </a:avLst>
          </a:prstGeom>
          <a:solidFill>
            <a:srgbClr val="6D28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55" name="Text 53"/>
          <p:cNvSpPr/>
          <p:nvPr/>
        </p:nvSpPr>
        <p:spPr>
          <a:xfrm>
            <a:off x="1009781" y="4729067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日時ログ</a:t>
            </a: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2452955" y="49949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next_chat_handover</a:t>
            </a:r>
            <a:endParaRPr lang="en-US" sz="2000" dirty="0"/>
          </a:p>
        </p:txBody>
      </p:sp>
      <p:sp>
        <p:nvSpPr>
          <p:cNvPr id="58" name="Shape 56"/>
          <p:cNvSpPr/>
          <p:nvPr/>
        </p:nvSpPr>
        <p:spPr>
          <a:xfrm>
            <a:off x="8686800" y="7040650"/>
            <a:ext cx="3428999" cy="393192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4E9EF"/>
            </a:solidFill>
            <a:prstDash val="solid"/>
          </a:ln>
          <a:effectLst>
            <a:outerShdw blurRad="38100" dist="50800" dir="2700000" algn="bl" rotWithShape="0">
              <a:srgbClr val="D5DEE8">
                <a:alpha val="20000"/>
              </a:srgbClr>
            </a:outerShdw>
          </a:effectLst>
        </p:spPr>
        <p:txBody>
          <a:bodyPr/>
          <a:lstStyle/>
          <a:p>
            <a:endParaRPr lang="ja-JP" altLang="en-US" sz="4000"/>
          </a:p>
        </p:txBody>
      </p:sp>
      <p:sp>
        <p:nvSpPr>
          <p:cNvPr id="59" name="Text 57"/>
          <p:cNvSpPr/>
          <p:nvPr/>
        </p:nvSpPr>
        <p:spPr>
          <a:xfrm>
            <a:off x="8869679" y="8019289"/>
            <a:ext cx="3444546" cy="73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スコープ判断の3層</a:t>
            </a:r>
            <a:endParaRPr lang="en-US" sz="2400" dirty="0"/>
          </a:p>
        </p:txBody>
      </p:sp>
      <p:sp>
        <p:nvSpPr>
          <p:cNvPr id="60" name="Shape 58"/>
          <p:cNvSpPr/>
          <p:nvPr/>
        </p:nvSpPr>
        <p:spPr>
          <a:xfrm>
            <a:off x="9674351" y="8705089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FFF1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61" name="Text 59"/>
          <p:cNvSpPr/>
          <p:nvPr/>
        </p:nvSpPr>
        <p:spPr>
          <a:xfrm>
            <a:off x="9720071" y="8778241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E60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必須: 課題1</a:t>
            </a: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9674351" y="9253729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EAF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63" name="Text 61"/>
          <p:cNvSpPr/>
          <p:nvPr/>
        </p:nvSpPr>
        <p:spPr>
          <a:xfrm>
            <a:off x="9720071" y="9326881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7F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MVP: 効果が大きい＋α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9674351" y="9802369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FFF7D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65" name="Text 63"/>
          <p:cNvSpPr/>
          <p:nvPr/>
        </p:nvSpPr>
        <p:spPr>
          <a:xfrm>
            <a:off x="9720071" y="9875521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779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後回し: 次スプリント</a:t>
            </a:r>
            <a:endParaRPr lang="en-US" sz="900" dirty="0"/>
          </a:p>
        </p:txBody>
      </p:sp>
      <p:sp>
        <p:nvSpPr>
          <p:cNvPr id="69" name="Text 41">
            <a:extLst>
              <a:ext uri="{FF2B5EF4-FFF2-40B4-BE49-F238E27FC236}">
                <a16:creationId xmlns:a16="http://schemas.microsoft.com/office/drawing/2014/main" id="{44DB70D0-7D1B-36F1-AE04-28FD274892A4}"/>
              </a:ext>
            </a:extLst>
          </p:cNvPr>
          <p:cNvSpPr/>
          <p:nvPr/>
        </p:nvSpPr>
        <p:spPr>
          <a:xfrm>
            <a:off x="341942" y="56285"/>
            <a:ext cx="1609344" cy="384050"/>
          </a:xfrm>
          <a:prstGeom prst="roundRect">
            <a:avLst/>
          </a:prstGeom>
          <a:solidFill>
            <a:srgbClr val="FFFF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課題1 工夫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02" name="Text 16">
            <a:extLst>
              <a:ext uri="{FF2B5EF4-FFF2-40B4-BE49-F238E27FC236}">
                <a16:creationId xmlns:a16="http://schemas.microsoft.com/office/drawing/2014/main" id="{A27DC7FC-200A-F10A-A7EB-472A52AFE48C}"/>
              </a:ext>
            </a:extLst>
          </p:cNvPr>
          <p:cNvSpPr/>
          <p:nvPr/>
        </p:nvSpPr>
        <p:spPr>
          <a:xfrm>
            <a:off x="6368795" y="1623690"/>
            <a:ext cx="5822899" cy="191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実装前に読む入口。進め方・約束事・参照資料を定義。</a:t>
            </a:r>
          </a:p>
        </p:txBody>
      </p:sp>
      <p:sp>
        <p:nvSpPr>
          <p:cNvPr id="105" name="Text 19">
            <a:extLst>
              <a:ext uri="{FF2B5EF4-FFF2-40B4-BE49-F238E27FC236}">
                <a16:creationId xmlns:a16="http://schemas.microsoft.com/office/drawing/2014/main" id="{85ACB153-EDCC-ADAA-C38E-AEB699D82979}"/>
              </a:ext>
            </a:extLst>
          </p:cNvPr>
          <p:cNvSpPr/>
          <p:nvPr/>
        </p:nvSpPr>
        <p:spPr>
          <a:xfrm>
            <a:off x="6348299" y="1945727"/>
            <a:ext cx="3636492" cy="135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スコープ・DB・URL・権限・通知の正本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8" name="Text 22">
            <a:extLst>
              <a:ext uri="{FF2B5EF4-FFF2-40B4-BE49-F238E27FC236}">
                <a16:creationId xmlns:a16="http://schemas.microsoft.com/office/drawing/2014/main" id="{413C0642-0179-4FF0-8BCE-9C78EF8D4AE0}"/>
              </a:ext>
            </a:extLst>
          </p:cNvPr>
          <p:cNvSpPr/>
          <p:nvPr/>
        </p:nvSpPr>
        <p:spPr>
          <a:xfrm>
            <a:off x="6363538" y="5009944"/>
            <a:ext cx="5523662" cy="156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AIセッションをまたいでも文脈を再開できる引継ぎ。</a:t>
            </a:r>
          </a:p>
        </p:txBody>
      </p:sp>
      <p:sp>
        <p:nvSpPr>
          <p:cNvPr id="70" name="Text 46">
            <a:extLst>
              <a:ext uri="{FF2B5EF4-FFF2-40B4-BE49-F238E27FC236}">
                <a16:creationId xmlns:a16="http://schemas.microsoft.com/office/drawing/2014/main" id="{84101C17-BD43-2749-50EB-7230D78784BD}"/>
              </a:ext>
            </a:extLst>
          </p:cNvPr>
          <p:cNvSpPr/>
          <p:nvPr/>
        </p:nvSpPr>
        <p:spPr>
          <a:xfrm>
            <a:off x="687429" y="5603884"/>
            <a:ext cx="11199771" cy="12541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ja-JP" altLang="en-US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r>
              <a:rPr lang="en-US" altLang="ja-JP" sz="3200" b="1" dirty="0" err="1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やることだけでなく</a:t>
            </a:r>
            <a:r>
              <a:rPr lang="en-US" altLang="ja-JP" sz="3200" b="1" dirty="0">
                <a:solidFill>
                  <a:srgbClr val="E60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ja-JP" sz="3200" b="1" dirty="0" err="1">
                <a:solidFill>
                  <a:srgbClr val="E60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やらないこと</a:t>
            </a:r>
            <a:r>
              <a:rPr lang="en-US" altLang="ja-JP" sz="3200" b="1" dirty="0" err="1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を明文化</a:t>
            </a:r>
            <a:br>
              <a:rPr lang="en-US" altLang="ja-JP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</a:br>
            <a:r>
              <a:rPr lang="ja-JP" altLang="en-US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r>
              <a:rPr lang="en-US" altLang="ja-JP" sz="3200" b="1" dirty="0" err="1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短期PoCの品質を守る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1" name="Text 46">
            <a:extLst>
              <a:ext uri="{FF2B5EF4-FFF2-40B4-BE49-F238E27FC236}">
                <a16:creationId xmlns:a16="http://schemas.microsoft.com/office/drawing/2014/main" id="{32754D09-B76E-05F5-3F9B-E48D42E63D22}"/>
              </a:ext>
            </a:extLst>
          </p:cNvPr>
          <p:cNvSpPr/>
          <p:nvPr/>
        </p:nvSpPr>
        <p:spPr>
          <a:xfrm>
            <a:off x="2331720" y="32300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20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intern_schedule.md</a:t>
            </a:r>
            <a:br>
              <a:rPr lang="en-US" altLang="ja-JP" sz="20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</a:br>
            <a:r>
              <a:rPr lang="en-US" altLang="ja-JP" sz="20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implementation_schedule.md</a:t>
            </a:r>
            <a:endParaRPr lang="en-US" sz="2000" dirty="0"/>
          </a:p>
        </p:txBody>
      </p:sp>
      <p:sp>
        <p:nvSpPr>
          <p:cNvPr id="72" name="Text 51">
            <a:extLst>
              <a:ext uri="{FF2B5EF4-FFF2-40B4-BE49-F238E27FC236}">
                <a16:creationId xmlns:a16="http://schemas.microsoft.com/office/drawing/2014/main" id="{3740AA33-BAC8-F82E-4718-643A4B76C14A}"/>
              </a:ext>
            </a:extLst>
          </p:cNvPr>
          <p:cNvSpPr/>
          <p:nvPr/>
        </p:nvSpPr>
        <p:spPr>
          <a:xfrm>
            <a:off x="6400800" y="4337671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dirty="0" err="1"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Discode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報告用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Shape 31">
            <a:extLst>
              <a:ext uri="{FF2B5EF4-FFF2-40B4-BE49-F238E27FC236}">
                <a16:creationId xmlns:a16="http://schemas.microsoft.com/office/drawing/2014/main" id="{EA6FE37D-D549-BF6D-A093-BB160882C879}"/>
              </a:ext>
            </a:extLst>
          </p:cNvPr>
          <p:cNvSpPr/>
          <p:nvPr/>
        </p:nvSpPr>
        <p:spPr>
          <a:xfrm>
            <a:off x="-17831" y="2667788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Text 19">
            <a:extLst>
              <a:ext uri="{FF2B5EF4-FFF2-40B4-BE49-F238E27FC236}">
                <a16:creationId xmlns:a16="http://schemas.microsoft.com/office/drawing/2014/main" id="{7AC41A41-60F8-CB87-C7A2-02BFE4A2D8D1}"/>
              </a:ext>
            </a:extLst>
          </p:cNvPr>
          <p:cNvSpPr/>
          <p:nvPr/>
        </p:nvSpPr>
        <p:spPr>
          <a:xfrm>
            <a:off x="6330468" y="2327515"/>
            <a:ext cx="3636492" cy="135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共通部品の仕様</a:t>
            </a:r>
            <a:b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デザインルール</a:t>
            </a:r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図 73">
            <a:extLst>
              <a:ext uri="{FF2B5EF4-FFF2-40B4-BE49-F238E27FC236}">
                <a16:creationId xmlns:a16="http://schemas.microsoft.com/office/drawing/2014/main" id="{0A8EF8AD-C045-0C19-BDC4-713C661A41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199" r="46290" b="29693"/>
          <a:stretch>
            <a:fillRect/>
          </a:stretch>
        </p:blipFill>
        <p:spPr>
          <a:xfrm>
            <a:off x="6095847" y="1755344"/>
            <a:ext cx="4506643" cy="1236777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DB1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483600" y="-622294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-152248" y="312928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585216" y="4114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工夫</a:t>
            </a:r>
            <a:r>
              <a:rPr lang="en-US" altLang="ja-JP" sz="2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r>
              <a:rPr lang="en-US" sz="2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: </a:t>
            </a:r>
            <a:r>
              <a:rPr lang="en-US" altLang="ja-JP" sz="2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</a:t>
            </a:r>
            <a:r>
              <a:rPr lang="ja-JP" altLang="en-US" sz="2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の工夫①</a:t>
            </a:r>
            <a:endParaRPr lang="en-US" sz="2300" dirty="0"/>
          </a:p>
        </p:txBody>
      </p:sp>
      <p:sp>
        <p:nvSpPr>
          <p:cNvPr id="59" name="Text 55"/>
          <p:cNvSpPr/>
          <p:nvPr/>
        </p:nvSpPr>
        <p:spPr>
          <a:xfrm>
            <a:off x="2753359" y="3010149"/>
            <a:ext cx="2936241" cy="344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F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いまどの承認段階かを可視化</a:t>
            </a:r>
            <a:endParaRPr lang="en-US" sz="1600" dirty="0"/>
          </a:p>
        </p:txBody>
      </p:sp>
      <p:sp>
        <p:nvSpPr>
          <p:cNvPr id="60" name="Text 41">
            <a:extLst>
              <a:ext uri="{FF2B5EF4-FFF2-40B4-BE49-F238E27FC236}">
                <a16:creationId xmlns:a16="http://schemas.microsoft.com/office/drawing/2014/main" id="{14846FEC-0371-AA00-D140-A38A1777193E}"/>
              </a:ext>
            </a:extLst>
          </p:cNvPr>
          <p:cNvSpPr/>
          <p:nvPr/>
        </p:nvSpPr>
        <p:spPr>
          <a:xfrm>
            <a:off x="341942" y="56285"/>
            <a:ext cx="1609344" cy="384050"/>
          </a:xfrm>
          <a:prstGeom prst="roundRect">
            <a:avLst/>
          </a:prstGeom>
          <a:solidFill>
            <a:srgbClr val="FFFF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課題1 工夫</a:t>
            </a: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62" name="図 61">
            <a:extLst>
              <a:ext uri="{FF2B5EF4-FFF2-40B4-BE49-F238E27FC236}">
                <a16:creationId xmlns:a16="http://schemas.microsoft.com/office/drawing/2014/main" id="{535E95DD-12B0-BA4D-DF31-7B1ADFF777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393" t="4542" r="1695" b="44474"/>
          <a:stretch>
            <a:fillRect/>
          </a:stretch>
        </p:blipFill>
        <p:spPr>
          <a:xfrm>
            <a:off x="950977" y="1566879"/>
            <a:ext cx="4462272" cy="1130602"/>
          </a:xfrm>
          <a:prstGeom prst="rect">
            <a:avLst/>
          </a:prstGeom>
        </p:spPr>
      </p:pic>
      <p:sp>
        <p:nvSpPr>
          <p:cNvPr id="63" name="Text 45">
            <a:extLst>
              <a:ext uri="{FF2B5EF4-FFF2-40B4-BE49-F238E27FC236}">
                <a16:creationId xmlns:a16="http://schemas.microsoft.com/office/drawing/2014/main" id="{D4C634E6-A6D4-C555-056B-2E885D591D17}"/>
              </a:ext>
            </a:extLst>
          </p:cNvPr>
          <p:cNvSpPr/>
          <p:nvPr/>
        </p:nvSpPr>
        <p:spPr>
          <a:xfrm>
            <a:off x="701987" y="1042956"/>
            <a:ext cx="2717169" cy="55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b="1" dirty="0"/>
              <a:t>ツールチップ</a:t>
            </a:r>
            <a:endParaRPr lang="en-US" b="1" dirty="0"/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9A44B114-6BCD-AAB0-9213-CF0D5B8F960A}"/>
              </a:ext>
            </a:extLst>
          </p:cNvPr>
          <p:cNvSpPr/>
          <p:nvPr/>
        </p:nvSpPr>
        <p:spPr>
          <a:xfrm>
            <a:off x="1517912" y="1628528"/>
            <a:ext cx="457200" cy="40705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/>
          </a:p>
        </p:txBody>
      </p:sp>
      <p:sp>
        <p:nvSpPr>
          <p:cNvPr id="66" name="四角形: 角を丸くする 65">
            <a:extLst>
              <a:ext uri="{FF2B5EF4-FFF2-40B4-BE49-F238E27FC236}">
                <a16:creationId xmlns:a16="http://schemas.microsoft.com/office/drawing/2014/main" id="{133B8617-F1F3-D120-20E0-1019E9267E6C}"/>
              </a:ext>
            </a:extLst>
          </p:cNvPr>
          <p:cNvSpPr/>
          <p:nvPr/>
        </p:nvSpPr>
        <p:spPr>
          <a:xfrm>
            <a:off x="1670312" y="2078940"/>
            <a:ext cx="3566160" cy="73609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/>
          </a:p>
        </p:txBody>
      </p:sp>
      <p:sp>
        <p:nvSpPr>
          <p:cNvPr id="68" name="矢印: 左カーブ 67">
            <a:extLst>
              <a:ext uri="{FF2B5EF4-FFF2-40B4-BE49-F238E27FC236}">
                <a16:creationId xmlns:a16="http://schemas.microsoft.com/office/drawing/2014/main" id="{154C75E6-2DD6-B097-3A87-CF0F2EE10F24}"/>
              </a:ext>
            </a:extLst>
          </p:cNvPr>
          <p:cNvSpPr/>
          <p:nvPr/>
        </p:nvSpPr>
        <p:spPr>
          <a:xfrm rot="19341267">
            <a:off x="2071445" y="1505333"/>
            <a:ext cx="278445" cy="645148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9" name="Text 45">
            <a:extLst>
              <a:ext uri="{FF2B5EF4-FFF2-40B4-BE49-F238E27FC236}">
                <a16:creationId xmlns:a16="http://schemas.microsoft.com/office/drawing/2014/main" id="{44CEA084-9FA4-94D2-9F60-26E3F22530C7}"/>
              </a:ext>
            </a:extLst>
          </p:cNvPr>
          <p:cNvSpPr/>
          <p:nvPr/>
        </p:nvSpPr>
        <p:spPr>
          <a:xfrm>
            <a:off x="5980176" y="1042956"/>
            <a:ext cx="4688130" cy="55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b="1" dirty="0"/>
              <a:t>ドロップ＆ドラッグで移動する進捗管理</a:t>
            </a:r>
            <a:endParaRPr lang="en-US" b="1" dirty="0"/>
          </a:p>
        </p:txBody>
      </p:sp>
      <p:sp>
        <p:nvSpPr>
          <p:cNvPr id="72" name="矢印: 右 71">
            <a:extLst>
              <a:ext uri="{FF2B5EF4-FFF2-40B4-BE49-F238E27FC236}">
                <a16:creationId xmlns:a16="http://schemas.microsoft.com/office/drawing/2014/main" id="{0B6BEB8F-A5EA-C70C-514D-1D6F90B31AB3}"/>
              </a:ext>
            </a:extLst>
          </p:cNvPr>
          <p:cNvSpPr/>
          <p:nvPr/>
        </p:nvSpPr>
        <p:spPr>
          <a:xfrm>
            <a:off x="7865873" y="2302168"/>
            <a:ext cx="690880" cy="64514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46" name="図 45">
            <a:extLst>
              <a:ext uri="{FF2B5EF4-FFF2-40B4-BE49-F238E27FC236}">
                <a16:creationId xmlns:a16="http://schemas.microsoft.com/office/drawing/2014/main" id="{E7106C0D-2208-F989-FE46-DD7001B1A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741" y="3436399"/>
            <a:ext cx="3351805" cy="2302191"/>
          </a:xfrm>
          <a:prstGeom prst="rect">
            <a:avLst/>
          </a:prstGeom>
        </p:spPr>
      </p:pic>
      <p:sp>
        <p:nvSpPr>
          <p:cNvPr id="47" name="Text 45">
            <a:extLst>
              <a:ext uri="{FF2B5EF4-FFF2-40B4-BE49-F238E27FC236}">
                <a16:creationId xmlns:a16="http://schemas.microsoft.com/office/drawing/2014/main" id="{4CAD3525-7E04-2FF3-C23C-8EE7C38FDFDB}"/>
              </a:ext>
            </a:extLst>
          </p:cNvPr>
          <p:cNvSpPr/>
          <p:nvPr/>
        </p:nvSpPr>
        <p:spPr>
          <a:xfrm>
            <a:off x="1022097" y="2858396"/>
            <a:ext cx="1739392" cy="55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b="1" dirty="0" err="1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承認ステッパ</a:t>
            </a:r>
            <a:r>
              <a:rPr lang="en-US" altLang="ja-JP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ー</a:t>
            </a:r>
            <a:endParaRPr lang="en-US" altLang="ja-JP" dirty="0"/>
          </a:p>
        </p:txBody>
      </p:sp>
      <p:sp>
        <p:nvSpPr>
          <p:cNvPr id="61" name="Text 45">
            <a:extLst>
              <a:ext uri="{FF2B5EF4-FFF2-40B4-BE49-F238E27FC236}">
                <a16:creationId xmlns:a16="http://schemas.microsoft.com/office/drawing/2014/main" id="{84D9DFF9-E0DF-5726-8101-07A77D3439CA}"/>
              </a:ext>
            </a:extLst>
          </p:cNvPr>
          <p:cNvSpPr/>
          <p:nvPr/>
        </p:nvSpPr>
        <p:spPr>
          <a:xfrm>
            <a:off x="899467" y="6044334"/>
            <a:ext cx="3745685" cy="55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en-US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申請の取り戻し機能、下書き機能</a:t>
            </a:r>
            <a:endParaRPr lang="en-US" altLang="ja-JP" dirty="0"/>
          </a:p>
        </p:txBody>
      </p:sp>
      <p:sp>
        <p:nvSpPr>
          <p:cNvPr id="65" name="Text 45">
            <a:extLst>
              <a:ext uri="{FF2B5EF4-FFF2-40B4-BE49-F238E27FC236}">
                <a16:creationId xmlns:a16="http://schemas.microsoft.com/office/drawing/2014/main" id="{BFDA4282-DBAC-912A-EF21-983CB882F729}"/>
              </a:ext>
            </a:extLst>
          </p:cNvPr>
          <p:cNvSpPr/>
          <p:nvPr/>
        </p:nvSpPr>
        <p:spPr>
          <a:xfrm>
            <a:off x="5068115" y="6007106"/>
            <a:ext cx="3745685" cy="55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en-US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サイドバー</a:t>
            </a:r>
            <a:endParaRPr lang="en-US" altLang="ja-JP" dirty="0"/>
          </a:p>
        </p:txBody>
      </p:sp>
      <p:pic>
        <p:nvPicPr>
          <p:cNvPr id="67" name="図 66">
            <a:extLst>
              <a:ext uri="{FF2B5EF4-FFF2-40B4-BE49-F238E27FC236}">
                <a16:creationId xmlns:a16="http://schemas.microsoft.com/office/drawing/2014/main" id="{CBFFC424-09E8-A852-946A-99C2A893C89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02851" y="2596807"/>
            <a:ext cx="757645" cy="914399"/>
          </a:xfrm>
          <a:prstGeom prst="rect">
            <a:avLst/>
          </a:prstGeom>
        </p:spPr>
      </p:pic>
      <p:sp>
        <p:nvSpPr>
          <p:cNvPr id="70" name="Text 45">
            <a:extLst>
              <a:ext uri="{FF2B5EF4-FFF2-40B4-BE49-F238E27FC236}">
                <a16:creationId xmlns:a16="http://schemas.microsoft.com/office/drawing/2014/main" id="{E1287F1F-7964-D8F4-C5C1-E3093299B279}"/>
              </a:ext>
            </a:extLst>
          </p:cNvPr>
          <p:cNvSpPr/>
          <p:nvPr/>
        </p:nvSpPr>
        <p:spPr>
          <a:xfrm>
            <a:off x="8405480" y="5973251"/>
            <a:ext cx="3745685" cy="55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en-US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</a:rPr>
              <a:t>予算消化バー</a:t>
            </a:r>
            <a:endParaRPr lang="en-US" altLang="ja-JP" dirty="0"/>
          </a:p>
        </p:txBody>
      </p:sp>
      <p:sp>
        <p:nvSpPr>
          <p:cNvPr id="71" name="Text 45">
            <a:extLst>
              <a:ext uri="{FF2B5EF4-FFF2-40B4-BE49-F238E27FC236}">
                <a16:creationId xmlns:a16="http://schemas.microsoft.com/office/drawing/2014/main" id="{FFB560BB-30B2-46E7-8C81-76B933766EFC}"/>
              </a:ext>
            </a:extLst>
          </p:cNvPr>
          <p:cNvSpPr/>
          <p:nvPr/>
        </p:nvSpPr>
        <p:spPr>
          <a:xfrm>
            <a:off x="6197601" y="3613711"/>
            <a:ext cx="3745685" cy="55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en-US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</a:rPr>
              <a:t>案件詳細のタブ切り替え</a:t>
            </a:r>
            <a:endParaRPr lang="en-US" altLang="ja-JP" dirty="0"/>
          </a:p>
        </p:txBody>
      </p:sp>
      <p:pic>
        <p:nvPicPr>
          <p:cNvPr id="77" name="図 76">
            <a:extLst>
              <a:ext uri="{FF2B5EF4-FFF2-40B4-BE49-F238E27FC236}">
                <a16:creationId xmlns:a16="http://schemas.microsoft.com/office/drawing/2014/main" id="{40CD10A3-8E6C-E9B5-4F8C-E1CF9747495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3762" r="7189" b="44441"/>
          <a:stretch>
            <a:fillRect/>
          </a:stretch>
        </p:blipFill>
        <p:spPr>
          <a:xfrm>
            <a:off x="6207853" y="4259649"/>
            <a:ext cx="3698300" cy="1775086"/>
          </a:xfrm>
          <a:prstGeom prst="rect">
            <a:avLst/>
          </a:prstGeom>
        </p:spPr>
      </p:pic>
      <p:sp>
        <p:nvSpPr>
          <p:cNvPr id="78" name="Text 46">
            <a:extLst>
              <a:ext uri="{FF2B5EF4-FFF2-40B4-BE49-F238E27FC236}">
                <a16:creationId xmlns:a16="http://schemas.microsoft.com/office/drawing/2014/main" id="{5923136F-E19B-1636-32BA-533573AB8D44}"/>
              </a:ext>
            </a:extLst>
          </p:cNvPr>
          <p:cNvSpPr/>
          <p:nvPr/>
        </p:nvSpPr>
        <p:spPr>
          <a:xfrm>
            <a:off x="8850989" y="3673168"/>
            <a:ext cx="3024422" cy="465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 / 開発 / </a:t>
            </a:r>
            <a:r>
              <a:rPr lang="en-US" sz="1400" dirty="0" err="1">
                <a:solidFill>
                  <a:srgbClr val="5F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予算で列セットを切替</a:t>
            </a:r>
            <a:r>
              <a:rPr lang="ja-JP" altLang="en-US" sz="1400" dirty="0">
                <a:solidFill>
                  <a:srgbClr val="5F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で導線を短く</a:t>
            </a:r>
            <a:endParaRPr lang="en-US" sz="1400" dirty="0"/>
          </a:p>
        </p:txBody>
      </p:sp>
      <p:sp>
        <p:nvSpPr>
          <p:cNvPr id="79" name="四角形: 角を丸くする 78">
            <a:extLst>
              <a:ext uri="{FF2B5EF4-FFF2-40B4-BE49-F238E27FC236}">
                <a16:creationId xmlns:a16="http://schemas.microsoft.com/office/drawing/2014/main" id="{55092C62-7BD4-D693-0B32-011A92445E8D}"/>
              </a:ext>
            </a:extLst>
          </p:cNvPr>
          <p:cNvSpPr/>
          <p:nvPr/>
        </p:nvSpPr>
        <p:spPr>
          <a:xfrm>
            <a:off x="6248095" y="4874920"/>
            <a:ext cx="4460739" cy="76611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742538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DB1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483600" y="-622294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585216" y="4114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工夫</a:t>
            </a:r>
            <a:r>
              <a:rPr lang="en-US" altLang="ja-JP" sz="2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r>
              <a:rPr lang="en-US" sz="2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: </a:t>
            </a:r>
            <a:r>
              <a:rPr lang="en-US" altLang="ja-JP" sz="2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</a:t>
            </a:r>
            <a:r>
              <a:rPr lang="ja-JP" altLang="en-US" sz="2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の工夫②</a:t>
            </a:r>
            <a:endParaRPr lang="en-US" sz="2300" dirty="0"/>
          </a:p>
        </p:txBody>
      </p:sp>
      <p:sp>
        <p:nvSpPr>
          <p:cNvPr id="60" name="Text 41">
            <a:extLst>
              <a:ext uri="{FF2B5EF4-FFF2-40B4-BE49-F238E27FC236}">
                <a16:creationId xmlns:a16="http://schemas.microsoft.com/office/drawing/2014/main" id="{14846FEC-0371-AA00-D140-A38A1777193E}"/>
              </a:ext>
            </a:extLst>
          </p:cNvPr>
          <p:cNvSpPr/>
          <p:nvPr/>
        </p:nvSpPr>
        <p:spPr>
          <a:xfrm>
            <a:off x="341942" y="56285"/>
            <a:ext cx="1609344" cy="384050"/>
          </a:xfrm>
          <a:prstGeom prst="roundRect">
            <a:avLst/>
          </a:prstGeom>
          <a:solidFill>
            <a:srgbClr val="FFFF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課題1 工夫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61" name="Text 45">
            <a:extLst>
              <a:ext uri="{FF2B5EF4-FFF2-40B4-BE49-F238E27FC236}">
                <a16:creationId xmlns:a16="http://schemas.microsoft.com/office/drawing/2014/main" id="{84D9DFF9-E0DF-5726-8101-07A77D3439CA}"/>
              </a:ext>
            </a:extLst>
          </p:cNvPr>
          <p:cNvSpPr/>
          <p:nvPr/>
        </p:nvSpPr>
        <p:spPr>
          <a:xfrm>
            <a:off x="572459" y="1202663"/>
            <a:ext cx="3745685" cy="55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en-US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申請の取り戻し機能、下書き機能</a:t>
            </a:r>
            <a:endParaRPr lang="en-US" altLang="ja-JP" dirty="0"/>
          </a:p>
        </p:txBody>
      </p:sp>
      <p:sp>
        <p:nvSpPr>
          <p:cNvPr id="65" name="Text 45">
            <a:extLst>
              <a:ext uri="{FF2B5EF4-FFF2-40B4-BE49-F238E27FC236}">
                <a16:creationId xmlns:a16="http://schemas.microsoft.com/office/drawing/2014/main" id="{BFDA4282-DBAC-912A-EF21-983CB882F729}"/>
              </a:ext>
            </a:extLst>
          </p:cNvPr>
          <p:cNvSpPr/>
          <p:nvPr/>
        </p:nvSpPr>
        <p:spPr>
          <a:xfrm>
            <a:off x="699315" y="3429000"/>
            <a:ext cx="3745685" cy="55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en-US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サイドバー</a:t>
            </a:r>
            <a:endParaRPr lang="en-US" altLang="ja-JP" dirty="0"/>
          </a:p>
        </p:txBody>
      </p:sp>
      <p:sp>
        <p:nvSpPr>
          <p:cNvPr id="70" name="Text 45">
            <a:extLst>
              <a:ext uri="{FF2B5EF4-FFF2-40B4-BE49-F238E27FC236}">
                <a16:creationId xmlns:a16="http://schemas.microsoft.com/office/drawing/2014/main" id="{E1287F1F-7964-D8F4-C5C1-E3093299B279}"/>
              </a:ext>
            </a:extLst>
          </p:cNvPr>
          <p:cNvSpPr/>
          <p:nvPr/>
        </p:nvSpPr>
        <p:spPr>
          <a:xfrm>
            <a:off x="6858000" y="1092977"/>
            <a:ext cx="3745685" cy="55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en-US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</a:rPr>
              <a:t>予算消化バー</a:t>
            </a:r>
            <a:endParaRPr lang="en-US" altLang="ja-JP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86F95B0-DFE0-FAFB-A41F-B4A97243A3BB}"/>
              </a:ext>
            </a:extLst>
          </p:cNvPr>
          <p:cNvSpPr txBox="1"/>
          <p:nvPr/>
        </p:nvSpPr>
        <p:spPr>
          <a:xfrm>
            <a:off x="2133599" y="4546427"/>
            <a:ext cx="9210368" cy="1008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ja-JP" alt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 コーポレートカラーを尊重しつつ、業務アプリとしての可読性・操作性を優先</a:t>
            </a:r>
            <a:endParaRPr lang="ja-JP" alt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ja-JP" alt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 赤（</a:t>
            </a:r>
            <a:r>
              <a:rPr lang="en-US" altLang="ja-JP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CTA</a:t>
            </a:r>
            <a:r>
              <a:rPr lang="ja-JP" alt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・却下）は使用箇所を絞り、視認性と注意喚起を両立</a:t>
            </a:r>
            <a:endParaRPr lang="ja-JP" alt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ja-JP" alt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 ロゴの </a:t>
            </a:r>
            <a:r>
              <a:rPr lang="en-US" altLang="ja-JP" b="0" dirty="0" err="1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cyan→blue→purple</a:t>
            </a:r>
            <a:r>
              <a:rPr lang="en-US" altLang="ja-JP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ja-JP" alt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グラデーションを承認フローの進行表現に転用し、ブランドと機能を結びつけた</a:t>
            </a:r>
            <a:endParaRPr lang="ja-JP" alt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ja-JP" alt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 アイコン</a:t>
            </a:r>
            <a:r>
              <a:rPr lang="en-US" altLang="ja-JP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ja-JP" alt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色</a:t>
            </a:r>
            <a:r>
              <a:rPr lang="en-US" altLang="ja-JP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ja-JP" alt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テキストの</a:t>
            </a:r>
            <a:r>
              <a:rPr lang="en-US" altLang="ja-JP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ja-JP" alt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点セットで色覚特性にも配慮</a:t>
            </a:r>
            <a:endParaRPr lang="ja-JP" alt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077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DB1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31" name="Shape 29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32" name="Shape 30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33" name="Shape 3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34" name="Shape 32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36" name="Shape 34"/>
          <p:cNvSpPr/>
          <p:nvPr/>
        </p:nvSpPr>
        <p:spPr>
          <a:xfrm>
            <a:off x="182880" y="1361035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37" name="Shape 35"/>
          <p:cNvSpPr/>
          <p:nvPr/>
        </p:nvSpPr>
        <p:spPr>
          <a:xfrm>
            <a:off x="182880" y="1818235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38" name="Shape 36"/>
          <p:cNvSpPr/>
          <p:nvPr/>
        </p:nvSpPr>
        <p:spPr>
          <a:xfrm>
            <a:off x="182880" y="2275435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39" name="Shape 37"/>
          <p:cNvSpPr/>
          <p:nvPr/>
        </p:nvSpPr>
        <p:spPr>
          <a:xfrm>
            <a:off x="182880" y="2732635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40" name="Shape 38"/>
          <p:cNvSpPr/>
          <p:nvPr/>
        </p:nvSpPr>
        <p:spPr>
          <a:xfrm>
            <a:off x="-1965732" y="3189835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45" name="Text 43"/>
          <p:cNvSpPr/>
          <p:nvPr/>
        </p:nvSpPr>
        <p:spPr>
          <a:xfrm>
            <a:off x="585216" y="4114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課題2</a:t>
            </a:r>
            <a:r>
              <a:rPr lang="ja-JP" altLang="en-US" sz="2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</a:t>
            </a:r>
            <a:r>
              <a:rPr lang="en-US" sz="2400" b="1" dirty="0" err="1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実装は、現場での運用性が上がるものを優先</a:t>
            </a:r>
            <a:endParaRPr lang="en-US" sz="2400" dirty="0"/>
          </a:p>
        </p:txBody>
      </p:sp>
      <p:sp>
        <p:nvSpPr>
          <p:cNvPr id="56" name="Shape 54"/>
          <p:cNvSpPr/>
          <p:nvPr/>
        </p:nvSpPr>
        <p:spPr>
          <a:xfrm>
            <a:off x="914400" y="1269595"/>
            <a:ext cx="5166360" cy="1961288"/>
          </a:xfrm>
          <a:prstGeom prst="roundRect">
            <a:avLst>
              <a:gd name="adj" fmla="val 8276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4E9EF"/>
            </a:solidFill>
            <a:prstDash val="solid"/>
          </a:ln>
          <a:effectLst>
            <a:outerShdw blurRad="38100" dist="50800" dir="2700000" algn="bl" rotWithShape="0">
              <a:srgbClr val="D5DEE8">
                <a:alpha val="20000"/>
              </a:srgbClr>
            </a:outerShdw>
          </a:effectLst>
        </p:spPr>
        <p:txBody>
          <a:bodyPr/>
          <a:lstStyle/>
          <a:p>
            <a:endParaRPr lang="ja-JP" altLang="en-US" sz="4000"/>
          </a:p>
        </p:txBody>
      </p:sp>
      <p:sp>
        <p:nvSpPr>
          <p:cNvPr id="57" name="Shape 55"/>
          <p:cNvSpPr/>
          <p:nvPr/>
        </p:nvSpPr>
        <p:spPr>
          <a:xfrm>
            <a:off x="1124712" y="1452475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E8F8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58" name="Text 56"/>
          <p:cNvSpPr/>
          <p:nvPr/>
        </p:nvSpPr>
        <p:spPr>
          <a:xfrm>
            <a:off x="1170432" y="1525627"/>
            <a:ext cx="594360" cy="18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98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自動化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124712" y="1927963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履歴自動記録</a:t>
            </a:r>
            <a:endParaRPr lang="en-US" sz="2800" dirty="0"/>
          </a:p>
        </p:txBody>
      </p:sp>
      <p:sp>
        <p:nvSpPr>
          <p:cNvPr id="60" name="Text 58"/>
          <p:cNvSpPr/>
          <p:nvPr/>
        </p:nvSpPr>
        <p:spPr>
          <a:xfrm>
            <a:off x="1124712" y="2723491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進捗・担当・期限などの変更を </a:t>
            </a:r>
            <a:r>
              <a:rPr lang="en-US" sz="1400" dirty="0" err="1">
                <a:solidFill>
                  <a:srgbClr val="5F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task_histories</a:t>
            </a:r>
            <a:r>
              <a:rPr lang="en-US" sz="1400" dirty="0">
                <a:solidFill>
                  <a:srgbClr val="5F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sz="1400" dirty="0" err="1">
                <a:solidFill>
                  <a:srgbClr val="5F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に保存</a:t>
            </a:r>
            <a:br>
              <a:rPr lang="en-US" sz="1400" dirty="0">
                <a:solidFill>
                  <a:srgbClr val="5F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</a:br>
            <a:r>
              <a:rPr lang="ja-JP" altLang="en-US" sz="1400" dirty="0">
                <a:solidFill>
                  <a:srgbClr val="5F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監査証跡としても利用可能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400800" y="1269594"/>
            <a:ext cx="5166360" cy="1961289"/>
          </a:xfrm>
          <a:prstGeom prst="roundRect">
            <a:avLst>
              <a:gd name="adj" fmla="val 8276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4E9EF"/>
            </a:solidFill>
            <a:prstDash val="solid"/>
          </a:ln>
          <a:effectLst>
            <a:outerShdw blurRad="38100" dist="50800" dir="2700000" algn="bl" rotWithShape="0">
              <a:srgbClr val="D5DEE8">
                <a:alpha val="20000"/>
              </a:srgbClr>
            </a:outerShdw>
          </a:effectLst>
        </p:spPr>
        <p:txBody>
          <a:bodyPr/>
          <a:lstStyle/>
          <a:p>
            <a:endParaRPr lang="ja-JP" altLang="en-US" sz="4000"/>
          </a:p>
        </p:txBody>
      </p:sp>
      <p:sp>
        <p:nvSpPr>
          <p:cNvPr id="62" name="Shape 60"/>
          <p:cNvSpPr/>
          <p:nvPr/>
        </p:nvSpPr>
        <p:spPr>
          <a:xfrm>
            <a:off x="6611112" y="1452475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FFF1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63" name="Text 61"/>
          <p:cNvSpPr/>
          <p:nvPr/>
        </p:nvSpPr>
        <p:spPr>
          <a:xfrm>
            <a:off x="6656832" y="1525627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0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通知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611112" y="1927963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通知拡張</a:t>
            </a:r>
            <a:endParaRPr lang="en-US" sz="2800" dirty="0"/>
          </a:p>
        </p:txBody>
      </p:sp>
      <p:sp>
        <p:nvSpPr>
          <p:cNvPr id="65" name="Text 63"/>
          <p:cNvSpPr/>
          <p:nvPr/>
        </p:nvSpPr>
        <p:spPr>
          <a:xfrm>
            <a:off x="6611112" y="2662531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 / 期限 / 完了報告 / 確認OK をアプリ内通知で共有。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914400" y="5785108"/>
            <a:ext cx="3032838" cy="510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選定基準: </a:t>
            </a:r>
            <a:endParaRPr lang="en-US" sz="3200" dirty="0"/>
          </a:p>
        </p:txBody>
      </p:sp>
      <p:sp>
        <p:nvSpPr>
          <p:cNvPr id="67" name="Text 65"/>
          <p:cNvSpPr/>
          <p:nvPr/>
        </p:nvSpPr>
        <p:spPr>
          <a:xfrm>
            <a:off x="3100197" y="5785109"/>
            <a:ext cx="2804085" cy="5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B7F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</a:t>
            </a:r>
            <a:endParaRPr lang="en-US" sz="3200" dirty="0"/>
          </a:p>
        </p:txBody>
      </p:sp>
      <p:sp>
        <p:nvSpPr>
          <p:cNvPr id="68" name="Text 66"/>
          <p:cNvSpPr/>
          <p:nvPr/>
        </p:nvSpPr>
        <p:spPr>
          <a:xfrm>
            <a:off x="4248913" y="5445769"/>
            <a:ext cx="2944367" cy="113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× コスト × </a:t>
            </a:r>
            <a:endParaRPr lang="en-US" sz="3200" dirty="0"/>
          </a:p>
        </p:txBody>
      </p:sp>
      <p:sp>
        <p:nvSpPr>
          <p:cNvPr id="69" name="Text 67"/>
          <p:cNvSpPr/>
          <p:nvPr/>
        </p:nvSpPr>
        <p:spPr>
          <a:xfrm>
            <a:off x="6858000" y="5715210"/>
            <a:ext cx="2987040" cy="649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E60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</a:t>
            </a:r>
            <a:endParaRPr lang="en-US" sz="3200" dirty="0"/>
          </a:p>
        </p:txBody>
      </p:sp>
      <p:sp>
        <p:nvSpPr>
          <p:cNvPr id="70" name="Text 41">
            <a:extLst>
              <a:ext uri="{FF2B5EF4-FFF2-40B4-BE49-F238E27FC236}">
                <a16:creationId xmlns:a16="http://schemas.microsoft.com/office/drawing/2014/main" id="{B3A52CDA-EA83-72B9-3D57-7411584FD355}"/>
              </a:ext>
            </a:extLst>
          </p:cNvPr>
          <p:cNvSpPr/>
          <p:nvPr/>
        </p:nvSpPr>
        <p:spPr>
          <a:xfrm>
            <a:off x="341942" y="56285"/>
            <a:ext cx="1609344" cy="384050"/>
          </a:xfrm>
          <a:prstGeom prst="roundRect">
            <a:avLst/>
          </a:prstGeom>
          <a:solidFill>
            <a:srgbClr val="FFFF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 dirty="0">
                <a:solidFill>
                  <a:srgbClr val="FF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課題２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72" name="Text 45">
            <a:extLst>
              <a:ext uri="{FF2B5EF4-FFF2-40B4-BE49-F238E27FC236}">
                <a16:creationId xmlns:a16="http://schemas.microsoft.com/office/drawing/2014/main" id="{EF5F50A6-168C-D50C-F7A1-F72684D8773B}"/>
              </a:ext>
            </a:extLst>
          </p:cNvPr>
          <p:cNvSpPr/>
          <p:nvPr/>
        </p:nvSpPr>
        <p:spPr>
          <a:xfrm>
            <a:off x="974020" y="3539654"/>
            <a:ext cx="3745685" cy="55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en-US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申請の取り戻し機能、下書き機能</a:t>
            </a:r>
            <a:endParaRPr lang="en-US" altLang="ja-JP" dirty="0"/>
          </a:p>
        </p:txBody>
      </p:sp>
      <p:sp>
        <p:nvSpPr>
          <p:cNvPr id="73" name="Text 45">
            <a:extLst>
              <a:ext uri="{FF2B5EF4-FFF2-40B4-BE49-F238E27FC236}">
                <a16:creationId xmlns:a16="http://schemas.microsoft.com/office/drawing/2014/main" id="{4BFBDE17-58A8-11B0-1374-A586554C5809}"/>
              </a:ext>
            </a:extLst>
          </p:cNvPr>
          <p:cNvSpPr/>
          <p:nvPr/>
        </p:nvSpPr>
        <p:spPr>
          <a:xfrm>
            <a:off x="974020" y="4293806"/>
            <a:ext cx="3745685" cy="55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en-US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サイドバー</a:t>
            </a:r>
            <a:endParaRPr lang="en-US" altLang="ja-JP" dirty="0"/>
          </a:p>
        </p:txBody>
      </p:sp>
      <p:sp>
        <p:nvSpPr>
          <p:cNvPr id="74" name="Text 45">
            <a:extLst>
              <a:ext uri="{FF2B5EF4-FFF2-40B4-BE49-F238E27FC236}">
                <a16:creationId xmlns:a16="http://schemas.microsoft.com/office/drawing/2014/main" id="{C30F4184-BC77-5644-0FF5-DE09FD2A9D09}"/>
              </a:ext>
            </a:extLst>
          </p:cNvPr>
          <p:cNvSpPr/>
          <p:nvPr/>
        </p:nvSpPr>
        <p:spPr>
          <a:xfrm>
            <a:off x="974019" y="4941817"/>
            <a:ext cx="3745685" cy="55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en-US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</a:rPr>
              <a:t>予算消化バー</a:t>
            </a:r>
            <a:endParaRPr lang="en-US" altLang="ja-JP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DB1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483600" y="-622294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-152248" y="312928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585216" y="411479"/>
            <a:ext cx="11149584" cy="7060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ja-JP" altLang="en-US" sz="2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実装済</a:t>
            </a:r>
            <a:r>
              <a:rPr lang="en-US" sz="2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: </a:t>
            </a:r>
            <a:r>
              <a:rPr lang="ja-JP" altLang="en-US" sz="2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開発進捗管理は、</a:t>
            </a:r>
            <a:r>
              <a:rPr lang="en-US" sz="2300" b="1" dirty="0" err="1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Backlog風のわかりやすさを、独自進化</a:t>
            </a:r>
            <a:endParaRPr lang="en-US" sz="2300" dirty="0"/>
          </a:p>
        </p:txBody>
      </p:sp>
      <p:sp>
        <p:nvSpPr>
          <p:cNvPr id="53" name="Text 49"/>
          <p:cNvSpPr/>
          <p:nvPr/>
        </p:nvSpPr>
        <p:spPr>
          <a:xfrm>
            <a:off x="6141720" y="4934273"/>
            <a:ext cx="563198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未着手→進行中（パーセンテージ）→</a:t>
            </a:r>
            <a:r>
              <a:rPr lang="en-US" sz="1400" dirty="0" err="1"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実装完了報告</a:t>
            </a:r>
            <a:r>
              <a:rPr lang="en-US" sz="1400" dirty="0"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 → 確認OK</a:t>
            </a:r>
            <a:endParaRPr 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45">
            <a:extLst>
              <a:ext uri="{FF2B5EF4-FFF2-40B4-BE49-F238E27FC236}">
                <a16:creationId xmlns:a16="http://schemas.microsoft.com/office/drawing/2014/main" id="{D4C634E6-A6D4-C555-056B-2E885D591D17}"/>
              </a:ext>
            </a:extLst>
          </p:cNvPr>
          <p:cNvSpPr/>
          <p:nvPr/>
        </p:nvSpPr>
        <p:spPr>
          <a:xfrm>
            <a:off x="701987" y="1042956"/>
            <a:ext cx="2717169" cy="55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b="1" dirty="0"/>
              <a:t>カンバンボード</a:t>
            </a:r>
            <a:endParaRPr lang="en-US" b="1" dirty="0"/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9A44B114-6BCD-AAB0-9213-CF0D5B8F960A}"/>
              </a:ext>
            </a:extLst>
          </p:cNvPr>
          <p:cNvSpPr/>
          <p:nvPr/>
        </p:nvSpPr>
        <p:spPr>
          <a:xfrm>
            <a:off x="1517912" y="1628528"/>
            <a:ext cx="457200" cy="40705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/>
          </a:p>
        </p:txBody>
      </p:sp>
      <p:sp>
        <p:nvSpPr>
          <p:cNvPr id="68" name="矢印: 左カーブ 67">
            <a:extLst>
              <a:ext uri="{FF2B5EF4-FFF2-40B4-BE49-F238E27FC236}">
                <a16:creationId xmlns:a16="http://schemas.microsoft.com/office/drawing/2014/main" id="{154C75E6-2DD6-B097-3A87-CF0F2EE10F24}"/>
              </a:ext>
            </a:extLst>
          </p:cNvPr>
          <p:cNvSpPr/>
          <p:nvPr/>
        </p:nvSpPr>
        <p:spPr>
          <a:xfrm rot="19341267">
            <a:off x="2071445" y="1505333"/>
            <a:ext cx="278445" cy="645148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9" name="Text 45">
            <a:extLst>
              <a:ext uri="{FF2B5EF4-FFF2-40B4-BE49-F238E27FC236}">
                <a16:creationId xmlns:a16="http://schemas.microsoft.com/office/drawing/2014/main" id="{44CEA084-9FA4-94D2-9F60-26E3F22530C7}"/>
              </a:ext>
            </a:extLst>
          </p:cNvPr>
          <p:cNvSpPr/>
          <p:nvPr/>
        </p:nvSpPr>
        <p:spPr>
          <a:xfrm>
            <a:off x="5980176" y="1042956"/>
            <a:ext cx="4688130" cy="55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b="1" dirty="0"/>
              <a:t>メンバー別カンバンボード</a:t>
            </a:r>
            <a:endParaRPr lang="en-US" b="1" dirty="0"/>
          </a:p>
        </p:txBody>
      </p:sp>
      <p:pic>
        <p:nvPicPr>
          <p:cNvPr id="79" name="図 78">
            <a:extLst>
              <a:ext uri="{FF2B5EF4-FFF2-40B4-BE49-F238E27FC236}">
                <a16:creationId xmlns:a16="http://schemas.microsoft.com/office/drawing/2014/main" id="{625CC3FD-D7B0-EAA5-6ED3-9AC4C2C97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600200"/>
            <a:ext cx="5871841" cy="2262196"/>
          </a:xfrm>
          <a:prstGeom prst="rect">
            <a:avLst/>
          </a:prstGeom>
        </p:spPr>
      </p:pic>
      <p:sp>
        <p:nvSpPr>
          <p:cNvPr id="66" name="四角形: 角を丸くする 65">
            <a:extLst>
              <a:ext uri="{FF2B5EF4-FFF2-40B4-BE49-F238E27FC236}">
                <a16:creationId xmlns:a16="http://schemas.microsoft.com/office/drawing/2014/main" id="{133B8617-F1F3-D120-20E0-1019E9267E6C}"/>
              </a:ext>
            </a:extLst>
          </p:cNvPr>
          <p:cNvSpPr/>
          <p:nvPr/>
        </p:nvSpPr>
        <p:spPr>
          <a:xfrm>
            <a:off x="5907025" y="1536695"/>
            <a:ext cx="1186682" cy="25543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/>
          </a:p>
        </p:txBody>
      </p:sp>
      <p:pic>
        <p:nvPicPr>
          <p:cNvPr id="81" name="図 80">
            <a:extLst>
              <a:ext uri="{FF2B5EF4-FFF2-40B4-BE49-F238E27FC236}">
                <a16:creationId xmlns:a16="http://schemas.microsoft.com/office/drawing/2014/main" id="{9F1739BA-C74B-CB8B-8D2F-809BF7448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85" y="1487457"/>
            <a:ext cx="5214668" cy="1849831"/>
          </a:xfrm>
          <a:prstGeom prst="rect">
            <a:avLst/>
          </a:prstGeom>
        </p:spPr>
      </p:pic>
      <p:pic>
        <p:nvPicPr>
          <p:cNvPr id="83" name="図 82">
            <a:extLst>
              <a:ext uri="{FF2B5EF4-FFF2-40B4-BE49-F238E27FC236}">
                <a16:creationId xmlns:a16="http://schemas.microsoft.com/office/drawing/2014/main" id="{5FC1C47D-E767-068E-2CCF-626F1C87FA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5472" r="978"/>
          <a:stretch>
            <a:fillRect/>
          </a:stretch>
        </p:blipFill>
        <p:spPr>
          <a:xfrm>
            <a:off x="585216" y="4689433"/>
            <a:ext cx="4572000" cy="755654"/>
          </a:xfrm>
          <a:prstGeom prst="rect">
            <a:avLst/>
          </a:prstGeom>
        </p:spPr>
      </p:pic>
      <p:sp>
        <p:nvSpPr>
          <p:cNvPr id="84" name="Text 45">
            <a:extLst>
              <a:ext uri="{FF2B5EF4-FFF2-40B4-BE49-F238E27FC236}">
                <a16:creationId xmlns:a16="http://schemas.microsoft.com/office/drawing/2014/main" id="{58B67129-AF56-C30A-83E4-BE841685D78C}"/>
              </a:ext>
            </a:extLst>
          </p:cNvPr>
          <p:cNvSpPr/>
          <p:nvPr/>
        </p:nvSpPr>
        <p:spPr>
          <a:xfrm>
            <a:off x="5980176" y="4356710"/>
            <a:ext cx="4688130" cy="55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b="1" dirty="0"/>
              <a:t>タスクステータスの４値運用</a:t>
            </a:r>
            <a:endParaRPr lang="en-US" b="1" dirty="0"/>
          </a:p>
        </p:txBody>
      </p:sp>
      <p:sp>
        <p:nvSpPr>
          <p:cNvPr id="89" name="Text 45">
            <a:extLst>
              <a:ext uri="{FF2B5EF4-FFF2-40B4-BE49-F238E27FC236}">
                <a16:creationId xmlns:a16="http://schemas.microsoft.com/office/drawing/2014/main" id="{28E43BF3-3FD6-DBF5-586E-FED56E85C021}"/>
              </a:ext>
            </a:extLst>
          </p:cNvPr>
          <p:cNvSpPr/>
          <p:nvPr/>
        </p:nvSpPr>
        <p:spPr>
          <a:xfrm>
            <a:off x="595070" y="4084994"/>
            <a:ext cx="4688130" cy="557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b="1" dirty="0"/>
              <a:t>一覧</a:t>
            </a:r>
            <a:endParaRPr lang="en-US" b="1" dirty="0"/>
          </a:p>
        </p:txBody>
      </p:sp>
      <p:sp>
        <p:nvSpPr>
          <p:cNvPr id="90" name="Text 46">
            <a:extLst>
              <a:ext uri="{FF2B5EF4-FFF2-40B4-BE49-F238E27FC236}">
                <a16:creationId xmlns:a16="http://schemas.microsoft.com/office/drawing/2014/main" id="{4491A20C-1FDC-F905-17E4-F773792ECA98}"/>
              </a:ext>
            </a:extLst>
          </p:cNvPr>
          <p:cNvSpPr/>
          <p:nvPr/>
        </p:nvSpPr>
        <p:spPr>
          <a:xfrm>
            <a:off x="800914" y="5615787"/>
            <a:ext cx="11199771" cy="12541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ja-JP" altLang="en-US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→カンバン </a:t>
            </a:r>
            <a:r>
              <a:rPr lang="en-US" altLang="ja-JP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 </a:t>
            </a:r>
            <a:r>
              <a:rPr lang="ja-JP" altLang="en-US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メンバー別 </a:t>
            </a:r>
            <a:r>
              <a:rPr lang="en-US" altLang="ja-JP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 </a:t>
            </a:r>
            <a:r>
              <a:rPr lang="ja-JP" altLang="en-US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一覧を切替。</a:t>
            </a:r>
            <a:br>
              <a:rPr lang="en-US" altLang="ja-JP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</a:br>
            <a:r>
              <a:rPr lang="ja-JP" altLang="en-US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現場ごとの見たい粒度に対応。</a:t>
            </a:r>
          </a:p>
          <a:p>
            <a:r>
              <a:rPr lang="ja-JP" altLang="en-US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多様な機能実装で、エクセル管理を十分に置き換え可能に</a:t>
            </a:r>
            <a:endParaRPr lang="en-US" sz="3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2" name="楕円 91">
            <a:extLst>
              <a:ext uri="{FF2B5EF4-FFF2-40B4-BE49-F238E27FC236}">
                <a16:creationId xmlns:a16="http://schemas.microsoft.com/office/drawing/2014/main" id="{ACD73C79-4FFC-84DB-AABA-1920C9928290}"/>
              </a:ext>
            </a:extLst>
          </p:cNvPr>
          <p:cNvSpPr/>
          <p:nvPr/>
        </p:nvSpPr>
        <p:spPr>
          <a:xfrm>
            <a:off x="4096513" y="1395405"/>
            <a:ext cx="1621230" cy="41099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/>
          </a:p>
        </p:txBody>
      </p:sp>
      <p:sp>
        <p:nvSpPr>
          <p:cNvPr id="93" name="吹き出し: 角を丸めた四角形 92">
            <a:extLst>
              <a:ext uri="{FF2B5EF4-FFF2-40B4-BE49-F238E27FC236}">
                <a16:creationId xmlns:a16="http://schemas.microsoft.com/office/drawing/2014/main" id="{5BFD8A21-5505-0A15-EA40-5F84DE4B70C6}"/>
              </a:ext>
            </a:extLst>
          </p:cNvPr>
          <p:cNvSpPr/>
          <p:nvPr/>
        </p:nvSpPr>
        <p:spPr>
          <a:xfrm>
            <a:off x="2554500" y="3466674"/>
            <a:ext cx="1875260" cy="453227"/>
          </a:xfrm>
          <a:prstGeom prst="wedgeRoundRectCallout">
            <a:avLst>
              <a:gd name="adj1" fmla="val 70188"/>
              <a:gd name="adj2" fmla="val -39868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トグル切り替え</a:t>
            </a:r>
          </a:p>
        </p:txBody>
      </p:sp>
      <p:sp>
        <p:nvSpPr>
          <p:cNvPr id="94" name="Text 41">
            <a:extLst>
              <a:ext uri="{FF2B5EF4-FFF2-40B4-BE49-F238E27FC236}">
                <a16:creationId xmlns:a16="http://schemas.microsoft.com/office/drawing/2014/main" id="{BD575E7D-98F5-868A-36F5-0A5010A6A977}"/>
              </a:ext>
            </a:extLst>
          </p:cNvPr>
          <p:cNvSpPr/>
          <p:nvPr/>
        </p:nvSpPr>
        <p:spPr>
          <a:xfrm>
            <a:off x="493776" y="59747"/>
            <a:ext cx="1609344" cy="384050"/>
          </a:xfrm>
          <a:prstGeom prst="roundRect">
            <a:avLst/>
          </a:prstGeom>
          <a:solidFill>
            <a:srgbClr val="FFFF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 dirty="0">
                <a:solidFill>
                  <a:srgbClr val="FF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課題２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96" name="Text 48">
            <a:extLst>
              <a:ext uri="{FF2B5EF4-FFF2-40B4-BE49-F238E27FC236}">
                <a16:creationId xmlns:a16="http://schemas.microsoft.com/office/drawing/2014/main" id="{D5F52228-93C0-B257-3738-FA811108E1C7}"/>
              </a:ext>
            </a:extLst>
          </p:cNvPr>
          <p:cNvSpPr/>
          <p:nvPr/>
        </p:nvSpPr>
        <p:spPr>
          <a:xfrm>
            <a:off x="6766149" y="5791327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DB1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585216" y="4114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課題2: </a:t>
            </a:r>
            <a:r>
              <a:rPr lang="ja-JP" altLang="en-US" sz="2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今後の拡張予定→</a:t>
            </a:r>
            <a:r>
              <a:rPr lang="en-US" sz="2400" b="1" dirty="0" err="1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管理範囲</a:t>
            </a:r>
            <a:r>
              <a:rPr lang="ja-JP" altLang="en-US" sz="2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を広げる、</a:t>
            </a:r>
            <a:r>
              <a:rPr lang="en-US" sz="2400" b="1" dirty="0" err="1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予算</a:t>
            </a:r>
            <a:r>
              <a:rPr lang="ja-JP" altLang="en-US" sz="2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の粒度を細かく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731520" y="1371599"/>
            <a:ext cx="10607040" cy="3936493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0160">
            <a:solidFill>
              <a:srgbClr val="E4E9EF"/>
            </a:solidFill>
            <a:prstDash val="solid"/>
          </a:ln>
          <a:effectLst>
            <a:outerShdw blurRad="38100" dist="50800" dir="2700000" algn="bl" rotWithShape="0">
              <a:srgbClr val="D5DEE8">
                <a:alpha val="20000"/>
              </a:srgbClr>
            </a:outerShdw>
          </a:effectLst>
        </p:spPr>
        <p:txBody>
          <a:bodyPr/>
          <a:lstStyle/>
          <a:p>
            <a:endParaRPr lang="ja-JP" altLang="en-US" dirty="0"/>
          </a:p>
        </p:txBody>
      </p:sp>
      <p:sp>
        <p:nvSpPr>
          <p:cNvPr id="73" name="Text 41">
            <a:extLst>
              <a:ext uri="{FF2B5EF4-FFF2-40B4-BE49-F238E27FC236}">
                <a16:creationId xmlns:a16="http://schemas.microsoft.com/office/drawing/2014/main" id="{3E72798A-CD7B-438B-5649-39279EE70492}"/>
              </a:ext>
            </a:extLst>
          </p:cNvPr>
          <p:cNvSpPr/>
          <p:nvPr/>
        </p:nvSpPr>
        <p:spPr>
          <a:xfrm>
            <a:off x="341942" y="56285"/>
            <a:ext cx="1609344" cy="384050"/>
          </a:xfrm>
          <a:prstGeom prst="roundRect">
            <a:avLst/>
          </a:prstGeom>
          <a:solidFill>
            <a:srgbClr val="FFFF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 dirty="0">
                <a:solidFill>
                  <a:srgbClr val="FF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課題２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74" name="Text 46">
            <a:extLst>
              <a:ext uri="{FF2B5EF4-FFF2-40B4-BE49-F238E27FC236}">
                <a16:creationId xmlns:a16="http://schemas.microsoft.com/office/drawing/2014/main" id="{8DA4EDA5-CFA8-2C8C-CEDB-7626956FB5A3}"/>
              </a:ext>
            </a:extLst>
          </p:cNvPr>
          <p:cNvSpPr/>
          <p:nvPr/>
        </p:nvSpPr>
        <p:spPr>
          <a:xfrm>
            <a:off x="648515" y="5571879"/>
            <a:ext cx="11199771" cy="12541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ja-JP" altLang="en-US" sz="3200" dirty="0"/>
              <a:t>→運用状況を見て、実装予定</a:t>
            </a:r>
            <a:endParaRPr lang="en-US" altLang="ja-JP" sz="3200" dirty="0"/>
          </a:p>
        </p:txBody>
      </p:sp>
      <p:pic>
        <p:nvPicPr>
          <p:cNvPr id="81" name="図 80">
            <a:extLst>
              <a:ext uri="{FF2B5EF4-FFF2-40B4-BE49-F238E27FC236}">
                <a16:creationId xmlns:a16="http://schemas.microsoft.com/office/drawing/2014/main" id="{F65F9A70-F54F-EBD9-E542-0E5D629F1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25767"/>
            <a:ext cx="9257791" cy="33889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DB1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621005" y="4385188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39" name="Shape 37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5080">
            <a:solidFill>
              <a:srgbClr val="EAF0F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585216" y="411480"/>
            <a:ext cx="10204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振り返り: AI</a:t>
            </a:r>
            <a:r>
              <a:rPr lang="ja-JP" altLang="en-US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を使った</a:t>
            </a:r>
            <a:r>
              <a:rPr lang="en-US" sz="3200" b="1" dirty="0" err="1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r>
              <a:rPr lang="ja-JP" altLang="en-US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では、</a:t>
            </a:r>
            <a:r>
              <a:rPr lang="en-US" sz="3200" b="1" dirty="0" err="1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</a:t>
            </a:r>
            <a:r>
              <a:rPr lang="ja-JP" altLang="en-US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</a:t>
            </a:r>
            <a:r>
              <a:rPr lang="en-US" sz="3200" b="1" dirty="0" err="1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言語化</a:t>
            </a:r>
            <a:r>
              <a:rPr lang="ja-JP" altLang="en-US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が重要</a:t>
            </a:r>
            <a:endParaRPr lang="en-US" sz="3200" dirty="0"/>
          </a:p>
        </p:txBody>
      </p:sp>
      <p:sp>
        <p:nvSpPr>
          <p:cNvPr id="46" name="Shape 44"/>
          <p:cNvSpPr/>
          <p:nvPr/>
        </p:nvSpPr>
        <p:spPr>
          <a:xfrm>
            <a:off x="731519" y="1325879"/>
            <a:ext cx="5257801" cy="2276857"/>
          </a:xfrm>
          <a:prstGeom prst="roundRect">
            <a:avLst>
              <a:gd name="adj" fmla="val 75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4E9EF"/>
            </a:solidFill>
            <a:prstDash val="solid"/>
          </a:ln>
          <a:effectLst>
            <a:outerShdw blurRad="38100" dist="50800" dir="2700000" algn="bl" rotWithShape="0">
              <a:srgbClr val="D5DEE8">
                <a:alpha val="20000"/>
              </a:srgbClr>
            </a:outerShdw>
          </a:effectLst>
        </p:spPr>
        <p:txBody>
          <a:bodyPr/>
          <a:lstStyle/>
          <a:p>
            <a:endParaRPr lang="ja-JP" altLang="en-US" sz="4800"/>
          </a:p>
        </p:txBody>
      </p:sp>
      <p:sp>
        <p:nvSpPr>
          <p:cNvPr id="47" name="Text 45"/>
          <p:cNvSpPr/>
          <p:nvPr/>
        </p:nvSpPr>
        <p:spPr>
          <a:xfrm>
            <a:off x="1024128" y="1645920"/>
            <a:ext cx="5175504" cy="100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98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うまくいったこと</a:t>
            </a:r>
            <a:endParaRPr lang="en-US" sz="3600" dirty="0"/>
          </a:p>
        </p:txBody>
      </p:sp>
      <p:sp>
        <p:nvSpPr>
          <p:cNvPr id="48" name="Text 46"/>
          <p:cNvSpPr/>
          <p:nvPr/>
        </p:nvSpPr>
        <p:spPr>
          <a:xfrm>
            <a:off x="1024127" y="2474086"/>
            <a:ext cx="4729405" cy="59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AIを使った設計は初めてだったが</a:t>
            </a:r>
            <a:r>
              <a:rPr lang="en-US" sz="20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</a:t>
            </a:r>
            <a:br>
              <a:rPr lang="en-US" sz="20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</a:br>
            <a:r>
              <a:rPr lang="en-US" sz="2000" b="1" dirty="0" err="1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設計段階で画面イメージを作れたため、実装前に具体的</a:t>
            </a:r>
            <a:r>
              <a:rPr lang="ja-JP" altLang="en-US" sz="20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</a:t>
            </a:r>
            <a:r>
              <a:rPr lang="en-US" sz="2000" b="1" dirty="0" err="1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検討ができた</a:t>
            </a:r>
            <a:r>
              <a:rPr lang="en-US" sz="20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6199632" y="1325880"/>
            <a:ext cx="5166360" cy="2276856"/>
          </a:xfrm>
          <a:prstGeom prst="roundRect">
            <a:avLst>
              <a:gd name="adj" fmla="val 75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4E9EF"/>
            </a:solidFill>
            <a:prstDash val="solid"/>
          </a:ln>
          <a:effectLst>
            <a:outerShdw blurRad="38100" dist="50800" dir="2700000" algn="bl" rotWithShape="0">
              <a:srgbClr val="D5DEE8">
                <a:alpha val="20000"/>
              </a:srgbClr>
            </a:outerShdw>
          </a:effectLst>
        </p:spPr>
        <p:txBody>
          <a:bodyPr/>
          <a:lstStyle/>
          <a:p>
            <a:endParaRPr lang="ja-JP" altLang="en-US" sz="4800"/>
          </a:p>
        </p:txBody>
      </p:sp>
      <p:sp>
        <p:nvSpPr>
          <p:cNvPr id="50" name="Text 48"/>
          <p:cNvSpPr/>
          <p:nvPr/>
        </p:nvSpPr>
        <p:spPr>
          <a:xfrm>
            <a:off x="6492239" y="1645919"/>
            <a:ext cx="4469461" cy="182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60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想定外だったこと</a:t>
            </a:r>
            <a:endParaRPr lang="en-US" sz="3600" dirty="0"/>
          </a:p>
        </p:txBody>
      </p:sp>
      <p:sp>
        <p:nvSpPr>
          <p:cNvPr id="51" name="Text 49"/>
          <p:cNvSpPr/>
          <p:nvPr/>
        </p:nvSpPr>
        <p:spPr>
          <a:xfrm>
            <a:off x="6492240" y="2474086"/>
            <a:ext cx="4389120" cy="59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モック作成のトークン消費が大き</a:t>
            </a:r>
            <a:r>
              <a:rPr lang="ja-JP" altLang="en-US" sz="20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く</a:t>
            </a:r>
            <a:r>
              <a:rPr lang="en-US" sz="20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</a:t>
            </a:r>
            <a:br>
              <a:rPr lang="en-US" sz="20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</a:br>
            <a:r>
              <a:rPr lang="en-US" sz="2000" b="1" dirty="0" err="1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画面数を絞る・同じデザインを流用するなど、途中で運用を調整した</a:t>
            </a:r>
            <a:r>
              <a:rPr lang="en-US" sz="20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731520" y="4892039"/>
            <a:ext cx="3322319" cy="1267081"/>
          </a:xfrm>
          <a:prstGeom prst="roundRect">
            <a:avLst>
              <a:gd name="adj" fmla="val 96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4E9EF"/>
            </a:solidFill>
            <a:prstDash val="solid"/>
          </a:ln>
          <a:effectLst>
            <a:outerShdw blurRad="38100" dist="50800" dir="2700000" algn="bl" rotWithShape="0">
              <a:srgbClr val="D5DEE8">
                <a:alpha val="20000"/>
              </a:srgbClr>
            </a:outerShdw>
          </a:effectLst>
        </p:spPr>
        <p:txBody>
          <a:bodyPr/>
          <a:lstStyle/>
          <a:p>
            <a:endParaRPr lang="ja-JP" altLang="en-US" sz="4800"/>
          </a:p>
        </p:txBody>
      </p:sp>
      <p:sp>
        <p:nvSpPr>
          <p:cNvPr id="53" name="Text 51"/>
          <p:cNvSpPr/>
          <p:nvPr/>
        </p:nvSpPr>
        <p:spPr>
          <a:xfrm>
            <a:off x="914400" y="508406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60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5400" dirty="0"/>
          </a:p>
        </p:txBody>
      </p:sp>
      <p:sp>
        <p:nvSpPr>
          <p:cNvPr id="54" name="Text 52"/>
          <p:cNvSpPr/>
          <p:nvPr/>
        </p:nvSpPr>
        <p:spPr>
          <a:xfrm>
            <a:off x="1585730" y="5225042"/>
            <a:ext cx="2468109" cy="130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仕様の正本を作る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1469984" y="5797296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F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AIにも人にも、判断の基準が必要。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343400" y="4892039"/>
            <a:ext cx="3322319" cy="1267081"/>
          </a:xfrm>
          <a:prstGeom prst="roundRect">
            <a:avLst>
              <a:gd name="adj" fmla="val 96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4E9EF"/>
            </a:solidFill>
            <a:prstDash val="solid"/>
          </a:ln>
          <a:effectLst>
            <a:outerShdw blurRad="38100" dist="50800" dir="2700000" algn="bl" rotWithShape="0">
              <a:srgbClr val="D5DEE8">
                <a:alpha val="20000"/>
              </a:srgbClr>
            </a:outerShdw>
          </a:effectLst>
        </p:spPr>
        <p:txBody>
          <a:bodyPr/>
          <a:lstStyle/>
          <a:p>
            <a:endParaRPr lang="ja-JP" altLang="en-US" sz="4800"/>
          </a:p>
        </p:txBody>
      </p:sp>
      <p:sp>
        <p:nvSpPr>
          <p:cNvPr id="57" name="Text 55"/>
          <p:cNvSpPr/>
          <p:nvPr/>
        </p:nvSpPr>
        <p:spPr>
          <a:xfrm>
            <a:off x="4526280" y="508406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B7F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5400" dirty="0"/>
          </a:p>
        </p:txBody>
      </p:sp>
      <p:sp>
        <p:nvSpPr>
          <p:cNvPr id="58" name="Text 56"/>
          <p:cNvSpPr/>
          <p:nvPr/>
        </p:nvSpPr>
        <p:spPr>
          <a:xfrm>
            <a:off x="5197610" y="5225042"/>
            <a:ext cx="2468109" cy="130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スコープを切る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5081864" y="5797296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F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短期PoCでは、やることよりやらないことが大事。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955280" y="4892039"/>
            <a:ext cx="3322319" cy="1267081"/>
          </a:xfrm>
          <a:prstGeom prst="roundRect">
            <a:avLst>
              <a:gd name="adj" fmla="val 9600"/>
            </a:avLst>
          </a:prstGeom>
          <a:solidFill>
            <a:srgbClr val="FFFFFF">
              <a:alpha val="96000"/>
            </a:srgbClr>
          </a:solidFill>
          <a:ln w="10160">
            <a:solidFill>
              <a:srgbClr val="E4E9EF"/>
            </a:solidFill>
            <a:prstDash val="solid"/>
          </a:ln>
          <a:effectLst>
            <a:outerShdw blurRad="38100" dist="50800" dir="2700000" algn="bl" rotWithShape="0">
              <a:srgbClr val="D5DEE8">
                <a:alpha val="20000"/>
              </a:srgbClr>
            </a:outerShdw>
          </a:effectLst>
        </p:spPr>
        <p:txBody>
          <a:bodyPr/>
          <a:lstStyle/>
          <a:p>
            <a:endParaRPr lang="ja-JP" altLang="en-US" sz="4800"/>
          </a:p>
        </p:txBody>
      </p:sp>
      <p:sp>
        <p:nvSpPr>
          <p:cNvPr id="61" name="Text 59"/>
          <p:cNvSpPr/>
          <p:nvPr/>
        </p:nvSpPr>
        <p:spPr>
          <a:xfrm>
            <a:off x="8138160" y="508406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6D28D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5400" dirty="0"/>
          </a:p>
        </p:txBody>
      </p:sp>
      <p:sp>
        <p:nvSpPr>
          <p:cNvPr id="62" name="Text 60"/>
          <p:cNvSpPr/>
          <p:nvPr/>
        </p:nvSpPr>
        <p:spPr>
          <a:xfrm>
            <a:off x="8809490" y="5225042"/>
            <a:ext cx="2468109" cy="130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引継ぎを設計する</a:t>
            </a:r>
            <a:endParaRPr lang="en-US" sz="2400" dirty="0"/>
          </a:p>
        </p:txBody>
      </p:sp>
      <p:sp>
        <p:nvSpPr>
          <p:cNvPr id="63" name="Text 61"/>
          <p:cNvSpPr/>
          <p:nvPr/>
        </p:nvSpPr>
        <p:spPr>
          <a:xfrm>
            <a:off x="8693743" y="5797295"/>
            <a:ext cx="3139439" cy="19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5F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AIセッションをまたいでも</a:t>
            </a:r>
            <a:br>
              <a:rPr lang="en-US" sz="1600" dirty="0">
                <a:solidFill>
                  <a:srgbClr val="5F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</a:br>
            <a:r>
              <a:rPr lang="en-US" sz="1600" dirty="0" err="1">
                <a:solidFill>
                  <a:srgbClr val="5F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文脈を失わない</a:t>
            </a:r>
            <a:r>
              <a:rPr lang="en-US" sz="1600" dirty="0">
                <a:solidFill>
                  <a:srgbClr val="5F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600" dirty="0"/>
          </a:p>
        </p:txBody>
      </p:sp>
      <p:sp>
        <p:nvSpPr>
          <p:cNvPr id="64" name="Text 41">
            <a:extLst>
              <a:ext uri="{FF2B5EF4-FFF2-40B4-BE49-F238E27FC236}">
                <a16:creationId xmlns:a16="http://schemas.microsoft.com/office/drawing/2014/main" id="{A7392F06-C4DC-EC76-8A05-D148C1162CA0}"/>
              </a:ext>
            </a:extLst>
          </p:cNvPr>
          <p:cNvSpPr/>
          <p:nvPr/>
        </p:nvSpPr>
        <p:spPr>
          <a:xfrm>
            <a:off x="341942" y="56285"/>
            <a:ext cx="1609344" cy="384050"/>
          </a:xfrm>
          <a:prstGeom prst="roundRect">
            <a:avLst/>
          </a:prstGeom>
          <a:solidFill>
            <a:srgbClr val="FFFF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 dirty="0">
                <a:solidFill>
                  <a:srgbClr val="FF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感想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65" name="Text 43">
            <a:extLst>
              <a:ext uri="{FF2B5EF4-FFF2-40B4-BE49-F238E27FC236}">
                <a16:creationId xmlns:a16="http://schemas.microsoft.com/office/drawing/2014/main" id="{AAEC4BA4-4E8C-7F46-E0E4-16A93421BE78}"/>
              </a:ext>
            </a:extLst>
          </p:cNvPr>
          <p:cNvSpPr/>
          <p:nvPr/>
        </p:nvSpPr>
        <p:spPr>
          <a:xfrm>
            <a:off x="585216" y="4069080"/>
            <a:ext cx="10204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学んだ３つのこと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945</Words>
  <Application>Microsoft Office PowerPoint</Application>
  <PresentationFormat>ワイド画面</PresentationFormat>
  <Paragraphs>162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Meiryo UI</vt:lpstr>
      <vt:lpstr>Yu Gothic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ProjNexus</dc:title>
  <dc:subject>ProjNexus presentation</dc:subject>
  <dc:creator>OpenAI</dc:creator>
  <cp:lastModifiedBy>rise190</cp:lastModifiedBy>
  <cp:revision>31</cp:revision>
  <dcterms:created xsi:type="dcterms:W3CDTF">2026-05-12T15:30:40Z</dcterms:created>
  <dcterms:modified xsi:type="dcterms:W3CDTF">2026-10-03T08:01:59Z</dcterms:modified>
</cp:coreProperties>
</file>